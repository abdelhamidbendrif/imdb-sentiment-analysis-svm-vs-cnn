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71" r:id="rId23"/>
    <p:sldId id="257" r:id="rId3"/>
    <p:sldId id="258" r:id="rId4"/>
    <p:sldId id="259" r:id="rId5"/>
    <p:sldId id="260" r:id="rId6"/>
    <p:sldId id="261" r:id="rId7"/>
    <p:sldId id="262" r:id="rId8"/>
    <p:sldId id="263" r:id="rId9"/>
    <p:sldId id="264" r:id="rId10"/>
    <p:sldId id="265" r:id="rId11"/>
    <p:sldId id="266" r:id="rId12"/>
    <p:sldId id="267" r:id="rId13"/>
    <p:sldId id="272" r:id="rId24"/>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rgbClr val="000000"/>
        </a:solidFill>
        <a:latin typeface="Times New Roman"/>
        <a:ea typeface="Times New Roman"/>
        <a:cs typeface="Times New Roman"/>
      </a:defRPr>
    </a:lvl1pPr>
    <a:lvl2pPr marL="457200" algn="l" defTabSz="914400" rtl="0" eaLnBrk="1" latinLnBrk="0" hangingPunct="1">
      <a:defRPr sz="1800" kern="1200">
        <a:solidFill>
          <a:srgbClr val="000000"/>
        </a:solidFill>
        <a:latin typeface="Times New Roman"/>
        <a:ea typeface="Times New Roman"/>
        <a:cs typeface="Times New Roman"/>
      </a:defRPr>
    </a:lvl2pPr>
    <a:lvl3pPr marL="914400" algn="l" defTabSz="914400" rtl="0" eaLnBrk="1" latinLnBrk="0" hangingPunct="1">
      <a:defRPr sz="1800" kern="1200">
        <a:solidFill>
          <a:srgbClr val="000000"/>
        </a:solidFill>
        <a:latin typeface="Times New Roman"/>
        <a:ea typeface="Times New Roman"/>
        <a:cs typeface="Times New Roman"/>
      </a:defRPr>
    </a:lvl3pPr>
    <a:lvl4pPr marL="1371600" algn="l" defTabSz="914400" rtl="0" eaLnBrk="1" latinLnBrk="0" hangingPunct="1">
      <a:defRPr sz="1800" kern="1200">
        <a:solidFill>
          <a:srgbClr val="000000"/>
        </a:solidFill>
        <a:latin typeface="Times New Roman"/>
        <a:ea typeface="Times New Roman"/>
        <a:cs typeface="Times New Roman"/>
      </a:defRPr>
    </a:lvl4pPr>
    <a:lvl5pPr marL="1828800" algn="l" defTabSz="914400" rtl="0" eaLnBrk="1" latinLnBrk="0" hangingPunct="1">
      <a:defRPr sz="1800" kern="1200">
        <a:solidFill>
          <a:srgbClr val="000000"/>
        </a:solidFill>
        <a:latin typeface="Times New Roman"/>
        <a:ea typeface="Times New Roman"/>
        <a:cs typeface="Times New Roman"/>
      </a:defRPr>
    </a:lvl5pPr>
    <a:lvl6pPr marL="2286000" algn="l" defTabSz="914400" rtl="0" eaLnBrk="1" latinLnBrk="0" hangingPunct="1">
      <a:defRPr sz="1800" kern="1200">
        <a:solidFill>
          <a:srgbClr val="000000"/>
        </a:solidFill>
        <a:latin typeface="Times New Roman"/>
        <a:ea typeface="Times New Roman"/>
        <a:cs typeface="Times New Roman"/>
      </a:defRPr>
    </a:lvl6pPr>
    <a:lvl7pPr marL="2743200" algn="l" defTabSz="914400" rtl="0" eaLnBrk="1" latinLnBrk="0" hangingPunct="1">
      <a:defRPr sz="1800" kern="1200">
        <a:solidFill>
          <a:srgbClr val="000000"/>
        </a:solidFill>
        <a:latin typeface="Times New Roman"/>
        <a:ea typeface="Times New Roman"/>
        <a:cs typeface="Times New Roman"/>
      </a:defRPr>
    </a:lvl7pPr>
    <a:lvl8pPr marL="3200400" algn="l" defTabSz="914400" rtl="0" eaLnBrk="1" latinLnBrk="0" hangingPunct="1">
      <a:defRPr sz="1800" kern="1200">
        <a:solidFill>
          <a:srgbClr val="000000"/>
        </a:solidFill>
        <a:latin typeface="Times New Roman"/>
        <a:ea typeface="Times New Roman"/>
        <a:cs typeface="Times New Roman"/>
      </a:defRPr>
    </a:lvl8pPr>
    <a:lvl9pPr marL="3657600" algn="l" defTabSz="914400" rtl="0" eaLnBrk="1" latinLnBrk="0" hangingPunct="1">
      <a:defRPr sz="1800" kern="1200">
        <a:solidFill>
          <a:srgbClr val="000000"/>
        </a:solidFill>
        <a:latin typeface="Times New Roman"/>
        <a:ea typeface="Times New Roman"/>
        <a:cs typeface="Times New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 Id="rId23" Type="http://schemas.openxmlformats.org/officeDocument/2006/relationships/slide" Target="slides/slide16.xml"/><Relationship Id="rId24"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elhamid The gangster" userId="6e1b759a4a17a29d" providerId="LiveId" clId="{6D3F91C9-F853-4ED8-8304-F99D0B79A916}"/>
    <pc:docChg chg="modSld">
      <pc:chgData name="Abdelhamid The gangster" userId="6e1b759a4a17a29d" providerId="LiveId" clId="{6D3F91C9-F853-4ED8-8304-F99D0B79A916}" dt="2026-10-25T15:46:15.349" v="32" actId="1076"/>
      <pc:docMkLst>
        <pc:docMk/>
      </pc:docMkLst>
      <pc:sldChg chg="modSp mod">
        <pc:chgData name="Abdelhamid The gangster" userId="6e1b759a4a17a29d" providerId="LiveId" clId="{6D3F91C9-F853-4ED8-8304-F99D0B79A916}" dt="2026-10-25T15:46:15.349" v="32" actId="1076"/>
        <pc:sldMkLst>
          <pc:docMk/>
          <pc:sldMk cId="435725210" sldId="256"/>
        </pc:sldMkLst>
        <pc:spChg chg="mod">
          <ac:chgData name="Abdelhamid The gangster" userId="6e1b759a4a17a29d" providerId="LiveId" clId="{6D3F91C9-F853-4ED8-8304-F99D0B79A916}" dt="2026-10-25T15:46:04.815" v="30" actId="2711"/>
          <ac:spMkLst>
            <pc:docMk/>
            <pc:sldMk cId="435725210" sldId="256"/>
            <ac:spMk id="5" creationId="{132A53E8-9772-441E-BC77-1465BE193210}"/>
          </ac:spMkLst>
        </pc:spChg>
        <pc:spChg chg="mod">
          <ac:chgData name="Abdelhamid The gangster" userId="6e1b759a4a17a29d" providerId="LiveId" clId="{6D3F91C9-F853-4ED8-8304-F99D0B79A916}" dt="2026-10-25T15:46:15.349" v="32" actId="1076"/>
          <ac:spMkLst>
            <pc:docMk/>
            <pc:sldMk cId="435725210" sldId="256"/>
            <ac:spMk id="6" creationId="{21F02724-B283-45CB-AA9F-6ED4859E2707}"/>
          </ac:spMkLst>
        </pc:spChg>
        <pc:spChg chg="mod">
          <ac:chgData name="Abdelhamid The gangster" userId="6e1b759a4a17a29d" providerId="LiveId" clId="{6D3F91C9-F853-4ED8-8304-F99D0B79A916}" dt="2026-10-25T15:45:14.145" v="9" actId="403"/>
          <ac:spMkLst>
            <pc:docMk/>
            <pc:sldMk cId="435725210" sldId="256"/>
            <ac:spMk id="7" creationId="{D0623BCA-8632-45D1-8840-8AF95AF436CA}"/>
          </ac:spMkLst>
        </pc:spChg>
        <pc:spChg chg="mod">
          <ac:chgData name="Abdelhamid The gangster" userId="6e1b759a4a17a29d" providerId="LiveId" clId="{6D3F91C9-F853-4ED8-8304-F99D0B79A916}" dt="2026-10-25T15:45:45.570" v="28" actId="113"/>
          <ac:spMkLst>
            <pc:docMk/>
            <pc:sldMk cId="435725210" sldId="256"/>
            <ac:spMk id="8" creationId="{BE20304B-B365-49CE-ACC2-E0FA8C6FDB68}"/>
          </ac:spMkLst>
        </pc:spChg>
        <pc:spChg chg="mod">
          <ac:chgData name="Abdelhamid The gangster" userId="6e1b759a4a17a29d" providerId="LiveId" clId="{6D3F91C9-F853-4ED8-8304-F99D0B79A916}" dt="2026-10-25T15:45:21.352" v="11" actId="20577"/>
          <ac:spMkLst>
            <pc:docMk/>
            <pc:sldMk cId="435725210" sldId="256"/>
            <ac:spMk id="9" creationId="{F03E1C0F-80B9-4AA1-954C-1695A48D3B72}"/>
          </ac:spMkLst>
        </pc:spChg>
        <pc:spChg chg="mod">
          <ac:chgData name="Abdelhamid The gangster" userId="6e1b759a4a17a29d" providerId="LiveId" clId="{6D3F91C9-F853-4ED8-8304-F99D0B79A916}" dt="2026-10-25T15:42:00.753" v="6" actId="20577"/>
          <ac:spMkLst>
            <pc:docMk/>
            <pc:sldMk cId="435725210" sldId="256"/>
            <ac:spMk id="10" creationId="{E221763B-2A9C-4B9B-9E83-34B5D4DA40A5}"/>
          </ac:spMkLst>
        </pc:spChg>
        <pc:spChg chg="mod">
          <ac:chgData name="Abdelhamid The gangster" userId="6e1b759a4a17a29d" providerId="LiveId" clId="{6D3F91C9-F853-4ED8-8304-F99D0B79A916}" dt="2026-10-25T15:42:04.072" v="7" actId="20577"/>
          <ac:spMkLst>
            <pc:docMk/>
            <pc:sldMk cId="435725210" sldId="256"/>
            <ac:spMk id="11" creationId="{BB51DDF1-E474-4109-A97C-47517718E5D5}"/>
          </ac:spMkLst>
        </pc:spChg>
        <pc:spChg chg="mod">
          <ac:chgData name="Abdelhamid The gangster" userId="6e1b759a4a17a29d" providerId="LiveId" clId="{6D3F91C9-F853-4ED8-8304-F99D0B79A916}" dt="2026-10-25T15:41:47.348" v="3" actId="20577"/>
          <ac:spMkLst>
            <pc:docMk/>
            <pc:sldMk cId="435725210" sldId="256"/>
            <ac:spMk id="13" creationId="{B193CE65-9593-41A9-A792-0894BA18467D}"/>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TF-IDF + SVM</c:v>
          </c:tx>
          <c:spPr>
            <a:solidFill>
              <a:srgbClr val="2563EB"/>
            </a:solidFill>
            <a:ln w="19050">
              <a:solidFill>
                <a:srgbClr val="2563EB"/>
              </a:solidFill>
            </a:ln>
          </c:spPr>
          <c:invertIfNegative val="0"/>
          <c:dLbls>
            <c:numFmt formatCode="0.000" sourceLinked="0"/>
            <c:spPr>
              <a:noFill/>
              <a:ln>
                <a:noFill/>
              </a:ln>
              <a:effectLst/>
            </c:spPr>
            <c:txPr>
              <a:bodyPr anchorCtr="1"/>
              <a:lstStyle/>
              <a:p>
                <a:pPr>
                  <a:defRPr sz="1425" b="1">
                    <a:solidFill>
                      <a:srgbClr val="202D3D"/>
                    </a:solidFill>
                    <a:latin typeface="Times New Roman"/>
                    <a:ea typeface="Times New Roman"/>
                    <a:cs typeface="Times New Roman"/>
                  </a:defRPr>
                </a:pPr>
                <a:endParaRPr lang="en-US">
                  <a:solidFill>
                    <a:srgbClr val="202D3D"/>
                  </a:solidFill>
                </a:endParaRP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Accuracy</c:v>
                </c:pt>
                <c:pt idx="1">
                  <c:v>Macro F1</c:v>
                </c:pt>
                <c:pt idx="2">
                  <c:v>ROC-AUC</c:v>
                </c:pt>
              </c:strCache>
            </c:strRef>
          </c:cat>
          <c:val>
            <c:numRef>
              <c:f>'Chart Data'!$B$2:$B$4</c:f>
              <c:numCache>
                <c:formatCode>0.0</c:formatCode>
                <c:ptCount val="3"/>
                <c:pt idx="0">
                  <c:v>0.9086</c:v>
                </c:pt>
                <c:pt idx="1">
                  <c:v>0.9086</c:v>
                </c:pt>
                <c:pt idx="2">
                  <c:v>0.9682</c:v>
                </c:pt>
              </c:numCache>
            </c:numRef>
          </c:val>
          <c:extLst>
            <c:ext xmlns:c16="http://schemas.microsoft.com/office/drawing/2014/chart" uri="{C3380CC4-5D6E-409C-BE32-E72D297353CC}">
              <c16:uniqueId val="{00000000-3C04-41A0-B633-22B959699C37}"/>
            </c:ext>
          </c:extLst>
        </c:ser>
        <c:ser>
          <c:idx val="1"/>
          <c:order val="1"/>
          <c:tx>
            <c:v>GloVe + CNN</c:v>
          </c:tx>
          <c:spPr>
            <a:solidFill>
              <a:srgbClr val="D97706"/>
            </a:solidFill>
            <a:ln w="19050">
              <a:solidFill>
                <a:srgbClr val="D97706"/>
              </a:solidFill>
            </a:ln>
          </c:spPr>
          <c:invertIfNegative val="0"/>
          <c:dLbls>
            <c:numFmt formatCode="0.000" sourceLinked="0"/>
            <c:spPr>
              <a:noFill/>
              <a:ln>
                <a:noFill/>
              </a:ln>
              <a:effectLst/>
            </c:spPr>
            <c:txPr>
              <a:bodyPr anchorCtr="1"/>
              <a:lstStyle/>
              <a:p>
                <a:pPr>
                  <a:defRPr sz="1425" b="1">
                    <a:solidFill>
                      <a:srgbClr val="202D3D"/>
                    </a:solidFill>
                    <a:latin typeface="Times New Roman"/>
                    <a:ea typeface="Times New Roman"/>
                    <a:cs typeface="Times New Roman"/>
                  </a:defRPr>
                </a:pPr>
                <a:endParaRPr lang="en-US">
                  <a:solidFill>
                    <a:srgbClr val="202D3D"/>
                  </a:solidFill>
                </a:endParaRP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Accuracy</c:v>
                </c:pt>
                <c:pt idx="1">
                  <c:v>Macro F1</c:v>
                </c:pt>
                <c:pt idx="2">
                  <c:v>ROC-AUC</c:v>
                </c:pt>
              </c:strCache>
            </c:strRef>
          </c:cat>
          <c:val>
            <c:numRef>
              <c:f>'Chart Data'!$D$2:$D$4</c:f>
              <c:numCache>
                <c:formatCode>0.0</c:formatCode>
                <c:ptCount val="3"/>
                <c:pt idx="0">
                  <c:v>0.8711</c:v>
                </c:pt>
                <c:pt idx="1">
                  <c:v>0.8711</c:v>
                </c:pt>
                <c:pt idx="2">
                  <c:v>0.9426</c:v>
                </c:pt>
              </c:numCache>
            </c:numRef>
          </c:val>
          <c:extLst>
            <c:ext xmlns:c16="http://schemas.microsoft.com/office/drawing/2014/chart" uri="{C3380CC4-5D6E-409C-BE32-E72D297353CC}">
              <c16:uniqueId val="{00000001-3C04-41A0-B633-22B959699C37}"/>
            </c:ext>
          </c:extLst>
        </c:ser>
        <c:dLbls>
          <c:dLblPos val="outEnd"/>
          <c:showLegendKey val="0"/>
          <c:showVal val="1"/>
          <c:showCatName val="0"/>
          <c:showSerName val="0"/>
          <c:showPercent val="0"/>
          <c:showBubbleSize val="0"/>
        </c:dLbls>
        <c:gapWidth val="14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0B0B0"/>
            </a:solidFill>
          </a:ln>
        </c:spPr>
        <c:txPr>
          <a:bodyPr anchorCtr="1"/>
          <a:lstStyle/>
          <a:p>
            <a:pPr>
              <a:defRPr sz="1500">
                <a:solidFill>
                  <a:srgbClr val="202D3D"/>
                </a:solidFill>
                <a:latin typeface="Times New Roman"/>
                <a:ea typeface="Times New Roman"/>
                <a:cs typeface="Times New Roman"/>
              </a:defRPr>
            </a:pPr>
            <a:endParaRPr lang="en-US">
              <a:solidFill>
                <a:srgbClr val="202D3D"/>
              </a:solidFill>
            </a:endParaRPr>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B0B0B0"/>
              </a:solidFill>
            </a:ln>
          </c:spPr>
        </c:majorGridlines>
        <c:numFmt formatCode="0.0" sourceLinked="1"/>
        <c:majorTickMark val="none"/>
        <c:minorTickMark val="none"/>
        <c:tickLblPos val="nextTo"/>
        <c:spPr>
          <a:ln w="9525">
            <a:solidFill>
              <a:srgbClr val="B0B0B0"/>
            </a:solidFill>
            <a:prstDash val="solid"/>
          </a:ln>
        </c:spPr>
        <c:txPr>
          <a:bodyPr anchorCtr="1"/>
          <a:lstStyle/>
          <a:p>
            <a:pPr>
              <a:defRPr sz="1350">
                <a:solidFill>
                  <a:srgbClr val="202D3D"/>
                </a:solidFill>
                <a:latin typeface="Times New Roman"/>
                <a:ea typeface="Times New Roman"/>
                <a:cs typeface="Times New Roman"/>
              </a:defRPr>
            </a:pPr>
            <a:endParaRPr lang="en-US">
              <a:solidFill>
                <a:srgbClr val="202D3D"/>
              </a:solidFill>
            </a:endParaRPr>
          </a:p>
        </c:txPr>
        <c:crossAx val="48650112"/>
        <c:crosses val="autoZero"/>
        <c:crossBetween val="between"/>
        <c:majorUnit val="0.2"/>
      </c:valAx>
      <c:spPr>
        <a:solidFill>
          <a:srgbClr val="FFFFFF"/>
        </a:solidFill>
        <a:ln w="0">
          <a:noFill/>
        </a:ln>
      </c:spPr>
    </c:plotArea>
    <c:legend>
      <c:legendPos val="b"/>
      <c:overlay val="0"/>
      <c:txPr>
        <a:bodyPr anchorCtr="1"/>
        <a:lstStyle/>
        <a:p>
          <a:pPr>
            <a:defRPr sz="1500">
              <a:solidFill>
                <a:srgbClr val="202D3D"/>
              </a:solidFill>
              <a:latin typeface="Times New Roman"/>
              <a:ea typeface="Times New Roman"/>
              <a:cs typeface="Times New Roman"/>
            </a:defRPr>
          </a:pPr>
          <a:endParaRPr lang="en-US">
            <a:solidFill>
              <a:srgbClr val="202D3D"/>
            </a:solidFill>
          </a:endParaRPr>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Training</c:v>
          </c:tx>
          <c:spPr>
            <a:ln w="28575">
              <a:solidFill>
                <a:srgbClr val="2563EB"/>
              </a:solidFill>
              <a:prstDash val="solid"/>
            </a:ln>
          </c:spPr>
          <c:marker>
            <c:symbol val="circle"/>
            <c:size val="7"/>
            <c:spPr>
              <a:solidFill>
                <a:srgbClr val="2563EB"/>
              </a:solidFill>
              <a:ln w="9525">
                <a:solidFill>
                  <a:srgbClr val="2563EB"/>
                </a:solidFill>
              </a:ln>
            </c:spPr>
          </c:marker>
          <c:cat>
            <c:numRef>
              <c:f>'Chart Data'!$A$2:$A$7</c:f>
              <c:numCache>
                <c:formatCode>General</c:formatCode>
                <c:ptCount val="6"/>
                <c:pt idx="0">
                  <c:v>1</c:v>
                </c:pt>
                <c:pt idx="1">
                  <c:v>2</c:v>
                </c:pt>
                <c:pt idx="2">
                  <c:v>3</c:v>
                </c:pt>
                <c:pt idx="3">
                  <c:v>4</c:v>
                </c:pt>
                <c:pt idx="4">
                  <c:v>5</c:v>
                </c:pt>
                <c:pt idx="5">
                  <c:v>6</c:v>
                </c:pt>
              </c:numCache>
            </c:numRef>
          </c:cat>
          <c:val>
            <c:numRef>
              <c:f>'Chart Data'!$B$2:$B$7</c:f>
              <c:numCache>
                <c:formatCode>0.00</c:formatCode>
                <c:ptCount val="6"/>
                <c:pt idx="0">
                  <c:v>0.7593</c:v>
                </c:pt>
                <c:pt idx="1">
                  <c:v>0.8561</c:v>
                </c:pt>
                <c:pt idx="2">
                  <c:v>0.8818</c:v>
                </c:pt>
                <c:pt idx="3">
                  <c:v>0.905</c:v>
                </c:pt>
                <c:pt idx="4">
                  <c:v>0.9194</c:v>
                </c:pt>
                <c:pt idx="5">
                  <c:v>0.9369</c:v>
                </c:pt>
              </c:numCache>
            </c:numRef>
          </c:val>
          <c:smooth val="0"/>
          <c:extLst>
            <c:ext xmlns:c16="http://schemas.microsoft.com/office/drawing/2014/chart" uri="{C3380CC4-5D6E-409C-BE32-E72D297353CC}">
              <c16:uniqueId val="{00000000-C259-4832-AD4C-52E79B9A5EB1}"/>
            </c:ext>
          </c:extLst>
        </c:ser>
        <c:ser>
          <c:idx val="1"/>
          <c:order val="1"/>
          <c:tx>
            <c:v>Validation</c:v>
          </c:tx>
          <c:spPr>
            <a:ln w="28575">
              <a:solidFill>
                <a:srgbClr val="D97706"/>
              </a:solidFill>
              <a:prstDash val="dash"/>
            </a:ln>
          </c:spPr>
          <c:marker>
            <c:symbol val="square"/>
            <c:size val="7"/>
            <c:spPr>
              <a:solidFill>
                <a:srgbClr val="D97706"/>
              </a:solidFill>
              <a:ln w="9525">
                <a:solidFill>
                  <a:srgbClr val="D97706"/>
                </a:solidFill>
              </a:ln>
            </c:spPr>
          </c:marker>
          <c:cat>
            <c:numRef>
              <c:f>'Chart Data'!$C$2:$C$7</c:f>
              <c:numCache>
                <c:formatCode>General</c:formatCode>
                <c:ptCount val="6"/>
                <c:pt idx="0">
                  <c:v>1</c:v>
                </c:pt>
                <c:pt idx="1">
                  <c:v>2</c:v>
                </c:pt>
                <c:pt idx="2">
                  <c:v>3</c:v>
                </c:pt>
                <c:pt idx="3">
                  <c:v>4</c:v>
                </c:pt>
                <c:pt idx="4">
                  <c:v>5</c:v>
                </c:pt>
                <c:pt idx="5">
                  <c:v>6</c:v>
                </c:pt>
              </c:numCache>
            </c:numRef>
          </c:cat>
          <c:val>
            <c:numRef>
              <c:f>'Chart Data'!$D$2:$D$7</c:f>
              <c:numCache>
                <c:formatCode>0.00</c:formatCode>
                <c:ptCount val="6"/>
                <c:pt idx="0">
                  <c:v>0.8491</c:v>
                </c:pt>
                <c:pt idx="1">
                  <c:v>0.8685</c:v>
                </c:pt>
                <c:pt idx="2">
                  <c:v>0.8637</c:v>
                </c:pt>
                <c:pt idx="3">
                  <c:v>0.8667</c:v>
                </c:pt>
                <c:pt idx="4">
                  <c:v>0.8481</c:v>
                </c:pt>
                <c:pt idx="5">
                  <c:v>0.8578</c:v>
                </c:pt>
              </c:numCache>
            </c:numRef>
          </c:val>
          <c:smooth val="0"/>
          <c:extLst>
            <c:ext xmlns:c16="http://schemas.microsoft.com/office/drawing/2014/chart" uri="{C3380CC4-5D6E-409C-BE32-E72D297353CC}">
              <c16:uniqueId val="{00000001-C259-4832-AD4C-52E79B9A5EB1}"/>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US" sz="1425">
                    <a:solidFill>
                      <a:srgbClr val="202D3D"/>
                    </a:solidFill>
                    <a:latin typeface="Times New Roman"/>
                    <a:ea typeface="Times New Roman"/>
                    <a:cs typeface="Times New Roman"/>
                  </a:rPr>
                  <a:t>Epoch</a:t>
                </a:r>
              </a:p>
            </c:rich>
          </c:tx>
          <c:overlay val="0"/>
        </c:title>
        <c:numFmt formatCode="General" sourceLinked="1"/>
        <c:majorTickMark val="none"/>
        <c:minorTickMark val="none"/>
        <c:tickLblPos val="nextTo"/>
        <c:spPr>
          <a:ln w="9525">
            <a:solidFill>
              <a:srgbClr val="B0B0B0"/>
            </a:solidFill>
          </a:ln>
        </c:spPr>
        <c:txPr>
          <a:bodyPr anchorCtr="1"/>
          <a:lstStyle/>
          <a:p>
            <a:pPr>
              <a:defRPr sz="1350">
                <a:solidFill>
                  <a:srgbClr val="202D3D"/>
                </a:solidFill>
                <a:latin typeface="Times New Roman"/>
                <a:ea typeface="Times New Roman"/>
                <a:cs typeface="Times New Roman"/>
              </a:defRPr>
            </a:pPr>
            <a:endParaRPr lang="en-US">
              <a:solidFill>
                <a:srgbClr val="202D3D"/>
              </a:solidFill>
            </a:endParaRPr>
          </a:p>
        </c:txPr>
        <c:crossAx val="48672768"/>
        <c:crosses val="autoZero"/>
        <c:auto val="1"/>
        <c:lblAlgn val="ctr"/>
        <c:lblOffset val="100"/>
        <c:noMultiLvlLbl val="1"/>
      </c:catAx>
      <c:valAx>
        <c:axId val="48672768"/>
        <c:scaling>
          <c:orientation val="minMax"/>
          <c:max val="1"/>
          <c:min val="0.7"/>
        </c:scaling>
        <c:delete val="0"/>
        <c:axPos val="l"/>
        <c:majorGridlines>
          <c:spPr>
            <a:ln w="9525">
              <a:solidFill>
                <a:srgbClr val="B0B0B0"/>
              </a:solidFill>
            </a:ln>
          </c:spPr>
        </c:majorGridlines>
        <c:numFmt formatCode="0.00" sourceLinked="1"/>
        <c:majorTickMark val="none"/>
        <c:minorTickMark val="none"/>
        <c:tickLblPos val="nextTo"/>
        <c:spPr>
          <a:ln w="9525">
            <a:solidFill>
              <a:srgbClr val="B0B0B0"/>
            </a:solidFill>
            <a:prstDash val="solid"/>
          </a:ln>
        </c:spPr>
        <c:txPr>
          <a:bodyPr anchorCtr="1"/>
          <a:lstStyle/>
          <a:p>
            <a:pPr>
              <a:defRPr sz="1350">
                <a:solidFill>
                  <a:srgbClr val="202D3D"/>
                </a:solidFill>
                <a:latin typeface="Times New Roman"/>
                <a:ea typeface="Times New Roman"/>
                <a:cs typeface="Times New Roman"/>
              </a:defRPr>
            </a:pPr>
            <a:endParaRPr lang="en-US">
              <a:solidFill>
                <a:srgbClr val="202D3D"/>
              </a:solidFill>
            </a:endParaRPr>
          </a:p>
        </c:txPr>
        <c:crossAx val="48650112"/>
        <c:crosses val="autoZero"/>
        <c:crossBetween val="between"/>
      </c:valAx>
      <c:spPr>
        <a:solidFill>
          <a:srgbClr val="FFFFFF"/>
        </a:solidFill>
        <a:ln w="0">
          <a:noFill/>
        </a:ln>
      </c:spPr>
    </c:plotArea>
    <c:legend>
      <c:legendPos val="b"/>
      <c:overlay val="0"/>
      <c:txPr>
        <a:bodyPr anchorCtr="1"/>
        <a:lstStyle/>
        <a:p>
          <a:pPr>
            <a:defRPr sz="1425">
              <a:solidFill>
                <a:srgbClr val="202D3D"/>
              </a:solidFill>
              <a:latin typeface="Times New Roman"/>
              <a:ea typeface="Times New Roman"/>
              <a:cs typeface="Times New Roman"/>
            </a:defRPr>
          </a:pPr>
          <a:endParaRPr lang="en-US">
            <a:solidFill>
              <a:srgbClr val="202D3D"/>
            </a:solidFill>
          </a:endParaRPr>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Training</c:v>
          </c:tx>
          <c:spPr>
            <a:ln w="28575">
              <a:solidFill>
                <a:srgbClr val="2563EB"/>
              </a:solidFill>
              <a:prstDash val="solid"/>
            </a:ln>
          </c:spPr>
          <c:marker>
            <c:symbol val="circle"/>
            <c:size val="7"/>
            <c:spPr>
              <a:solidFill>
                <a:srgbClr val="2563EB"/>
              </a:solidFill>
              <a:ln w="9525">
                <a:solidFill>
                  <a:srgbClr val="2563EB"/>
                </a:solidFill>
              </a:ln>
            </c:spPr>
          </c:marker>
          <c:cat>
            <c:numRef>
              <c:f>'Chart Data'!$A$2:$A$7</c:f>
              <c:numCache>
                <c:formatCode>General</c:formatCode>
                <c:ptCount val="6"/>
                <c:pt idx="0">
                  <c:v>1</c:v>
                </c:pt>
                <c:pt idx="1">
                  <c:v>2</c:v>
                </c:pt>
                <c:pt idx="2">
                  <c:v>3</c:v>
                </c:pt>
                <c:pt idx="3">
                  <c:v>4</c:v>
                </c:pt>
                <c:pt idx="4">
                  <c:v>5</c:v>
                </c:pt>
                <c:pt idx="5">
                  <c:v>6</c:v>
                </c:pt>
              </c:numCache>
            </c:numRef>
          </c:cat>
          <c:val>
            <c:numRef>
              <c:f>'Chart Data'!$B$2:$B$7</c:f>
              <c:numCache>
                <c:formatCode>0.00</c:formatCode>
                <c:ptCount val="6"/>
                <c:pt idx="0">
                  <c:v>0.4859</c:v>
                </c:pt>
                <c:pt idx="1">
                  <c:v>0.3444</c:v>
                </c:pt>
                <c:pt idx="2">
                  <c:v>0.29</c:v>
                </c:pt>
                <c:pt idx="3">
                  <c:v>0.2426</c:v>
                </c:pt>
                <c:pt idx="4">
                  <c:v>0.2061</c:v>
                </c:pt>
                <c:pt idx="5">
                  <c:v>0.1686</c:v>
                </c:pt>
              </c:numCache>
            </c:numRef>
          </c:val>
          <c:smooth val="0"/>
          <c:extLst>
            <c:ext xmlns:c16="http://schemas.microsoft.com/office/drawing/2014/chart" uri="{C3380CC4-5D6E-409C-BE32-E72D297353CC}">
              <c16:uniqueId val="{00000000-4FCF-4A48-9AED-DD12B90EFECA}"/>
            </c:ext>
          </c:extLst>
        </c:ser>
        <c:ser>
          <c:idx val="1"/>
          <c:order val="1"/>
          <c:tx>
            <c:v>Validation</c:v>
          </c:tx>
          <c:spPr>
            <a:ln w="28575">
              <a:solidFill>
                <a:srgbClr val="D97706"/>
              </a:solidFill>
              <a:prstDash val="dash"/>
            </a:ln>
          </c:spPr>
          <c:marker>
            <c:symbol val="square"/>
            <c:size val="7"/>
            <c:spPr>
              <a:solidFill>
                <a:srgbClr val="D97706"/>
              </a:solidFill>
              <a:ln w="9525">
                <a:solidFill>
                  <a:srgbClr val="D97706"/>
                </a:solidFill>
              </a:ln>
            </c:spPr>
          </c:marker>
          <c:cat>
            <c:numRef>
              <c:f>'Chart Data'!$C$2:$C$7</c:f>
              <c:numCache>
                <c:formatCode>General</c:formatCode>
                <c:ptCount val="6"/>
                <c:pt idx="0">
                  <c:v>1</c:v>
                </c:pt>
                <c:pt idx="1">
                  <c:v>2</c:v>
                </c:pt>
                <c:pt idx="2">
                  <c:v>3</c:v>
                </c:pt>
                <c:pt idx="3">
                  <c:v>4</c:v>
                </c:pt>
                <c:pt idx="4">
                  <c:v>5</c:v>
                </c:pt>
                <c:pt idx="5">
                  <c:v>6</c:v>
                </c:pt>
              </c:numCache>
            </c:numRef>
          </c:cat>
          <c:val>
            <c:numRef>
              <c:f>'Chart Data'!$D$2:$D$7</c:f>
              <c:numCache>
                <c:formatCode>0.00</c:formatCode>
                <c:ptCount val="6"/>
                <c:pt idx="0">
                  <c:v>0.3465</c:v>
                </c:pt>
                <c:pt idx="1">
                  <c:v>0.3132</c:v>
                </c:pt>
                <c:pt idx="2">
                  <c:v>0.3136</c:v>
                </c:pt>
                <c:pt idx="3">
                  <c:v>0.304</c:v>
                </c:pt>
                <c:pt idx="4">
                  <c:v>0.3599</c:v>
                </c:pt>
                <c:pt idx="5">
                  <c:v>0.3572</c:v>
                </c:pt>
              </c:numCache>
            </c:numRef>
          </c:val>
          <c:smooth val="0"/>
          <c:extLst>
            <c:ext xmlns:c16="http://schemas.microsoft.com/office/drawing/2014/chart" uri="{C3380CC4-5D6E-409C-BE32-E72D297353CC}">
              <c16:uniqueId val="{00000001-4FCF-4A48-9AED-DD12B90EFECA}"/>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US" sz="1425">
                    <a:solidFill>
                      <a:srgbClr val="202D3D"/>
                    </a:solidFill>
                    <a:latin typeface="Times New Roman"/>
                    <a:ea typeface="Times New Roman"/>
                    <a:cs typeface="Times New Roman"/>
                  </a:rPr>
                  <a:t>Epoch</a:t>
                </a:r>
              </a:p>
            </c:rich>
          </c:tx>
          <c:overlay val="0"/>
        </c:title>
        <c:numFmt formatCode="General" sourceLinked="1"/>
        <c:majorTickMark val="none"/>
        <c:minorTickMark val="none"/>
        <c:tickLblPos val="nextTo"/>
        <c:spPr>
          <a:ln w="9525">
            <a:solidFill>
              <a:srgbClr val="B0B0B0"/>
            </a:solidFill>
          </a:ln>
        </c:spPr>
        <c:txPr>
          <a:bodyPr anchorCtr="1"/>
          <a:lstStyle/>
          <a:p>
            <a:pPr>
              <a:defRPr sz="1350">
                <a:solidFill>
                  <a:srgbClr val="202D3D"/>
                </a:solidFill>
                <a:latin typeface="Times New Roman"/>
                <a:ea typeface="Times New Roman"/>
                <a:cs typeface="Times New Roman"/>
              </a:defRPr>
            </a:pPr>
            <a:endParaRPr lang="en-US">
              <a:solidFill>
                <a:srgbClr val="202D3D"/>
              </a:solidFill>
            </a:endParaRPr>
          </a:p>
        </c:txPr>
        <c:crossAx val="48672768"/>
        <c:crosses val="autoZero"/>
        <c:auto val="1"/>
        <c:lblAlgn val="ctr"/>
        <c:lblOffset val="100"/>
        <c:noMultiLvlLbl val="1"/>
      </c:catAx>
      <c:valAx>
        <c:axId val="48672768"/>
        <c:scaling>
          <c:orientation val="minMax"/>
          <c:max val="0.55000000000000004"/>
          <c:min val="0.1"/>
        </c:scaling>
        <c:delete val="0"/>
        <c:axPos val="l"/>
        <c:majorGridlines>
          <c:spPr>
            <a:ln w="9525">
              <a:solidFill>
                <a:srgbClr val="B0B0B0"/>
              </a:solidFill>
            </a:ln>
          </c:spPr>
        </c:majorGridlines>
        <c:numFmt formatCode="0.00" sourceLinked="1"/>
        <c:majorTickMark val="none"/>
        <c:minorTickMark val="none"/>
        <c:tickLblPos val="nextTo"/>
        <c:spPr>
          <a:ln w="9525">
            <a:solidFill>
              <a:srgbClr val="B0B0B0"/>
            </a:solidFill>
            <a:prstDash val="solid"/>
          </a:ln>
        </c:spPr>
        <c:txPr>
          <a:bodyPr anchorCtr="1"/>
          <a:lstStyle/>
          <a:p>
            <a:pPr>
              <a:defRPr sz="1350">
                <a:solidFill>
                  <a:srgbClr val="202D3D"/>
                </a:solidFill>
                <a:latin typeface="Times New Roman"/>
                <a:ea typeface="Times New Roman"/>
                <a:cs typeface="Times New Roman"/>
              </a:defRPr>
            </a:pPr>
            <a:endParaRPr lang="en-US">
              <a:solidFill>
                <a:srgbClr val="202D3D"/>
              </a:solidFill>
            </a:endParaRPr>
          </a:p>
        </c:txPr>
        <c:crossAx val="48650112"/>
        <c:crosses val="autoZero"/>
        <c:crossBetween val="between"/>
      </c:valAx>
      <c:spPr>
        <a:solidFill>
          <a:srgbClr val="FFFFFF"/>
        </a:solidFill>
        <a:ln w="0">
          <a:noFill/>
        </a:ln>
      </c:spPr>
    </c:plotArea>
    <c:legend>
      <c:legendPos val="b"/>
      <c:overlay val="0"/>
      <c:txPr>
        <a:bodyPr anchorCtr="1"/>
        <a:lstStyle/>
        <a:p>
          <a:pPr>
            <a:defRPr sz="1425">
              <a:solidFill>
                <a:srgbClr val="202D3D"/>
              </a:solidFill>
              <a:latin typeface="Times New Roman"/>
              <a:ea typeface="Times New Roman"/>
              <a:cs typeface="Times New Roman"/>
            </a:defRPr>
          </a:pPr>
          <a:endParaRPr lang="en-US">
            <a:solidFill>
              <a:srgbClr val="202D3D"/>
            </a:solidFill>
          </a:endParaRPr>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&#65279;<?xml version="1.0" encoding="utf-8"?><Relationships xmlns="http://schemas.openxmlformats.org/package/2006/relationships"><Relationship Type="http://schemas.openxmlformats.org/officeDocument/2006/relationships/slide" Target="../slides/slide1.xml" Id="R2cd2a9be000c4e27" /><Relationship Type="http://schemas.openxmlformats.org/officeDocument/2006/relationships/notesMaster" Target="/ppt/notesMasters/notesMaster1.xml" Id="Rcb60eb36619c4da5"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&#65279;<?xml version="1.0" encoding="utf-8"?><Relationships xmlns="http://schemas.openxmlformats.org/package/2006/relationships"><Relationship Type="http://schemas.openxmlformats.org/officeDocument/2006/relationships/slide" Target="../slides/slide16.xml" Id="Rd7f76f866fcf4fd3" /><Relationship Type="http://schemas.openxmlformats.org/officeDocument/2006/relationships/notesMaster" Target="/ppt/notesMasters/notesMaster1.xml" Id="R3c6b0168a7b14801" /></Relationships>
</file>

<file path=ppt/notesSlides/_rels/notesSlide17.xml.rels><?xml version='1.0' encoding='utf-8' standalone='yes'?>
<Relationships xmlns="http://schemas.openxmlformats.org/package/2006/relationships"><Relationship Type="http://schemas.openxmlformats.org/officeDocument/2006/relationships/slide" Target="../slides/slide17.xml" Id="R2cd2a9be000c4e27"/><Relationship Type="http://schemas.openxmlformats.org/officeDocument/2006/relationships/notesMaster" Target="/ppt/notesMasters/notesMaster1.xml" Id="Rcb60eb36619c4da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t>Target timing: 15 seconds.</ns0:t>
            </ns0:r>
          </ns0:p>
          <ns1:p xmlns:ns1="http://schemas.openxmlformats.org/drawingml/2006/main">
            <ns1:r>
              <ns1:rPr/>
              <ns1:t/>
            </ns1:r>
          </ns1:p>
          <ns2:p xmlns:ns2="http://schemas.openxmlformats.org/drawingml/2006/main">
            <ns2:r>
              <ns2:rPr/>
              <ns2:t>Hello everyone. My name is Ben Drif Abdelhamid.</ns2:t>
            </ns2:r>
          </ns2:p>
          <ns3:p xmlns:ns3="http://schemas.openxmlformats.org/drawingml/2006/main">
            <ns3:r>
              <ns3:rPr/>
              <ns3:t/>
            </ns3:r>
          </ns3:p>
          <ns4:p xmlns:ns4="http://schemas.openxmlformats.org/drawingml/2006/main">
            <ns4:r>
              <ns4:rPr/>
              <ns4:t>Today, I will present my project about movie review sentiment analysis.</ns4:t>
            </ns4:r>
          </ns4:p>
          <ns5:p xmlns:ns5="http://schemas.openxmlformats.org/drawingml/2006/main">
            <ns5:r>
              <ns5:rPr/>
              <ns5:t/>
            </ns5:r>
          </ns5:p>
          <ns6:p xmlns:ns6="http://schemas.openxmlformats.org/drawingml/2006/main">
            <ns6:r>
              <ns6:rPr/>
              <ns6:t>The main goal is to predict whether a movie review is positive or negative.</ns6:t>
            </ns6:r>
          </ns6:p>
          <ns7:p xmlns:ns7="http://schemas.openxmlformats.org/drawingml/2006/main">
            <ns7:r>
              <ns7:rPr/>
              <ns7:t/>
            </ns7:r>
          </ns7:p>
          <ns8:p xmlns:ns8="http://schemas.openxmlformats.org/drawingml/2006/main">
            <ns8:r>
              <ns8:rPr/>
              <ns8:t>For this project, I compared two machine learning approaches: SVM and CNN.</ns8:t>
            </ns8:r>
          </ns8:p>
          <ns9:p xmlns:ns9="http://schemas.openxmlformats.org/drawingml/2006/main">
            <ns9:r>
              <ns9:rPr/>
              <ns9:t/>
            </ns9:r>
          </ns9:p>
          <ns10:p xmlns:ns10="http://schemas.openxmlformats.org/drawingml/2006/main">
            <ns10:r>
              <ns10:rPr/>
              <ns10:t>Sources:</ns10:t>
            </ns10:r>
          </ns10:p>
          <ns11:p xmlns:ns11="http://schemas.openxmlformats.org/drawingml/2006/main">
            <ns11:r>
              <ns11:rPr/>
              <ns11:t>imdb-sentiment-analysis-executed.ipynb, cells 0 and 42</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30 seconds.</a:t>
            </a:r>
          </a:p>
          <a:p>
            <a:r>
              <a:rPr/>
              <a:t/>
            </a:r>
          </a:p>
          <a:p>
            <a:r>
              <a:rPr/>
              <a:t>Let's start with the dataset.</a:t>
            </a:r>
          </a:p>
          <a:p>
            <a:r>
              <a:rPr/>
              <a:t/>
            </a:r>
          </a:p>
          <a:p>
            <a:r>
              <a:rPr/>
              <a:t>I used the IMDb dataset from Kaggle, which contains 50,000 English movie reviews.</a:t>
            </a:r>
          </a:p>
          <a:p>
            <a:r>
              <a:rPr/>
              <a:t/>
            </a:r>
          </a:p>
          <a:p>
            <a:r>
              <a:rPr/>
              <a:t>Half of them are positive, and the other half are negative.</a:t>
            </a:r>
          </a:p>
          <a:p>
            <a:r>
              <a:rPr/>
              <a:t/>
            </a:r>
          </a:p>
          <a:p>
            <a:r>
              <a:rPr/>
              <a:t>After removing 422 duplicates, I divided the data into three parts: 80% for training, 10% for validation, and 10% for testing.</a:t>
            </a:r>
          </a:p>
          <a:p>
            <a:r>
              <a:rPr/>
              <a:t/>
            </a:r>
          </a:p>
          <a:p>
            <a:r>
              <a:rPr/>
              <a:t>We use training data to learn, validation data to select the model, and test data for the final evaluation.</a:t>
            </a:r>
          </a:p>
          <a:p>
            <a:r>
              <a:rPr/>
              <a:t/>
            </a:r>
          </a:p>
          <a:p>
            <a:r>
              <a:rPr/>
              <a:t>Sources:</a:t>
            </a:r>
          </a:p>
          <a:p>
            <a:r>
              <a:rPr/>
              <a:t>imdb-sentiment-analysis-executed.ipynb, cells 1-13</a:t>
            </a:r>
          </a:p>
          <a:p>
            <a:r>
              <a:rPr/>
              <a:t>https://www.kaggle.com/datasets/lakshmi25npathi/imdb-dataset-of-50k-movie-reviews</a:t>
            </a:r>
          </a:p>
          <a:p>
            <a:r>
              <a:rPr/>
              <a:t>https://nlp.stanford.edu/~amaas/data/sentiment/index.html</a:t>
            </a:r>
          </a:p>
          <a:p>
            <a:r>
              <a:rPr/>
              <a:t>Conceptual illustration recolored with the built-in image generation tool. Prompts: output/presentation/assets/color-illustration-notes.md.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45 seconds.</a:t>
            </a:r>
          </a:p>
          <a:p>
            <a:r>
              <a:rPr/>
              <a:t/>
            </a:r>
          </a:p>
          <a:p>
            <a:r>
              <a:rPr/>
              <a:t>Before training the models, I needed to clean the text.</a:t>
            </a:r>
          </a:p>
          <a:p>
            <a:r>
              <a:rPr/>
              <a:t/>
            </a:r>
          </a:p>
          <a:p>
            <a:r>
              <a:rPr/>
              <a:t>First, I removed HTML tags and converted the text to lowercase.</a:t>
            </a:r>
          </a:p>
          <a:p>
            <a:r>
              <a:rPr/>
              <a:t/>
            </a:r>
          </a:p>
          <a:p>
            <a:r>
              <a:rPr/>
              <a:t>Then, I handled negation. For example, "didn't" becomes "did not".</a:t>
            </a:r>
          </a:p>
          <a:p>
            <a:r>
              <a:rPr/>
              <a:t/>
            </a:r>
          </a:p>
          <a:p>
            <a:r>
              <a:rPr/>
              <a:t>I also used tokenization to split sentences into words, and lemmatization to simplify words. For example, "movies" becomes "movie".</a:t>
            </a:r>
          </a:p>
          <a:p>
            <a:r>
              <a:rPr/>
              <a:t/>
            </a:r>
          </a:p>
          <a:p>
            <a:r>
              <a:rPr/>
              <a:t>An important point is that I kept negation words like "not", because "good" and "not good" have different meanings.</a:t>
            </a:r>
          </a:p>
          <a:p>
            <a:r>
              <a:rPr/>
              <a:t/>
            </a:r>
          </a:p>
          <a:p>
            <a:r>
              <a:rPr/>
              <a:t>Sources:</a:t>
            </a:r>
          </a:p>
          <a:p>
            <a:r>
              <a:rPr/>
              <a:t>imdb-sentiment-analysis-executed.ipynb, cells 7 and 14-22</a:t>
            </a:r>
          </a:p>
          <a:p>
            <a:r>
              <a:rPr/>
              <a:t>preprocessing.py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45 seconds.</a:t>
            </a:r>
          </a:p>
          <a:p>
            <a:r>
              <a:rPr/>
              <a:t/>
            </a:r>
          </a:p>
          <a:p>
            <a:r>
              <a:rPr/>
              <a:t>After cleaning the text, we need to convert it into numbers that the models can understand.</a:t>
            </a:r>
          </a:p>
          <a:p>
            <a:r>
              <a:rPr/>
              <a:t/>
            </a:r>
          </a:p>
          <a:p>
            <a:r>
              <a:rPr/>
              <a:t>For the SVM, I used TF-IDF, which gives importance to words and pairs of words.</a:t>
            </a:r>
          </a:p>
          <a:p>
            <a:r>
              <a:rPr/>
              <a:t/>
            </a:r>
          </a:p>
          <a:p>
            <a:r>
              <a:rPr/>
              <a:t>For the CNN, I used GloVe embeddings, which represent each word as a vector of 100 numbers.</a:t>
            </a:r>
          </a:p>
          <a:p>
            <a:r>
              <a:rPr/>
              <a:t/>
            </a:r>
          </a:p>
          <a:p>
            <a:r>
              <a:rPr/>
              <a:t>The CNN also uses up to 20,000 vocabulary entries and a maximum of 450 tokens per review.</a:t>
            </a:r>
          </a:p>
          <a:p>
            <a:r>
              <a:rPr/>
              <a:t/>
            </a:r>
          </a:p>
          <a:p>
            <a:r>
              <a:rPr/>
              <a:t>Both vocabularies were built using training reviews only.</a:t>
            </a:r>
          </a:p>
          <a:p>
            <a:r>
              <a:rPr/>
              <a:t/>
            </a:r>
          </a:p>
          <a:p>
            <a:r>
              <a:rPr/>
              <a:t>Sources:</a:t>
            </a:r>
          </a:p>
          <a:p>
            <a:r>
              <a:rPr/>
              <a:t>imdb-sentiment-analysis-executed.ipynb, cells 23 and 30-32</a:t>
            </a:r>
          </a:p>
          <a:p>
            <a:r>
              <a:rPr/>
              <a:t>https://nlp.stanford.edu/projects/glove/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45 seconds.</a:t>
            </a:r>
          </a:p>
          <a:p>
            <a:r>
              <a:rPr/>
              <a:t/>
            </a:r>
          </a:p>
          <a:p>
            <a:r>
              <a:rPr/>
              <a:t>The first model is Support Vector Machine, or SVM.</a:t>
            </a:r>
          </a:p>
          <a:p>
            <a:r>
              <a:rPr/>
              <a:t/>
            </a:r>
          </a:p>
          <a:p>
            <a:r>
              <a:rPr/>
              <a:t>It learns to separate positive reviews from negative reviews using TF-IDF features.</a:t>
            </a:r>
          </a:p>
          <a:p>
            <a:r>
              <a:rPr/>
              <a:t/>
            </a:r>
          </a:p>
          <a:p>
            <a:r>
              <a:rPr/>
              <a:t>I chose SVM because it is efficient and works well with text classification.</a:t>
            </a:r>
          </a:p>
          <a:p>
            <a:r>
              <a:rPr/>
              <a:t/>
            </a:r>
          </a:p>
          <a:p>
            <a:r>
              <a:rPr/>
              <a:t>We can also understand some of its decisions by looking at word weights.</a:t>
            </a:r>
          </a:p>
          <a:p>
            <a:r>
              <a:rPr/>
              <a:t/>
            </a:r>
          </a:p>
          <a:p>
            <a:r>
              <a:rPr/>
              <a:t>For example, "excellent" has a positive weight, while "awful" has a negative weight.</a:t>
            </a:r>
          </a:p>
          <a:p>
            <a:r>
              <a:rPr/>
              <a:t/>
            </a:r>
          </a:p>
          <a:p>
            <a:r>
              <a:rPr/>
              <a:t>Sources:</a:t>
            </a:r>
          </a:p>
          <a:p>
            <a:r>
              <a:rPr/>
              <a:t>imdb-sentiment-analysis-executed.ipynb, cells 23-25 and 28</a:t>
            </a:r>
          </a:p>
          <a:p>
            <a:r>
              <a:rPr/>
              <a:t>Technical settings: LinearSVC, C=1.0, max_iter=5000, random_state=42.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45 seconds.</a:t>
            </a:r>
          </a:p>
          <a:p>
            <a:r>
              <a:rPr/>
              <a:t/>
            </a:r>
          </a:p>
          <a:p>
            <a:r>
              <a:rPr/>
              <a:t>The second model is a Convolutional Neural Network, or CNN.</a:t>
            </a:r>
          </a:p>
          <a:p>
            <a:r>
              <a:rPr/>
              <a:t/>
            </a:r>
          </a:p>
          <a:p>
            <a:r>
              <a:rPr/>
              <a:t>It uses GloVe embeddings to represent words.</a:t>
            </a:r>
          </a:p>
          <a:p>
            <a:r>
              <a:rPr/>
              <a:t/>
            </a:r>
          </a:p>
          <a:p>
            <a:r>
              <a:rPr/>
              <a:t>Then, a convolutional layer with 128 filters looks for patterns in groups of five words.</a:t>
            </a:r>
          </a:p>
          <a:p>
            <a:r>
              <a:rPr/>
              <a:t/>
            </a:r>
          </a:p>
          <a:p>
            <a:r>
              <a:rPr/>
              <a:t>Global max pooling keeps the most important patterns, and the final layers predict the sentiment.</a:t>
            </a:r>
          </a:p>
          <a:p>
            <a:r>
              <a:rPr/>
              <a:t/>
            </a:r>
          </a:p>
          <a:p>
            <a:r>
              <a:rPr/>
              <a:t>I also used dropout and early stopping to help reduce overfitting.</a:t>
            </a:r>
          </a:p>
          <a:p>
            <a:r>
              <a:rPr/>
              <a:t/>
            </a:r>
          </a:p>
          <a:p>
            <a:r>
              <a:rPr/>
              <a:t>Sources:</a:t>
            </a:r>
          </a:p>
          <a:p>
            <a:r>
              <a:rPr/>
              <a:t>imdb-sentiment-analysis-executed.ipynb, cells 30-37</a:t>
            </a:r>
          </a:p>
          <a:p>
            <a:r>
              <a:rPr/>
              <a:t>https://aclanthology.org/D14-1181/</a:t>
            </a:r>
          </a:p>
          <a:p>
            <a:r>
              <a:rPr/>
              <a:t>Technical settings: 72,449 trainable parameters, 2,000,000 frozen embedding values. Adam 0.001, binary cross-entropy, batch 64, maximum 10 epochs, early-stopping patience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50 seconds.</a:t>
            </a:r>
          </a:p>
          <a:p>
            <a:r>
              <a:rPr/>
              <a:t/>
            </a:r>
          </a:p>
          <a:p>
            <a:r>
              <a:rPr/>
              <a:t>Now, let's compare the results.</a:t>
            </a:r>
          </a:p>
          <a:p>
            <a:r>
              <a:rPr/>
              <a:t/>
            </a:r>
          </a:p>
          <a:p>
            <a:r>
              <a:rPr/>
              <a:t>Both models were evaluated on the same test set of 4,958 reviews.</a:t>
            </a:r>
          </a:p>
          <a:p>
            <a:r>
              <a:rPr/>
              <a:t/>
            </a:r>
          </a:p>
          <a:p>
            <a:r>
              <a:rPr/>
              <a:t>The SVM achieved 90.86% accuracy, while the CNN achieved 87.11%.</a:t>
            </a:r>
          </a:p>
          <a:p>
            <a:r>
              <a:rPr/>
              <a:t/>
            </a:r>
          </a:p>
          <a:p>
            <a:r>
              <a:rPr/>
              <a:t>The SVM also performed better in F1-score and ROC-AUC.</a:t>
            </a:r>
          </a:p>
          <a:p>
            <a:r>
              <a:rPr/>
              <a:t/>
            </a:r>
          </a:p>
          <a:p>
            <a:r>
              <a:rPr/>
              <a:t>So, based on these results, we can say that SVM performed better than CNN in this experiment.</a:t>
            </a:r>
          </a:p>
          <a:p>
            <a:r>
              <a:rPr/>
              <a:t/>
            </a:r>
          </a:p>
          <a:p>
            <a:r>
              <a:rPr/>
              <a:t>Sources:</a:t>
            </a:r>
          </a:p>
          <a:p>
            <a:r>
              <a:rPr/>
              <a:t>imdb-sentiment-analysis-executed.ipynb, cells 39-40</a:t>
            </a:r>
          </a:p>
          <a:p>
            <a:r>
              <a:rP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40 seconds.</a:t>
            </a:r>
          </a:p>
          <a:p>
            <a:r>
              <a:rPr/>
              <a:t/>
            </a:r>
          </a:p>
          <a:p>
            <a:r>
              <a:rPr/>
              <a:t>To better understand these results, I analyzed the confusion matrices.</a:t>
            </a:r>
          </a:p>
          <a:p>
            <a:r>
              <a:rPr/>
              <a:t/>
            </a:r>
          </a:p>
          <a:p>
            <a:r>
              <a:rPr/>
              <a:t>They show correct predictions and classification errors.</a:t>
            </a:r>
          </a:p>
          <a:p>
            <a:r>
              <a:rPr/>
              <a:t/>
            </a:r>
          </a:p>
          <a:p>
            <a:r>
              <a:rPr/>
              <a:t>A false positive happens when a negative review is predicted as positive.</a:t>
            </a:r>
          </a:p>
          <a:p>
            <a:r>
              <a:rPr/>
              <a:t/>
            </a:r>
          </a:p>
          <a:p>
            <a:r>
              <a:rPr/>
              <a:t>A false negative is the opposite.</a:t>
            </a:r>
          </a:p>
          <a:p>
            <a:r>
              <a:rPr/>
              <a:t/>
            </a:r>
          </a:p>
          <a:p>
            <a:r>
              <a:rPr/>
              <a:t>As we can see, SVM made 453 errors, while CNN made 639 errors.</a:t>
            </a:r>
          </a:p>
          <a:p>
            <a:r>
              <a:rPr/>
              <a:t/>
            </a:r>
          </a:p>
          <a:p>
            <a:r>
              <a:rPr/>
              <a:t>This confirms the better performance of SVM.</a:t>
            </a:r>
          </a:p>
          <a:p>
            <a:r>
              <a:rPr/>
              <a:t/>
            </a:r>
          </a:p>
          <a:p>
            <a:r>
              <a:rPr/>
              <a:t>Sources:</a:t>
            </a:r>
          </a:p>
          <a:p>
            <a:r>
              <a:rPr/>
              <a:t>imdb-sentiment-analysis-executed.ipynb, cell 41</a:t>
            </a:r>
          </a:p>
          <a:p>
            <a:r>
              <a:rP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45 seconds.</a:t>
            </a:r>
          </a:p>
          <a:p>
            <a:r>
              <a:rPr/>
              <a:t/>
            </a:r>
          </a:p>
          <a:p>
            <a:r>
              <a:rPr/>
              <a:t>Now, let's look at the CNN training curves.</a:t>
            </a:r>
          </a:p>
          <a:p>
            <a:r>
              <a:rPr/>
              <a:t/>
            </a:r>
          </a:p>
          <a:p>
            <a:r>
              <a:rPr/>
              <a:t>We can see that training accuracy continues to increase, but validation performance stops improving.</a:t>
            </a:r>
          </a:p>
          <a:p>
            <a:r>
              <a:rPr/>
              <a:t/>
            </a:r>
          </a:p>
          <a:p>
            <a:r>
              <a:rPr/>
              <a:t>This means the model is learning the training data better, without improving on new data.</a:t>
            </a:r>
          </a:p>
          <a:p>
            <a:r>
              <a:rPr/>
              <a:t/>
            </a:r>
          </a:p>
          <a:p>
            <a:r>
              <a:rPr/>
              <a:t>This problem is called overfitting.</a:t>
            </a:r>
          </a:p>
          <a:p>
            <a:r>
              <a:rPr/>
              <a:t/>
            </a:r>
          </a:p>
          <a:p>
            <a:r>
              <a:rPr/>
              <a:t>To reduce it, I used early stopping.</a:t>
            </a:r>
          </a:p>
          <a:p>
            <a:r>
              <a:rPr/>
              <a:t/>
            </a:r>
          </a:p>
          <a:p>
            <a:r>
              <a:rPr/>
              <a:t>Training stopped after six epochs and restored epoch four, which had the lowest validation loss.</a:t>
            </a:r>
          </a:p>
          <a:p>
            <a:r>
              <a:rPr/>
              <a:t/>
            </a:r>
          </a:p>
          <a:p>
            <a:r>
              <a:rPr/>
              <a:t>Sources:</a:t>
            </a:r>
          </a:p>
          <a:p>
            <a:r>
              <a:rPr/>
              <a:t>imdb-sentiment-analysis-executed.ipynb, cells 35-38; recorded training log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45 seconds.</a:t>
            </a:r>
          </a:p>
          <a:p>
            <a:r>
              <a:rPr/>
              <a:t/>
            </a:r>
          </a:p>
          <a:p>
            <a:r>
              <a:rPr/>
              <a:t>However, both models have limitations.</a:t>
            </a:r>
          </a:p>
          <a:p>
            <a:r>
              <a:rPr/>
              <a:t/>
            </a:r>
          </a:p>
          <a:p>
            <a:r>
              <a:rPr/>
              <a:t>For example, this review contains both positive and negative opinions.</a:t>
            </a:r>
          </a:p>
          <a:p>
            <a:r>
              <a:rPr/>
              <a:t/>
            </a:r>
          </a:p>
          <a:p>
            <a:r>
              <a:rPr/>
              <a:t>The SVM predicts positive, while the CNN predicts negative.</a:t>
            </a:r>
          </a:p>
          <a:p>
            <a:r>
              <a:rPr/>
              <a:t/>
            </a:r>
          </a:p>
          <a:p>
            <a:r>
              <a:rPr/>
              <a:t>This illustrates a challenge with mixed opinions. This example has no official label, so disagreement alone does not tell us which model is correct.</a:t>
            </a:r>
          </a:p>
          <a:p>
            <a:r>
              <a:rPr/>
              <a:t/>
            </a:r>
          </a:p>
          <a:p>
            <a:r>
              <a:rPr/>
              <a:t>Also, this experiment focuses only on English movie reviews and two sentiment classes.</a:t>
            </a:r>
          </a:p>
          <a:p>
            <a:r>
              <a:rPr/>
              <a:t/>
            </a:r>
          </a:p>
          <a:p>
            <a:r>
              <a:rPr/>
              <a:t>So, more testing is needed to evaluate generalization.</a:t>
            </a:r>
          </a:p>
          <a:p>
            <a:r>
              <a:rPr/>
              <a:t/>
            </a:r>
          </a:p>
          <a:p>
            <a:r>
              <a:rPr/>
              <a:t>Sources:</a:t>
            </a:r>
          </a:p>
          <a:p>
            <a:r>
              <a:rPr/>
              <a:t>imdb-sentiment-analysis-executed.ipynb, cells 43-44</a:t>
            </a:r>
          </a:p>
          <a:p>
            <a:r>
              <a:rPr/>
              <a:t>models/reference_predictions.json</a:t>
            </a:r>
          </a:p>
          <a:p>
            <a:r>
              <a:rP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30 seconds.</a:t>
            </a:r>
          </a:p>
          <a:p>
            <a:r>
              <a:rPr/>
              <a:t/>
            </a:r>
          </a:p>
          <a:p>
            <a:r>
              <a:rPr/>
              <a:t>Finally, I developed a local application to test both models.</a:t>
            </a:r>
          </a:p>
          <a:p>
            <a:r>
              <a:rPr/>
              <a:t/>
            </a:r>
          </a:p>
          <a:p>
            <a:r>
              <a:rPr/>
              <a:t>The user enters an English movie review and clicks "Analyze Sentiment".</a:t>
            </a:r>
          </a:p>
          <a:p>
            <a:r>
              <a:rPr/>
              <a:t/>
            </a:r>
          </a:p>
          <a:p>
            <a:r>
              <a:rPr/>
              <a:t>The application displays the predictions from SVM and CNN and shows whether they agree.</a:t>
            </a:r>
          </a:p>
          <a:p>
            <a:r>
              <a:rPr/>
              <a:t/>
            </a:r>
          </a:p>
          <a:p>
            <a:r>
              <a:rPr/>
              <a:t>[Enter a review, click the button, and show the predictions.]</a:t>
            </a:r>
          </a:p>
          <a:p>
            <a:r>
              <a:rPr/>
              <a:t/>
            </a:r>
          </a:p>
          <a:p>
            <a:r>
              <a:rPr/>
              <a:t>As you can see, we can easily compare both models using this interface.</a:t>
            </a:r>
          </a:p>
          <a:p>
            <a:r>
              <a:rPr/>
              <a:t/>
            </a:r>
          </a:p>
          <a:p>
            <a:r>
              <a:rPr/>
              <a:t>Sources:</a:t>
            </a:r>
          </a:p>
          <a:p>
            <a:r>
              <a:rPr/>
              <a:t>app.py</a:t>
            </a:r>
          </a:p>
          <a:p>
            <a:r>
              <a:rPr/>
              <a:t>inference.py</a:t>
            </a:r>
          </a:p>
          <a:p>
            <a:r>
              <a:rPr/>
              <a:t>keras_numpy.py</a:t>
            </a:r>
          </a:p>
          <a:p>
            <a:r>
              <a:rPr/>
              <a:t>output/interface-demo.jpg</a:t>
            </a:r>
          </a:p>
          <a:p>
            <a:r>
              <a:rP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Target timing: 25 seconds.</a:t>
            </a:r>
          </a:p>
          <a:p>
            <a:r>
              <a:rPr/>
              <a:t/>
            </a:r>
          </a:p>
          <a:p>
            <a:r>
              <a:rPr/>
              <a:t>To conclude, this project covers the complete NLP pipeline, from data preprocessing to model training and application development.</a:t>
            </a:r>
          </a:p>
          <a:p>
            <a:r>
              <a:rPr/>
              <a:t/>
            </a:r>
          </a:p>
          <a:p>
            <a:r>
              <a:rPr/>
              <a:t>The main result is that TF-IDF with SVM performed better than GloVe with CNN in this experiment.</a:t>
            </a:r>
          </a:p>
          <a:p>
            <a:r>
              <a:rPr/>
              <a:t/>
            </a:r>
          </a:p>
          <a:p>
            <a:r>
              <a:rPr/>
              <a:t>For future work, I would like to improve the CNN, test different configurations, and evaluate the models on other datasets.</a:t>
            </a:r>
          </a:p>
          <a:p>
            <a:r>
              <a:rPr/>
              <a:t/>
            </a:r>
          </a:p>
          <a:p>
            <a:r>
              <a:rPr/>
              <a:t>Sources:</a:t>
            </a:r>
          </a:p>
          <a:p>
            <a:r>
              <a:rPr/>
              <a:t>imdb-sentiment-analysis-executed.ipynb</a:t>
            </a:r>
          </a:p>
          <a:p>
            <a:r>
              <a:rP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for questions. Positive means positive sentiment. Precision asks how many positive predictions are correct. Recall asks how many actual positives are found. F1 balances precision and recall. Macro averaging computes a metric separately for each class and averages the two values equally. ROC-AUC evaluates the ranking of positive examples above negative examples across thresholds. Accuracy is useful here because the classes are almost balanced, but the confusion matrix still reveals different error types. CNN sigmoid scores are not demonstrated to be calibrated probabilities. SVM margins are not probabilities.</a:t>
            </a:r>
          </a:p>
          <a:p>
            <a:endParaRPr/>
          </a:p>
          <a:p>
            <a:r>
              <a:t>Sources:</a:t>
            </a:r>
          </a:p>
          <a:p>
            <a:r>
              <a:t>imdb-sentiment-analysis-executed.ipynb, cells 25, 37 and 40</a:t>
            </a:r>
          </a:p>
          <a:p>
            <a: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answers. Why no transformer? The project compares a classical baseline with a compact deep model under a limited resource budget. A pretrained transformer could be a future comparison, but was not evaluated. Is the comparison perfectly controlled? Both models use the same cleaned split, but the representations differ in vocabulary size, sequence length, and pretraining, so individual causes cannot be isolated. Why not use the original IMDb benchmark split? This Kaggle CSV experiment uses a new stratified split. Its results are not directly comparable to published benchmark scores. Why not improve using the test results? Further model selection must use validation data. Since the final test has been examined, a fresh external test would be stronger for evaluating future redesigns. What prevents leakage? Basic-cleaned exact duplicates were removed before splitting and vocabularies were fitted only on training text. This does not establish that every near-duplicate or shared movie has been excluded. Why keep frozen random vectors for missing GloVe words? That was the selected setup, but it limits adaptation. A controlled fine-tuning experiment could test an improvement. Is the difference statistically significant? No paired significance test or confidence interval was computed. The reported gap is descriptive for one split.</a:t>
            </a:r>
          </a:p>
          <a:p>
            <a:endParaRPr/>
          </a:p>
          <a:p>
            <a:r>
              <a:t>Sources:</a:t>
            </a:r>
          </a:p>
          <a:p>
            <a:r>
              <a:t>imdb-sentiment-analysis-executed.ipynb, cells 11-12, 23 and 30-40</a:t>
            </a:r>
          </a:p>
          <a:p>
            <a:r>
              <a:t>models/training_metadata.json</a:t>
            </a:r>
          </a:p>
          <a:p>
            <a: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The numerical results and architecture come from the executed project notebook and local verification report. Dataset access: Kaggle, lakshmi25npathi, IMDb Dataset of 50K Movie Reviews. Dataset background: Maas and colleagues, Learning Word Vectors for Sentiment Analysis, ACL 2011. Word vectors: Pennington, Socher and Manning, GloVe: Global Vectors for Word Representation, EMNLP 2014. CNN background: Yoon Kim, Convolutional Neural Networks for Sentence Classification, EMNLP 2014. This project uses its own compact single-kernel CNN rather than claiming an exact reproduction of Kim's architecture. The previous group's PDF served as a presentation reference only. Its names, models, and results were not reused.</a:t>
            </a:r>
          </a:p>
          <a:p>
            <a:endParaRPr/>
          </a:p>
          <a:p>
            <a:r>
              <a:t>Sources:</a:t>
            </a:r>
          </a:p>
          <a:p>
            <a:r>
              <a:t>https://www.kaggle.com/datasets/lakshmi25npathi/imdb-dataset-of-50k-movie-reviews</a:t>
            </a:r>
          </a:p>
          <a:p>
            <a:r>
              <a:t>https://nlp.stanford.edu/~amaas/data/sentiment/index.html</a:t>
            </a:r>
          </a:p>
          <a:p>
            <a:r>
              <a:t>https://nlp.stanford.edu/projects/glove/</a:t>
            </a:r>
          </a:p>
          <a:p>
            <a:r>
              <a:t>https://aclanthology.org/D14-1181/</a:t>
            </a:r>
          </a:p>
          <a:p>
            <a:r>
              <a:t>imdb-sentiment-analysis-executed.ipynb</a:t>
            </a:r>
          </a:p>
          <a:p>
            <a:r>
              <a:t>output/model_verification.json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t>Target timing: 15 seconds.</ns0:t>
            </ns0:r>
          </ns0:p>
          <ns1:p xmlns:ns1="http://schemas.openxmlformats.org/drawingml/2006/main">
            <ns1:r>
              <ns1:rPr/>
              <ns1:t/>
            </ns1:r>
          </ns1:p>
          <ns2:p xmlns:ns2="http://schemas.openxmlformats.org/drawingml/2006/main">
            <ns2:r>
              <ns2:rPr/>
              <ns2:t>Here is the plan of my presentation.</ns2:t>
            </ns2:r>
          </ns2:p>
          <ns3:p xmlns:ns3="http://schemas.openxmlformats.org/drawingml/2006/main">
            <ns3:r>
              <ns3:rPr/>
              <ns3:t/>
            </ns3:r>
          </ns3:p>
          <ns4:p xmlns:ns4="http://schemas.openxmlformats.org/drawingml/2006/main">
            <ns4:r>
              <ns4:rPr/>
              <ns4:t>First, I will introduce the dataset and explain how I prepared the text.</ns4:t>
            </ns4:r>
          </ns4:p>
          <ns5:p xmlns:ns5="http://schemas.openxmlformats.org/drawingml/2006/main">
            <ns5:r>
              <ns5:rPr/>
              <ns5:t/>
            </ns5:r>
          </ns5:p>
          <ns6:p xmlns:ns6="http://schemas.openxmlformats.org/drawingml/2006/main">
            <ns6:r>
              <ns6:rPr/>
              <ns6:t>Then, I will present the two models, compare their results, and discuss their limitations.</ns6:t>
            </ns6:r>
          </ns6:p>
          <ns7:p xmlns:ns7="http://schemas.openxmlformats.org/drawingml/2006/main">
            <ns7:r>
              <ns7:rPr/>
              <ns7:t/>
            </ns7:r>
          </ns7:p>
          <ns8:p xmlns:ns8="http://schemas.openxmlformats.org/drawingml/2006/main">
            <ns8:r>
              <ns8:rPr/>
              <ns8:t>Finally, I will show you the application and conclude with possible improvements.</ns8:t>
            </ns8:r>
          </ns8:p>
          <ns9:p xmlns:ns9="http://schemas.openxmlformats.org/drawingml/2006/main">
            <ns9:r>
              <ns9:rPr/>
              <ns9:t/>
            </ns9:r>
          </ns9:p>
          <ns10:p xmlns:ns10="http://schemas.openxmlformats.org/drawingml/2006/main">
            <ns10:r>
              <ns10:rPr/>
              <ns10:t>Sources:</ns10:t>
            </ns10:r>
          </ns10:p>
          <ns11:p xmlns:ns11="http://schemas.openxmlformats.org/drawingml/2006/main">
            <ns11:r>
              <ns11:rPr/>
              <ns11:t>The supplied SDIA NLP mini-project presentation structure.</ns11:t>
            </ns11:r>
          </ns11:p>
          <ns12:p xmlns:ns12="http://schemas.openxmlformats.org/drawingml/2006/main">
            <ns12:r>
              <ns12:rPr/>
              <ns12:t>Conceptual illustration recolored with the built-in image generation tool. Prompts: output/presentation/assets/color-illustration-notes.md.</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t>Target timing: 5 seconds.</ns0:t>
            </ns0:r>
          </ns0:p>
          <ns1:p xmlns:ns1="http://schemas.openxmlformats.org/drawingml/2006/main">
            <ns1:r>
              <ns1:rPr/>
              <ns1:t/>
            </ns1:r>
          </ns1:p>
          <ns2:p xmlns:ns2="http://schemas.openxmlformats.org/drawingml/2006/main">
            <ns2:r>
              <ns2:rPr/>
              <ns2:t>Thank you for your attention.</ns2:t>
            </ns2:r>
          </ns2:p>
          <ns3:p xmlns:ns3="http://schemas.openxmlformats.org/drawingml/2006/main">
            <ns3:r>
              <ns3:rPr/>
              <ns3:t/>
            </ns3:r>
          </ns3:p>
          <ns4:p xmlns:ns4="http://schemas.openxmlformats.org/drawingml/2006/main">
            <ns4:r>
              <ns4:rPr/>
              <ns4:t>I am ready for your questions.</ns4:t>
            </ns4:r>
          </ns4:p>
          <ns5:p xmlns:ns5="http://schemas.openxmlformats.org/drawingml/2006/main">
            <ns5:r>
              <ns5:rPr/>
              <ns5:t/>
            </ns5:r>
          </ns5:p>
          <ns6:p xmlns:ns6="http://schemas.openxmlformats.org/drawingml/2006/main">
            <ns6:r>
              <ns6:rPr/>
              <ns6:t>Sources:</ns6:t>
            </ns6:r>
          </ns6:p>
          <ns7:p xmlns:ns7="http://schemas.openxmlformats.org/drawingml/2006/main">
            <ns7:r>
              <ns7:rPr/>
              <ns7:t>Closing remarks.</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EADAF75-DD1A-4B9C-9B60-DEA17081D54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rgbClr val="000000"/>
                </a:solidFill>
                <a:latin typeface="Times New Roman"/>
                <a:ea typeface="Times New Roman"/>
                <a:cs typeface="Times New Roman"/>
              </a:defRPr>
            </a:defPPr>
            <a:lvl1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1pPr>
            <a:lvl2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2pPr>
            <a:lvl3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3pPr>
            <a:lvl4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4pPr>
            <a:lvl5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5pPr>
            <a:lvl6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6pPr>
            <a:lvl7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7pPr>
            <a:lvl8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8pPr>
            <a:lvl9pPr marL="0" indent="0" algn="ctr">
              <a:lnSpc>
                <a:spcPct val="110000"/>
              </a:lnSpc>
              <a:spcBef>
                <a:spcPts val="0"/>
              </a:spcBef>
              <a:spcAft>
                <a:spcPts val="0"/>
              </a:spcAft>
              <a:buNone/>
              <a:defRPr sz="4800" b="1">
                <a:solidFill>
                  <a:srgbClr val="000000"/>
                </a:solidFill>
                <a:latin typeface="Times New Roman"/>
                <a:ea typeface="Times New Roman"/>
                <a:cs typeface="Times New Roman"/>
              </a:defRPr>
            </a:lvl9pPr>
          </a:lstStyle>
          <a:p>
            <a:endParaRPr/>
          </a:p>
        </p:txBody>
      </p:sp>
      <p:sp>
        <p:nvSpPr>
          <p:cNvPr id="2" name="Subtitle">
            <a:extLst>
              <a:ext uri="{FF2B5EF4-FFF2-40B4-BE49-F238E27FC236}">
                <a16:creationId xmlns:a16="http://schemas.microsoft.com/office/drawing/2014/main" id="{95EA96DE-4826-4A5E-979C-58E5F1F2FE8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rgbClr val="000000"/>
                </a:solidFill>
                <a:latin typeface="Times New Roman"/>
                <a:ea typeface="Times New Roman"/>
                <a:cs typeface="Times New Roman"/>
              </a:defRPr>
            </a:defPPr>
            <a:lvl1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1pPr>
            <a:lvl2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2pPr>
            <a:lvl3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3pPr>
            <a:lvl4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4pPr>
            <a:lvl5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5pPr>
            <a:lvl6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6pPr>
            <a:lvl7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7pPr>
            <a:lvl8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8pPr>
            <a:lvl9pPr marL="0" indent="0" algn="ctr">
              <a:lnSpc>
                <a:spcPct val="110000"/>
              </a:lnSpc>
              <a:spcBef>
                <a:spcPts val="0"/>
              </a:spcBef>
              <a:spcAft>
                <a:spcPts val="0"/>
              </a:spcAft>
              <a:buNone/>
              <a:defRPr sz="2100" b="0">
                <a:solidFill>
                  <a:srgbClr val="000000"/>
                </a:solidFill>
                <a:latin typeface="Times New Roman"/>
                <a:ea typeface="Times New Roman"/>
                <a:cs typeface="Times New Roman"/>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6A546D7-C741-4701-9AF6-B21545293A9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rgbClr val="000000"/>
                </a:solidFill>
                <a:latin typeface="Times New Roman"/>
                <a:ea typeface="Times New Roman"/>
                <a:cs typeface="Times New Roman"/>
              </a:defRPr>
            </a:defPPr>
            <a:lvl1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1pPr>
            <a:lvl2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2pPr>
            <a:lvl3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3pPr>
            <a:lvl4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4pPr>
            <a:lvl5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5pPr>
            <a:lvl6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6pPr>
            <a:lvl7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7pPr>
            <a:lvl8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8pPr>
            <a:lvl9pPr marL="0" indent="0" algn="ctr">
              <a:lnSpc>
                <a:spcPct val="110000"/>
              </a:lnSpc>
              <a:spcBef>
                <a:spcPts val="0"/>
              </a:spcBef>
              <a:spcAft>
                <a:spcPts val="0"/>
              </a:spcAft>
              <a:buNone/>
              <a:defRPr sz="4200" b="1">
                <a:solidFill>
                  <a:srgbClr val="000000"/>
                </a:solidFill>
                <a:latin typeface="Times New Roman"/>
                <a:ea typeface="Times New Roman"/>
                <a:cs typeface="Times New Roman"/>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C69AA91-4A8D-4A71-8D88-35077F7BFFD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rgbClr val="000000"/>
                </a:solidFill>
                <a:latin typeface="Times New Roman"/>
                <a:ea typeface="Times New Roman"/>
                <a:cs typeface="Times New Roman"/>
              </a:defRPr>
            </a:defPPr>
            <a:lvl1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1pPr>
            <a:lvl2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2pPr>
            <a:lvl3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3pPr>
            <a:lvl4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4pPr>
            <a:lvl5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5pPr>
            <a:lvl6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6pPr>
            <a:lvl7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7pPr>
            <a:lvl8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8pPr>
            <a:lvl9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9pPr>
          </a:lstStyle>
          <a:p>
            <a:endParaRPr/>
          </a:p>
        </p:txBody>
      </p:sp>
      <p:sp>
        <p:nvSpPr>
          <p:cNvPr id="2" name="Body">
            <a:extLst>
              <a:ext uri="{FF2B5EF4-FFF2-40B4-BE49-F238E27FC236}">
                <a16:creationId xmlns:a16="http://schemas.microsoft.com/office/drawing/2014/main" id="{0ECCE07B-70A9-46DA-A5B7-8DA6C96EB66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rgbClr val="000000"/>
                </a:solidFill>
                <a:latin typeface="Times New Roman"/>
                <a:ea typeface="Times New Roman"/>
                <a:cs typeface="Times New Roman"/>
              </a:defRPr>
            </a:defPPr>
            <a:lvl1pPr marL="2286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1pPr>
            <a:lvl2pPr marL="5334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2pPr>
            <a:lvl3pPr marL="8382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3pPr>
            <a:lvl4pPr marL="11430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4pPr>
            <a:lvl5pPr marL="14478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5pPr>
            <a:lvl6pPr marL="17526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6pPr>
            <a:lvl7pPr marL="20574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7pPr>
            <a:lvl8pPr marL="23622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8pPr>
            <a:lvl9pPr marL="26670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B7735BE-FDD1-4141-998F-A0E73C347B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rgbClr val="000000"/>
                </a:solidFill>
                <a:latin typeface="Times New Roman"/>
                <a:ea typeface="Times New Roman"/>
                <a:cs typeface="Times New Roman"/>
              </a:defRPr>
            </a:defPPr>
            <a:lvl1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1pPr>
            <a:lvl2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2pPr>
            <a:lvl3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3pPr>
            <a:lvl4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4pPr>
            <a:lvl5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5pPr>
            <a:lvl6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6pPr>
            <a:lvl7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7pPr>
            <a:lvl8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8pPr>
            <a:lvl9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9pPr>
          </a:lstStyle>
          <a:p>
            <a:endParaRPr/>
          </a:p>
        </p:txBody>
      </p:sp>
      <p:sp>
        <p:nvSpPr>
          <p:cNvPr id="2" name="Left column">
            <a:extLst>
              <a:ext uri="{FF2B5EF4-FFF2-40B4-BE49-F238E27FC236}">
                <a16:creationId xmlns:a16="http://schemas.microsoft.com/office/drawing/2014/main" id="{B5198EB4-E8FF-4D95-93A1-803FCB0898A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rgbClr val="000000"/>
                </a:solidFill>
                <a:latin typeface="Times New Roman"/>
                <a:ea typeface="Times New Roman"/>
                <a:cs typeface="Times New Roman"/>
              </a:defRPr>
            </a:defPPr>
            <a:lvl1pPr marL="2286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1pPr>
            <a:lvl2pPr marL="5334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2pPr>
            <a:lvl3pPr marL="8382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3pPr>
            <a:lvl4pPr marL="11430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4pPr>
            <a:lvl5pPr marL="14478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5pPr>
            <a:lvl6pPr marL="17526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6pPr>
            <a:lvl7pPr marL="20574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7pPr>
            <a:lvl8pPr marL="23622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8pPr>
            <a:lvl9pPr marL="26670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9pPr>
          </a:lstStyle>
          <a:p>
            <a:endParaRPr/>
          </a:p>
        </p:txBody>
      </p:sp>
      <p:sp>
        <p:nvSpPr>
          <p:cNvPr id="3" name="Right column">
            <a:extLst>
              <a:ext uri="{FF2B5EF4-FFF2-40B4-BE49-F238E27FC236}">
                <a16:creationId xmlns:a16="http://schemas.microsoft.com/office/drawing/2014/main" id="{0E5828AE-4251-418C-A8BA-76CB395B679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rgbClr val="000000"/>
                </a:solidFill>
                <a:latin typeface="Times New Roman"/>
                <a:ea typeface="Times New Roman"/>
                <a:cs typeface="Times New Roman"/>
              </a:defRPr>
            </a:defPPr>
            <a:lvl1pPr marL="2286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1pPr>
            <a:lvl2pPr marL="5334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2pPr>
            <a:lvl3pPr marL="8382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3pPr>
            <a:lvl4pPr marL="11430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4pPr>
            <a:lvl5pPr marL="14478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5pPr>
            <a:lvl6pPr marL="17526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6pPr>
            <a:lvl7pPr marL="20574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7pPr>
            <a:lvl8pPr marL="23622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8pPr>
            <a:lvl9pPr marL="2667000" indent="-228600" algn="l">
              <a:lnSpc>
                <a:spcPct val="110000"/>
              </a:lnSpc>
              <a:spcBef>
                <a:spcPts val="0"/>
              </a:spcBef>
              <a:spcAft>
                <a:spcPts val="1200"/>
              </a:spcAft>
              <a:buChar char="•"/>
              <a:defRPr sz="2100" b="0">
                <a:solidFill>
                  <a:srgbClr val="000000"/>
                </a:solidFill>
                <a:latin typeface="Times New Roman"/>
                <a:ea typeface="Times New Roman"/>
                <a:cs typeface="Times New Roman"/>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2297CB7-816E-4345-B3D6-92C0611C80A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rgbClr val="000000"/>
                </a:solidFill>
                <a:latin typeface="Times New Roman"/>
                <a:ea typeface="Times New Roman"/>
                <a:cs typeface="Times New Roman"/>
              </a:defRPr>
            </a:defPPr>
            <a:lvl1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1pPr>
            <a:lvl2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2pPr>
            <a:lvl3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3pPr>
            <a:lvl4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4pPr>
            <a:lvl5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5pPr>
            <a:lvl6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6pPr>
            <a:lvl7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7pPr>
            <a:lvl8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8pPr>
            <a:lvl9pPr marL="0" indent="0" algn="l">
              <a:lnSpc>
                <a:spcPct val="110000"/>
              </a:lnSpc>
              <a:spcBef>
                <a:spcPts val="0"/>
              </a:spcBef>
              <a:spcAft>
                <a:spcPts val="0"/>
              </a:spcAft>
              <a:buNone/>
              <a:defRPr sz="3300" b="1">
                <a:solidFill>
                  <a:srgbClr val="000000"/>
                </a:solidFill>
                <a:latin typeface="Times New Roman"/>
                <a:ea typeface="Times New Roman"/>
                <a:cs typeface="Times New Roman"/>
              </a:defRPr>
            </a:lvl9pPr>
          </a:lstStyle>
          <a:p>
            <a:endParaRPr/>
          </a:p>
        </p:txBody>
      </p:sp>
      <p:sp>
        <p:nvSpPr>
          <p:cNvPr id="2" name="Left column">
            <a:extLst>
              <a:ext uri="{FF2B5EF4-FFF2-40B4-BE49-F238E27FC236}">
                <a16:creationId xmlns:a16="http://schemas.microsoft.com/office/drawing/2014/main" id="{B64D660E-59A5-4B85-9689-4E31ACF2D3A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rgbClr val="000000"/>
                </a:solidFill>
                <a:latin typeface="Times New Roman"/>
                <a:ea typeface="Times New Roman"/>
                <a:cs typeface="Times New Roman"/>
              </a:defRPr>
            </a:defPPr>
            <a:lvl1pPr marL="2286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1pPr>
            <a:lvl2pPr marL="5334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2pPr>
            <a:lvl3pPr marL="8382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3pPr>
            <a:lvl4pPr marL="11430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4pPr>
            <a:lvl5pPr marL="14478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5pPr>
            <a:lvl6pPr marL="17526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6pPr>
            <a:lvl7pPr marL="20574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7pPr>
            <a:lvl8pPr marL="23622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8pPr>
            <a:lvl9pPr marL="2667000" indent="-228600" algn="l">
              <a:lnSpc>
                <a:spcPct val="110000"/>
              </a:lnSpc>
              <a:spcBef>
                <a:spcPts val="0"/>
              </a:spcBef>
              <a:spcAft>
                <a:spcPts val="1200"/>
              </a:spcAft>
              <a:buChar char="•"/>
              <a:defRPr sz="2250" b="0">
                <a:solidFill>
                  <a:srgbClr val="000000"/>
                </a:solidFill>
                <a:latin typeface="Times New Roman"/>
                <a:ea typeface="Times New Roman"/>
                <a:cs typeface="Times New Roman"/>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rgbClr val="000000"/>
          </a:solidFill>
          <a:latin typeface="Times New Roman"/>
          <a:ea typeface="Times New Roman"/>
          <a:cs typeface="Times New Roman"/>
        </a:defRPr>
      </a:lvl1pPr>
    </p:titleStyle>
    <p:bodyStyle>
      <a:lvl1pPr marL="228600" indent="-228600" algn="l">
        <a:lnSpc>
          <a:spcPct val="90000"/>
        </a:lnSpc>
        <a:spcBef>
          <a:spcPts val="1000"/>
        </a:spcBef>
        <a:buChar char="•"/>
        <a:defRPr sz="2800">
          <a:solidFill>
            <a:srgbClr val="000000"/>
          </a:solidFill>
          <a:latin typeface="Times New Roman"/>
          <a:ea typeface="Times New Roman"/>
          <a:cs typeface="Times New Roman"/>
        </a:defRPr>
      </a:lvl1pPr>
      <a:lvl2pPr marL="685800" indent="-228600" algn="l">
        <a:lnSpc>
          <a:spcPct val="90000"/>
        </a:lnSpc>
        <a:spcBef>
          <a:spcPts val="500"/>
        </a:spcBef>
        <a:buChar char="•"/>
        <a:defRPr sz="2400">
          <a:solidFill>
            <a:srgbClr val="000000"/>
          </a:solidFill>
          <a:latin typeface="Times New Roman"/>
          <a:ea typeface="Times New Roman"/>
          <a:cs typeface="Times New Roman"/>
        </a:defRPr>
      </a:lvl2pPr>
      <a:lvl3pPr marL="1143000" indent="-228600" algn="l">
        <a:lnSpc>
          <a:spcPct val="90000"/>
        </a:lnSpc>
        <a:spcBef>
          <a:spcPts val="500"/>
        </a:spcBef>
        <a:buChar char="•"/>
        <a:defRPr sz="2000">
          <a:solidFill>
            <a:srgbClr val="000000"/>
          </a:solidFill>
          <a:latin typeface="Times New Roman"/>
          <a:ea typeface="Times New Roman"/>
          <a:cs typeface="Times New Roman"/>
        </a:defRPr>
      </a:lvl3pPr>
      <a:lvl4pPr marL="1600200" indent="-228600" algn="l">
        <a:lnSpc>
          <a:spcPct val="90000"/>
        </a:lnSpc>
        <a:spcBef>
          <a:spcPts val="500"/>
        </a:spcBef>
        <a:buChar char="•"/>
        <a:defRPr sz="1800">
          <a:solidFill>
            <a:srgbClr val="000000"/>
          </a:solidFill>
          <a:latin typeface="Times New Roman"/>
          <a:ea typeface="Times New Roman"/>
          <a:cs typeface="Times New Roman"/>
        </a:defRPr>
      </a:lvl4pPr>
      <a:lvl5pPr marL="2057400" indent="-228600" algn="l">
        <a:lnSpc>
          <a:spcPct val="90000"/>
        </a:lnSpc>
        <a:spcBef>
          <a:spcPts val="500"/>
        </a:spcBef>
        <a:buChar char="•"/>
        <a:defRPr sz="1800">
          <a:solidFill>
            <a:srgbClr val="000000"/>
          </a:solidFill>
          <a:latin typeface="Times New Roman"/>
          <a:ea typeface="Times New Roman"/>
          <a:cs typeface="Times New Roman"/>
        </a:defRPr>
      </a:lvl5pPr>
      <a:lvl6pPr marL="2514600" indent="-228600" algn="l">
        <a:lnSpc>
          <a:spcPct val="90000"/>
        </a:lnSpc>
        <a:spcBef>
          <a:spcPts val="500"/>
        </a:spcBef>
        <a:buChar char="•"/>
        <a:defRPr sz="1800">
          <a:solidFill>
            <a:srgbClr val="000000"/>
          </a:solidFill>
          <a:latin typeface="Times New Roman"/>
          <a:ea typeface="Times New Roman"/>
          <a:cs typeface="Times New Roman"/>
        </a:defRPr>
      </a:lvl6pPr>
      <a:lvl7pPr marL="2971800" indent="-228600" algn="l">
        <a:lnSpc>
          <a:spcPct val="90000"/>
        </a:lnSpc>
        <a:spcBef>
          <a:spcPts val="500"/>
        </a:spcBef>
        <a:buChar char="•"/>
        <a:defRPr sz="1800">
          <a:solidFill>
            <a:srgbClr val="000000"/>
          </a:solidFill>
          <a:latin typeface="Times New Roman"/>
          <a:ea typeface="Times New Roman"/>
          <a:cs typeface="Times New Roman"/>
        </a:defRPr>
      </a:lvl7pPr>
      <a:lvl8pPr marL="3429000" indent="-228600" algn="l">
        <a:lnSpc>
          <a:spcPct val="90000"/>
        </a:lnSpc>
        <a:spcBef>
          <a:spcPts val="500"/>
        </a:spcBef>
        <a:buChar char="•"/>
        <a:defRPr sz="1800">
          <a:solidFill>
            <a:srgbClr val="000000"/>
          </a:solidFill>
          <a:latin typeface="Times New Roman"/>
          <a:ea typeface="Times New Roman"/>
          <a:cs typeface="Times New Roman"/>
        </a:defRPr>
      </a:lvl8pPr>
      <a:lvl9pPr marL="3886200" indent="-228600" algn="l">
        <a:lnSpc>
          <a:spcPct val="90000"/>
        </a:lnSpc>
        <a:spcBef>
          <a:spcPts val="500"/>
        </a:spcBef>
        <a:buChar char="•"/>
        <a:defRPr sz="1800">
          <a:solidFill>
            <a:srgbClr val="000000"/>
          </a:solidFill>
          <a:latin typeface="Times New Roman"/>
          <a:ea typeface="Times New Roman"/>
          <a:cs typeface="Times New Roman"/>
        </a:defRPr>
      </a:lvl9pPr>
    </p:bodyStyle>
    <p:otherStyle>
      <a:lvl1pPr marL="0" algn="l">
        <a:buNone/>
        <a:defRPr sz="1800">
          <a:solidFill>
            <a:srgbClr val="000000"/>
          </a:solidFill>
          <a:latin typeface="Times New Roman"/>
          <a:ea typeface="Times New Roman"/>
          <a:cs typeface="Times New Roman"/>
        </a:defRPr>
      </a:lvl1pPr>
      <a:lvl2pPr marL="457200" algn="l">
        <a:buNone/>
        <a:defRPr sz="1800">
          <a:solidFill>
            <a:srgbClr val="000000"/>
          </a:solidFill>
          <a:latin typeface="Times New Roman"/>
          <a:ea typeface="Times New Roman"/>
          <a:cs typeface="Times New Roman"/>
        </a:defRPr>
      </a:lvl2pPr>
      <a:lvl3pPr marL="914400" algn="l">
        <a:buNone/>
        <a:defRPr sz="1800">
          <a:solidFill>
            <a:srgbClr val="000000"/>
          </a:solidFill>
          <a:latin typeface="Times New Roman"/>
          <a:ea typeface="Times New Roman"/>
          <a:cs typeface="Times New Roman"/>
        </a:defRPr>
      </a:lvl3pPr>
      <a:lvl4pPr marL="1371600" algn="l">
        <a:buNone/>
        <a:defRPr sz="1800">
          <a:solidFill>
            <a:srgbClr val="000000"/>
          </a:solidFill>
          <a:latin typeface="Times New Roman"/>
          <a:ea typeface="Times New Roman"/>
          <a:cs typeface="Times New Roman"/>
        </a:defRPr>
      </a:lvl4pPr>
      <a:lvl5pPr marL="1828800" algn="l">
        <a:buNone/>
        <a:defRPr sz="1800">
          <a:solidFill>
            <a:srgbClr val="000000"/>
          </a:solidFill>
          <a:latin typeface="Times New Roman"/>
          <a:ea typeface="Times New Roman"/>
          <a:cs typeface="Times New Roman"/>
        </a:defRPr>
      </a:lvl5pPr>
      <a:lvl6pPr marL="2286000" algn="l">
        <a:buNone/>
        <a:defRPr sz="1800">
          <a:solidFill>
            <a:srgbClr val="000000"/>
          </a:solidFill>
          <a:latin typeface="Times New Roman"/>
          <a:ea typeface="Times New Roman"/>
          <a:cs typeface="Times New Roman"/>
        </a:defRPr>
      </a:lvl6pPr>
      <a:lvl7pPr marL="2743200" algn="l">
        <a:buNone/>
        <a:defRPr sz="1800">
          <a:solidFill>
            <a:srgbClr val="000000"/>
          </a:solidFill>
          <a:latin typeface="Times New Roman"/>
          <a:ea typeface="Times New Roman"/>
          <a:cs typeface="Times New Roman"/>
        </a:defRPr>
      </a:lvl7pPr>
      <a:lvl8pPr marL="3200400" algn="l">
        <a:buNone/>
        <a:defRPr sz="1800">
          <a:solidFill>
            <a:srgbClr val="000000"/>
          </a:solidFill>
          <a:latin typeface="Times New Roman"/>
          <a:ea typeface="Times New Roman"/>
          <a:cs typeface="Times New Roman"/>
        </a:defRPr>
      </a:lvl8pPr>
      <a:lvl9pPr marL="3657600" algn="l">
        <a:buNone/>
        <a:defRPr sz="1800">
          <a:solidFill>
            <a:srgbClr val="000000"/>
          </a:solidFill>
          <a:latin typeface="Times New Roman"/>
          <a:ea typeface="Times New Roman"/>
          <a:cs typeface="Times New Roman"/>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slideLayouts/slideLayout6.xml" Id="R66b0c7a468704050" /><Relationship Type="http://schemas.openxmlformats.org/officeDocument/2006/relationships/image" Target="../media/front_image.png" Id="Rcf49e919499148ec" /><Relationship Type="http://schemas.openxmlformats.org/officeDocument/2006/relationships/image" Target="../media/front_image2.png" Id="R8dfed51b0e684d57" /><Relationship Type="http://schemas.openxmlformats.org/officeDocument/2006/relationships/notesSlide" Target="../notesSlides/notesSlide1.xml" Id="Rb13b7e6c214f41e2" /></Relationships>
</file>

<file path=ppt/slides/_rels/slide2.xml.rels>&#65279;<?xml version="1.0" encoding="utf-8"?><Relationships xmlns="http://schemas.openxmlformats.org/package/2006/relationships"><Relationship Type="http://schemas.openxmlformats.org/officeDocument/2006/relationships/slideLayout" Target="../slideLayouts/slideLayout6.xml" Id="R78b8e342f9ce4eb2" /><Relationship Type="http://schemas.openxmlformats.org/officeDocument/2006/relationships/image" Target="../media/academic_image2.png" Id="R9e9893815a014bc9" /><Relationship Type="http://schemas.openxmlformats.org/officeDocument/2006/relationships/notesSlide" Target="../notesSlides/notesSlide2.xml" Id="R5eae04a19d8f4d02"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&#65279;<?xml version="1.0" encoding="utf-8"?><Relationships xmlns="http://schemas.openxmlformats.org/package/2006/relationships"><Relationship Type="http://schemas.openxmlformats.org/officeDocument/2006/relationships/slideLayout" Target="../slideLayouts/slideLayout6.xml" Id="R40866ee19ee64848" /><Relationship Type="http://schemas.openxmlformats.org/officeDocument/2006/relationships/image" Target="../media/academic_image.png" Id="R7dd96451769142f4" /><Relationship Type="http://schemas.openxmlformats.org/officeDocument/2006/relationships/notesSlide" Target="../notesSlides/notesSlide16.xml" Id="R1bfbca5221d14390" /></Relationships>
</file>

<file path=ppt/slides/_rels/slide17.xml.rels><?xml version='1.0' encoding='utf-8' standalone='yes'?>
<Relationships xmlns="http://schemas.openxmlformats.org/package/2006/relationships"><Relationship Type="http://schemas.openxmlformats.org/officeDocument/2006/relationships/slideLayout" Target="../slideLayouts/slideLayout6.xml" Id="R904f7363700e4588"/><Relationship Type="http://schemas.openxmlformats.org/officeDocument/2006/relationships/notesSlide" Target="../notesSlides/notesSlide17.xml" Id="Rd120710b1ca8470f"/></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7B1AC11-D27B-420E-9042-CDABD6EC6E86}"/>
              </a:ext>
            </a:extLst>
          </p:cNvPr>
          <p:cNvPicPr>
            <a:picLocks xmlns:a="http://schemas.openxmlformats.org/drawingml/2006/main" noChangeAspect="1"/>
          </p:cNvPicPr>
          <p:nvPr/>
        </p:nvPicPr>
        <p:blipFill>
          <a:blip xmlns:r="http://schemas.openxmlformats.org/officeDocument/2006/relationships" xmlns:a="http://schemas.openxmlformats.org/drawingml/2006/main" r:embed="Rcf49e919499148ec"/>
          <a:stretch xmlns:a="http://schemas.openxmlformats.org/drawingml/2006/main"/>
        </p:blipFill>
        <p:spPr>
          <a:xfrm xmlns:a="http://schemas.openxmlformats.org/drawingml/2006/main">
            <a:off x="687207" y="800100"/>
            <a:ext cx="1864086" cy="752475"/>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885DB9B2-4739-4279-9435-4C84BD4725E1}"/>
              </a:ext>
            </a:extLst>
          </p:cNvPr>
          <p:cNvPicPr>
            <a:picLocks xmlns:a="http://schemas.openxmlformats.org/drawingml/2006/main" noChangeAspect="1"/>
          </p:cNvPicPr>
          <p:nvPr/>
        </p:nvPicPr>
        <p:blipFill>
          <a:blip xmlns:r="http://schemas.openxmlformats.org/officeDocument/2006/relationships" xmlns:a="http://schemas.openxmlformats.org/drawingml/2006/main" r:embed="R8dfed51b0e684d57"/>
          <a:stretch xmlns:a="http://schemas.openxmlformats.org/drawingml/2006/main"/>
        </p:blipFill>
        <p:spPr>
          <a:xfrm xmlns:a="http://schemas.openxmlformats.org/drawingml/2006/main">
            <a:off x="9867900" y="620021"/>
            <a:ext cx="1371600" cy="1065007"/>
          </a:xfrm>
          <a:prstGeom xmlns:a="http://schemas.openxmlformats.org/drawingml/2006/main" prst="rect">
            <a:avLst/>
          </a:prstGeom>
        </p:spPr>
      </p:pic>
      <p:sp>
        <p:nvSpPr>
          <p:cNvPr id="3" name="Chouaib Doukkali University">
            <a:extLst xmlns:a="http://schemas.openxmlformats.org/drawingml/2006/main">
              <a:ext uri="{FF2B5EF4-FFF2-40B4-BE49-F238E27FC236}">
                <a16:creationId xmlns:a16="http://schemas.microsoft.com/office/drawing/2014/main" id="{B1D3DD9F-B7E2-430B-BC9D-B51AF29828A0}"/>
              </a:ext>
            </a:extLst>
          </p:cNvPr>
          <p:cNvSpPr>
            <a:spLocks xmlns:a="http://schemas.openxmlformats.org/drawingml/2006/main" noGrp="1"/>
          </p:cNvSpPr>
          <p:nvPr/>
        </p:nvSpPr>
        <p:spPr>
          <a:xfrm xmlns:a="http://schemas.openxmlformats.org/drawingml/2006/main">
            <a:off x="3000375" y="6191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Chouaib Doukkali University</a:t>
            </a:r>
          </a:p>
        </p:txBody>
      </p:sp>
      <p:sp>
        <p:nvSpPr>
          <p:cNvPr id="4" name="National School of Applied Sciences of El Jadida">
            <a:extLst xmlns:a="http://schemas.openxmlformats.org/drawingml/2006/main">
              <a:ext uri="{FF2B5EF4-FFF2-40B4-BE49-F238E27FC236}">
                <a16:creationId xmlns:a16="http://schemas.microsoft.com/office/drawing/2014/main" id="{80F4191D-CDC4-4B4A-8CB3-FBDEB647E484}"/>
              </a:ext>
            </a:extLst>
          </p:cNvPr>
          <p:cNvSpPr>
            <a:spLocks xmlns:a="http://schemas.openxmlformats.org/drawingml/2006/main" noGrp="1"/>
          </p:cNvSpPr>
          <p:nvPr/>
        </p:nvSpPr>
        <p:spPr>
          <a:xfrm xmlns:a="http://schemas.openxmlformats.org/drawingml/2006/main">
            <a:off x="3000375" y="9239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National School of Applied Sciences of El Jadida</a:t>
            </a:r>
          </a:p>
        </p:txBody>
      </p:sp>
      <p:sp>
        <p:nvSpPr>
          <p:cNvPr id="5" name="Master Data Science and Artificial Intelligence">
            <a:extLst xmlns:a="http://schemas.openxmlformats.org/drawingml/2006/main">
              <a:ext uri="{FF2B5EF4-FFF2-40B4-BE49-F238E27FC236}">
                <a16:creationId xmlns:a16="http://schemas.microsoft.com/office/drawing/2014/main" id="{1CF44338-ABC6-45E6-B69E-7B2637452BEB}"/>
              </a:ext>
            </a:extLst>
          </p:cNvPr>
          <p:cNvSpPr>
            <a:spLocks xmlns:a="http://schemas.openxmlformats.org/drawingml/2006/main" noGrp="1"/>
          </p:cNvSpPr>
          <p:nvPr/>
        </p:nvSpPr>
        <p:spPr>
          <a:xfrm xmlns:a="http://schemas.openxmlformats.org/drawingml/2006/main">
            <a:off x="3000375" y="12287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Master Data Science and Artificial Intelligence</a:t>
            </a:r>
          </a:p>
        </p:txBody>
      </p:sp>
      <p:sp>
        <p:nvSpPr>
          <p:cNvPr id="6" name="Module: Natural Language Processing">
            <a:extLst xmlns:a="http://schemas.openxmlformats.org/drawingml/2006/main">
              <a:ext uri="{FF2B5EF4-FFF2-40B4-BE49-F238E27FC236}">
                <a16:creationId xmlns:a16="http://schemas.microsoft.com/office/drawing/2014/main" id="{3FD358D6-1722-41B6-A488-963B19A6E2F9}"/>
              </a:ext>
            </a:extLst>
          </p:cNvPr>
          <p:cNvSpPr>
            <a:spLocks xmlns:a="http://schemas.openxmlformats.org/drawingml/2006/main" noGrp="1"/>
          </p:cNvSpPr>
          <p:nvPr/>
        </p:nvSpPr>
        <p:spPr>
          <a:xfrm xmlns:a="http://schemas.openxmlformats.org/drawingml/2006/main">
            <a:off x="3000375" y="15335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Module: Natural Language Processing</a:t>
            </a:r>
          </a:p>
        </p:txBody>
      </p:sp>
      <p:sp>
        <p:nvSpPr>
          <p:cNvPr id="7" name="Project title border matching the supplied reference">
            <a:extLst xmlns:a="http://schemas.openxmlformats.org/drawingml/2006/main">
              <a:ext uri="{FF2B5EF4-FFF2-40B4-BE49-F238E27FC236}">
                <a16:creationId xmlns:a16="http://schemas.microsoft.com/office/drawing/2014/main" id="{B8F8DC2F-CA19-4297-89CF-E2B5DEA28899}"/>
              </a:ext>
            </a:extLst>
          </p:cNvPr>
          <p:cNvSpPr>
            <a:spLocks xmlns:a="http://schemas.openxmlformats.org/drawingml/2006/main" noGrp="1"/>
          </p:cNvSpPr>
          <p:nvPr/>
        </p:nvSpPr>
        <p:spPr>
          <a:xfrm xmlns:a="http://schemas.openxmlformats.org/drawingml/2006/main">
            <a:off x="971550" y="2409825"/>
            <a:ext cx="10363200" cy="1809750"/>
          </a:xfrm>
          <a:prstGeom xmlns:a="http://schemas.openxmlformats.org/drawingml/2006/main" prst="rect">
            <a:avLst/>
          </a:prstGeom>
          <a:noFill xmlns:a="http://schemas.openxmlformats.org/drawingml/2006/main"/>
          <a:ln xmlns:a="http://schemas.openxmlformats.org/drawingml/2006/main" w="28575">
            <a:solidFill>
              <a:srgbClr val="000000"/>
            </a:solidFill>
            <a:prstDash val="solid"/>
          </a:ln>
        </p:spPr>
      </p:sp>
      <p:sp>
        <p:nvSpPr>
          <p:cNvPr id="8" name="IMDb Movie Review Sentiment Analysis">
            <a:extLst xmlns:a="http://schemas.openxmlformats.org/drawingml/2006/main">
              <a:ext uri="{FF2B5EF4-FFF2-40B4-BE49-F238E27FC236}">
                <a16:creationId xmlns:a16="http://schemas.microsoft.com/office/drawing/2014/main" id="{2E9CBDFD-8EA2-48A4-AEE5-8010870A8C9B}"/>
              </a:ext>
            </a:extLst>
          </p:cNvPr>
          <p:cNvSpPr>
            <a:spLocks xmlns:a="http://schemas.openxmlformats.org/drawingml/2006/main" noGrp="1"/>
          </p:cNvSpPr>
          <p:nvPr/>
        </p:nvSpPr>
        <p:spPr>
          <a:xfrm xmlns:a="http://schemas.openxmlformats.org/drawingml/2006/main">
            <a:off x="1181100" y="2867025"/>
            <a:ext cx="9944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125" b="1">
                <a:solidFill>
                  <a:srgbClr val="000000"/>
                </a:solidFill>
                <a:latin typeface="Times New Roman"/>
                <a:ea typeface="Times New Roman"/>
                <a:cs typeface="Times New Roman"/>
              </a:defRPr>
            </a:defPPr>
            <a:lvl1pPr algn="ctr">
              <a:defRPr sz="4125" b="1">
                <a:solidFill>
                  <a:srgbClr val="000000"/>
                </a:solidFill>
                <a:latin typeface="Times New Roman"/>
                <a:ea typeface="Times New Roman"/>
                <a:cs typeface="Times New Roman"/>
              </a:defRPr>
            </a:lvl1pPr>
            <a:lvl2pPr algn="ctr">
              <a:defRPr sz="4125" b="1">
                <a:solidFill>
                  <a:srgbClr val="000000"/>
                </a:solidFill>
                <a:latin typeface="Times New Roman"/>
                <a:ea typeface="Times New Roman"/>
                <a:cs typeface="Times New Roman"/>
              </a:defRPr>
            </a:lvl2pPr>
            <a:lvl3pPr algn="ctr">
              <a:defRPr sz="4125" b="1">
                <a:solidFill>
                  <a:srgbClr val="000000"/>
                </a:solidFill>
                <a:latin typeface="Times New Roman"/>
                <a:ea typeface="Times New Roman"/>
                <a:cs typeface="Times New Roman"/>
              </a:defRPr>
            </a:lvl3pPr>
            <a:lvl4pPr algn="ctr">
              <a:defRPr sz="4125" b="1">
                <a:solidFill>
                  <a:srgbClr val="000000"/>
                </a:solidFill>
                <a:latin typeface="Times New Roman"/>
                <a:ea typeface="Times New Roman"/>
                <a:cs typeface="Times New Roman"/>
              </a:defRPr>
            </a:lvl4pPr>
            <a:lvl5pPr algn="ctr">
              <a:defRPr sz="4125" b="1">
                <a:solidFill>
                  <a:srgbClr val="000000"/>
                </a:solidFill>
                <a:latin typeface="Times New Roman"/>
                <a:ea typeface="Times New Roman"/>
                <a:cs typeface="Times New Roman"/>
              </a:defRPr>
            </a:lvl5pPr>
            <a:lvl6pPr algn="ctr">
              <a:defRPr sz="4125" b="1">
                <a:solidFill>
                  <a:srgbClr val="000000"/>
                </a:solidFill>
                <a:latin typeface="Times New Roman"/>
                <a:ea typeface="Times New Roman"/>
                <a:cs typeface="Times New Roman"/>
              </a:defRPr>
            </a:lvl6pPr>
            <a:lvl7pPr algn="ctr">
              <a:defRPr sz="4125" b="1">
                <a:solidFill>
                  <a:srgbClr val="000000"/>
                </a:solidFill>
                <a:latin typeface="Times New Roman"/>
                <a:ea typeface="Times New Roman"/>
                <a:cs typeface="Times New Roman"/>
              </a:defRPr>
            </a:lvl7pPr>
            <a:lvl8pPr algn="ctr">
              <a:defRPr sz="4125" b="1">
                <a:solidFill>
                  <a:srgbClr val="000000"/>
                </a:solidFill>
                <a:latin typeface="Times New Roman"/>
                <a:ea typeface="Times New Roman"/>
                <a:cs typeface="Times New Roman"/>
              </a:defRPr>
            </a:lvl8pPr>
            <a:lvl9pPr algn="ctr">
              <a:defRPr sz="4125" b="1">
                <a:solidFill>
                  <a:srgbClr val="000000"/>
                </a:solidFill>
                <a:latin typeface="Times New Roman"/>
                <a:ea typeface="Times New Roman"/>
                <a:cs typeface="Times New Roman"/>
              </a:defRPr>
            </a:lvl9pPr>
          </a:lstStyle>
          <a:p xmlns:a="http://schemas.openxmlformats.org/drawingml/2006/main">
            <a:pPr algn="ctr">
              <a:defRPr sz="4125" b="1">
                <a:solidFill>
                  <a:srgbClr val="000000"/>
                </a:solidFill>
                <a:latin typeface="Times New Roman"/>
                <a:ea typeface="Times New Roman"/>
                <a:cs typeface="Times New Roman"/>
              </a:defRPr>
            </a:pPr>
            <a:r>
              <a:rPr sz="4125" b="1">
                <a:solidFill>
                  <a:srgbClr val="000000"/>
                </a:solidFill>
                <a:latin typeface="Times New Roman"/>
                <a:ea typeface="Times New Roman"/>
                <a:cs typeface="Times New Roman"/>
              </a:rPr>
              <a:t>IMDb Movie Review Sentiment Analysis</a:t>
            </a:r>
          </a:p>
        </p:txBody>
      </p:sp>
      <p:sp>
        <p:nvSpPr>
          <p:cNvPr id="9" name="Presented by:">
            <a:extLst xmlns:a="http://schemas.openxmlformats.org/drawingml/2006/main">
              <a:ext uri="{FF2B5EF4-FFF2-40B4-BE49-F238E27FC236}">
                <a16:creationId xmlns:a16="http://schemas.microsoft.com/office/drawing/2014/main" id="{FE56D470-012E-4579-AB41-DB0160D27114}"/>
              </a:ext>
            </a:extLst>
          </p:cNvPr>
          <p:cNvSpPr>
            <a:spLocks xmlns:a="http://schemas.openxmlformats.org/drawingml/2006/main" noGrp="1"/>
          </p:cNvSpPr>
          <p:nvPr/>
        </p:nvSpPr>
        <p:spPr>
          <a:xfrm xmlns:a="http://schemas.openxmlformats.org/drawingml/2006/main">
            <a:off x="1276350" y="45720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00000"/>
                </a:solidFill>
                <a:latin typeface="Times New Roman"/>
                <a:ea typeface="Times New Roman"/>
                <a:cs typeface="Times New Roman"/>
              </a:defRPr>
            </a:defPPr>
            <a:lvl1pPr algn="l">
              <a:defRPr sz="1800" b="1">
                <a:solidFill>
                  <a:srgbClr val="000000"/>
                </a:solidFill>
                <a:latin typeface="Times New Roman"/>
                <a:ea typeface="Times New Roman"/>
                <a:cs typeface="Times New Roman"/>
              </a:defRPr>
            </a:lvl1pPr>
            <a:lvl2pPr algn="l">
              <a:defRPr sz="1800" b="1">
                <a:solidFill>
                  <a:srgbClr val="000000"/>
                </a:solidFill>
                <a:latin typeface="Times New Roman"/>
                <a:ea typeface="Times New Roman"/>
                <a:cs typeface="Times New Roman"/>
              </a:defRPr>
            </a:lvl2pPr>
            <a:lvl3pPr algn="l">
              <a:defRPr sz="1800" b="1">
                <a:solidFill>
                  <a:srgbClr val="000000"/>
                </a:solidFill>
                <a:latin typeface="Times New Roman"/>
                <a:ea typeface="Times New Roman"/>
                <a:cs typeface="Times New Roman"/>
              </a:defRPr>
            </a:lvl3pPr>
            <a:lvl4pPr algn="l">
              <a:defRPr sz="1800" b="1">
                <a:solidFill>
                  <a:srgbClr val="000000"/>
                </a:solidFill>
                <a:latin typeface="Times New Roman"/>
                <a:ea typeface="Times New Roman"/>
                <a:cs typeface="Times New Roman"/>
              </a:defRPr>
            </a:lvl4pPr>
            <a:lvl5pPr algn="l">
              <a:defRPr sz="1800" b="1">
                <a:solidFill>
                  <a:srgbClr val="000000"/>
                </a:solidFill>
                <a:latin typeface="Times New Roman"/>
                <a:ea typeface="Times New Roman"/>
                <a:cs typeface="Times New Roman"/>
              </a:defRPr>
            </a:lvl5pPr>
            <a:lvl6pPr algn="l">
              <a:defRPr sz="1800" b="1">
                <a:solidFill>
                  <a:srgbClr val="000000"/>
                </a:solidFill>
                <a:latin typeface="Times New Roman"/>
                <a:ea typeface="Times New Roman"/>
                <a:cs typeface="Times New Roman"/>
              </a:defRPr>
            </a:lvl6pPr>
            <a:lvl7pPr algn="l">
              <a:defRPr sz="1800" b="1">
                <a:solidFill>
                  <a:srgbClr val="000000"/>
                </a:solidFill>
                <a:latin typeface="Times New Roman"/>
                <a:ea typeface="Times New Roman"/>
                <a:cs typeface="Times New Roman"/>
              </a:defRPr>
            </a:lvl7pPr>
            <a:lvl8pPr algn="l">
              <a:defRPr sz="1800" b="1">
                <a:solidFill>
                  <a:srgbClr val="000000"/>
                </a:solidFill>
                <a:latin typeface="Times New Roman"/>
                <a:ea typeface="Times New Roman"/>
                <a:cs typeface="Times New Roman"/>
              </a:defRPr>
            </a:lvl8pPr>
            <a:lvl9pPr algn="l">
              <a:defRPr sz="1800" b="1">
                <a:solidFill>
                  <a:srgbClr val="000000"/>
                </a:solidFill>
                <a:latin typeface="Times New Roman"/>
                <a:ea typeface="Times New Roman"/>
                <a:cs typeface="Times New Roman"/>
              </a:defRPr>
            </a:lvl9pPr>
          </a:lstStyle>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Presented by:</a:t>
            </a:r>
          </a:p>
        </p:txBody>
      </p:sp>
      <p:sp>
        <p:nvSpPr>
          <p:cNvPr id="10" name="BEN DRIF ABDELHAMID">
            <a:extLst xmlns:a="http://schemas.openxmlformats.org/drawingml/2006/main">
              <a:ext uri="{FF2B5EF4-FFF2-40B4-BE49-F238E27FC236}">
                <a16:creationId xmlns:a16="http://schemas.microsoft.com/office/drawing/2014/main" id="{888E08FA-5929-4DAB-B551-041886807693}"/>
              </a:ext>
            </a:extLst>
          </p:cNvPr>
          <p:cNvSpPr>
            <a:spLocks xmlns:a="http://schemas.openxmlformats.org/drawingml/2006/main" noGrp="1"/>
          </p:cNvSpPr>
          <p:nvPr/>
        </p:nvSpPr>
        <p:spPr>
          <a:xfrm xmlns:a="http://schemas.openxmlformats.org/drawingml/2006/main">
            <a:off x="1276350" y="49434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00000"/>
                </a:solidFill>
                <a:latin typeface="Times New Roman"/>
                <a:ea typeface="Times New Roman"/>
                <a:cs typeface="Times New Roman"/>
              </a:defRPr>
            </a:defPPr>
            <a:lvl1pPr algn="l">
              <a:defRPr sz="1800" b="1">
                <a:solidFill>
                  <a:srgbClr val="000000"/>
                </a:solidFill>
                <a:latin typeface="Times New Roman"/>
                <a:ea typeface="Times New Roman"/>
                <a:cs typeface="Times New Roman"/>
              </a:defRPr>
            </a:lvl1pPr>
            <a:lvl2pPr algn="l">
              <a:defRPr sz="1800" b="1">
                <a:solidFill>
                  <a:srgbClr val="000000"/>
                </a:solidFill>
                <a:latin typeface="Times New Roman"/>
                <a:ea typeface="Times New Roman"/>
                <a:cs typeface="Times New Roman"/>
              </a:defRPr>
            </a:lvl2pPr>
            <a:lvl3pPr algn="l">
              <a:defRPr sz="1800" b="1">
                <a:solidFill>
                  <a:srgbClr val="000000"/>
                </a:solidFill>
                <a:latin typeface="Times New Roman"/>
                <a:ea typeface="Times New Roman"/>
                <a:cs typeface="Times New Roman"/>
              </a:defRPr>
            </a:lvl3pPr>
            <a:lvl4pPr algn="l">
              <a:defRPr sz="1800" b="1">
                <a:solidFill>
                  <a:srgbClr val="000000"/>
                </a:solidFill>
                <a:latin typeface="Times New Roman"/>
                <a:ea typeface="Times New Roman"/>
                <a:cs typeface="Times New Roman"/>
              </a:defRPr>
            </a:lvl4pPr>
            <a:lvl5pPr algn="l">
              <a:defRPr sz="1800" b="1">
                <a:solidFill>
                  <a:srgbClr val="000000"/>
                </a:solidFill>
                <a:latin typeface="Times New Roman"/>
                <a:ea typeface="Times New Roman"/>
                <a:cs typeface="Times New Roman"/>
              </a:defRPr>
            </a:lvl5pPr>
            <a:lvl6pPr algn="l">
              <a:defRPr sz="1800" b="1">
                <a:solidFill>
                  <a:srgbClr val="000000"/>
                </a:solidFill>
                <a:latin typeface="Times New Roman"/>
                <a:ea typeface="Times New Roman"/>
                <a:cs typeface="Times New Roman"/>
              </a:defRPr>
            </a:lvl6pPr>
            <a:lvl7pPr algn="l">
              <a:defRPr sz="1800" b="1">
                <a:solidFill>
                  <a:srgbClr val="000000"/>
                </a:solidFill>
                <a:latin typeface="Times New Roman"/>
                <a:ea typeface="Times New Roman"/>
                <a:cs typeface="Times New Roman"/>
              </a:defRPr>
            </a:lvl7pPr>
            <a:lvl8pPr algn="l">
              <a:defRPr sz="1800" b="1">
                <a:solidFill>
                  <a:srgbClr val="000000"/>
                </a:solidFill>
                <a:latin typeface="Times New Roman"/>
                <a:ea typeface="Times New Roman"/>
                <a:cs typeface="Times New Roman"/>
              </a:defRPr>
            </a:lvl8pPr>
            <a:lvl9pPr algn="l">
              <a:defRPr sz="1800" b="1">
                <a:solidFill>
                  <a:srgbClr val="000000"/>
                </a:solidFill>
                <a:latin typeface="Times New Roman"/>
                <a:ea typeface="Times New Roman"/>
                <a:cs typeface="Times New Roman"/>
              </a:defRPr>
            </a:lvl9pPr>
          </a:lstStyle>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BEN DRIF ABDELHAMID</a:t>
            </a:r>
          </a:p>
        </p:txBody>
      </p:sp>
      <p:sp>
        <p:nvSpPr>
          <p:cNvPr id="11" name="Supervised by:">
            <a:extLst xmlns:a="http://schemas.openxmlformats.org/drawingml/2006/main">
              <a:ext uri="{FF2B5EF4-FFF2-40B4-BE49-F238E27FC236}">
                <a16:creationId xmlns:a16="http://schemas.microsoft.com/office/drawing/2014/main" id="{C1A27AC5-6B19-467E-9087-3776B05DB632}"/>
              </a:ext>
            </a:extLst>
          </p:cNvPr>
          <p:cNvSpPr>
            <a:spLocks xmlns:a="http://schemas.openxmlformats.org/drawingml/2006/main" noGrp="1"/>
          </p:cNvSpPr>
          <p:nvPr/>
        </p:nvSpPr>
        <p:spPr>
          <a:xfrm xmlns:a="http://schemas.openxmlformats.org/drawingml/2006/main">
            <a:off x="7943850" y="4629150"/>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00000"/>
                </a:solidFill>
                <a:latin typeface="Times New Roman"/>
                <a:ea typeface="Times New Roman"/>
                <a:cs typeface="Times New Roman"/>
              </a:defRPr>
            </a:defPPr>
            <a:lvl1pPr algn="l">
              <a:defRPr sz="1800" b="1">
                <a:solidFill>
                  <a:srgbClr val="000000"/>
                </a:solidFill>
                <a:latin typeface="Times New Roman"/>
                <a:ea typeface="Times New Roman"/>
                <a:cs typeface="Times New Roman"/>
              </a:defRPr>
            </a:lvl1pPr>
            <a:lvl2pPr algn="l">
              <a:defRPr sz="1800" b="1">
                <a:solidFill>
                  <a:srgbClr val="000000"/>
                </a:solidFill>
                <a:latin typeface="Times New Roman"/>
                <a:ea typeface="Times New Roman"/>
                <a:cs typeface="Times New Roman"/>
              </a:defRPr>
            </a:lvl2pPr>
            <a:lvl3pPr algn="l">
              <a:defRPr sz="1800" b="1">
                <a:solidFill>
                  <a:srgbClr val="000000"/>
                </a:solidFill>
                <a:latin typeface="Times New Roman"/>
                <a:ea typeface="Times New Roman"/>
                <a:cs typeface="Times New Roman"/>
              </a:defRPr>
            </a:lvl3pPr>
            <a:lvl4pPr algn="l">
              <a:defRPr sz="1800" b="1">
                <a:solidFill>
                  <a:srgbClr val="000000"/>
                </a:solidFill>
                <a:latin typeface="Times New Roman"/>
                <a:ea typeface="Times New Roman"/>
                <a:cs typeface="Times New Roman"/>
              </a:defRPr>
            </a:lvl4pPr>
            <a:lvl5pPr algn="l">
              <a:defRPr sz="1800" b="1">
                <a:solidFill>
                  <a:srgbClr val="000000"/>
                </a:solidFill>
                <a:latin typeface="Times New Roman"/>
                <a:ea typeface="Times New Roman"/>
                <a:cs typeface="Times New Roman"/>
              </a:defRPr>
            </a:lvl5pPr>
            <a:lvl6pPr algn="l">
              <a:defRPr sz="1800" b="1">
                <a:solidFill>
                  <a:srgbClr val="000000"/>
                </a:solidFill>
                <a:latin typeface="Times New Roman"/>
                <a:ea typeface="Times New Roman"/>
                <a:cs typeface="Times New Roman"/>
              </a:defRPr>
            </a:lvl6pPr>
            <a:lvl7pPr algn="l">
              <a:defRPr sz="1800" b="1">
                <a:solidFill>
                  <a:srgbClr val="000000"/>
                </a:solidFill>
                <a:latin typeface="Times New Roman"/>
                <a:ea typeface="Times New Roman"/>
                <a:cs typeface="Times New Roman"/>
              </a:defRPr>
            </a:lvl7pPr>
            <a:lvl8pPr algn="l">
              <a:defRPr sz="1800" b="1">
                <a:solidFill>
                  <a:srgbClr val="000000"/>
                </a:solidFill>
                <a:latin typeface="Times New Roman"/>
                <a:ea typeface="Times New Roman"/>
                <a:cs typeface="Times New Roman"/>
              </a:defRPr>
            </a:lvl8pPr>
            <a:lvl9pPr algn="l">
              <a:defRPr sz="1800" b="1">
                <a:solidFill>
                  <a:srgbClr val="000000"/>
                </a:solidFill>
                <a:latin typeface="Times New Roman"/>
                <a:ea typeface="Times New Roman"/>
                <a:cs typeface="Times New Roman"/>
              </a:defRPr>
            </a:lvl9pPr>
          </a:lstStyle>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Supervised by:</a:t>
            </a:r>
          </a:p>
        </p:txBody>
      </p:sp>
      <p:sp>
        <p:nvSpPr>
          <p:cNvPr id="12" name="BELFROUH Sanae">
            <a:extLst xmlns:a="http://schemas.openxmlformats.org/drawingml/2006/main">
              <a:ext uri="{FF2B5EF4-FFF2-40B4-BE49-F238E27FC236}">
                <a16:creationId xmlns:a16="http://schemas.microsoft.com/office/drawing/2014/main" id="{E0FE74B5-7E7F-4AD0-BD45-AC91528E89A5}"/>
              </a:ext>
            </a:extLst>
          </p:cNvPr>
          <p:cNvSpPr>
            <a:spLocks xmlns:a="http://schemas.openxmlformats.org/drawingml/2006/main" noGrp="1"/>
          </p:cNvSpPr>
          <p:nvPr/>
        </p:nvSpPr>
        <p:spPr>
          <a:xfrm xmlns:a="http://schemas.openxmlformats.org/drawingml/2006/main">
            <a:off x="7943850" y="5000625"/>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00000"/>
                </a:solidFill>
                <a:latin typeface="Times New Roman"/>
                <a:ea typeface="Times New Roman"/>
                <a:cs typeface="Times New Roman"/>
              </a:defRPr>
            </a:defPPr>
            <a:lvl1pPr algn="l">
              <a:defRPr sz="1800" b="1">
                <a:solidFill>
                  <a:srgbClr val="000000"/>
                </a:solidFill>
                <a:latin typeface="Times New Roman"/>
                <a:ea typeface="Times New Roman"/>
                <a:cs typeface="Times New Roman"/>
              </a:defRPr>
            </a:lvl1pPr>
            <a:lvl2pPr algn="l">
              <a:defRPr sz="1800" b="1">
                <a:solidFill>
                  <a:srgbClr val="000000"/>
                </a:solidFill>
                <a:latin typeface="Times New Roman"/>
                <a:ea typeface="Times New Roman"/>
                <a:cs typeface="Times New Roman"/>
              </a:defRPr>
            </a:lvl2pPr>
            <a:lvl3pPr algn="l">
              <a:defRPr sz="1800" b="1">
                <a:solidFill>
                  <a:srgbClr val="000000"/>
                </a:solidFill>
                <a:latin typeface="Times New Roman"/>
                <a:ea typeface="Times New Roman"/>
                <a:cs typeface="Times New Roman"/>
              </a:defRPr>
            </a:lvl3pPr>
            <a:lvl4pPr algn="l">
              <a:defRPr sz="1800" b="1">
                <a:solidFill>
                  <a:srgbClr val="000000"/>
                </a:solidFill>
                <a:latin typeface="Times New Roman"/>
                <a:ea typeface="Times New Roman"/>
                <a:cs typeface="Times New Roman"/>
              </a:defRPr>
            </a:lvl4pPr>
            <a:lvl5pPr algn="l">
              <a:defRPr sz="1800" b="1">
                <a:solidFill>
                  <a:srgbClr val="000000"/>
                </a:solidFill>
                <a:latin typeface="Times New Roman"/>
                <a:ea typeface="Times New Roman"/>
                <a:cs typeface="Times New Roman"/>
              </a:defRPr>
            </a:lvl5pPr>
            <a:lvl6pPr algn="l">
              <a:defRPr sz="1800" b="1">
                <a:solidFill>
                  <a:srgbClr val="000000"/>
                </a:solidFill>
                <a:latin typeface="Times New Roman"/>
                <a:ea typeface="Times New Roman"/>
                <a:cs typeface="Times New Roman"/>
              </a:defRPr>
            </a:lvl6pPr>
            <a:lvl7pPr algn="l">
              <a:defRPr sz="1800" b="1">
                <a:solidFill>
                  <a:srgbClr val="000000"/>
                </a:solidFill>
                <a:latin typeface="Times New Roman"/>
                <a:ea typeface="Times New Roman"/>
                <a:cs typeface="Times New Roman"/>
              </a:defRPr>
            </a:lvl7pPr>
            <a:lvl8pPr algn="l">
              <a:defRPr sz="1800" b="1">
                <a:solidFill>
                  <a:srgbClr val="000000"/>
                </a:solidFill>
                <a:latin typeface="Times New Roman"/>
                <a:ea typeface="Times New Roman"/>
                <a:cs typeface="Times New Roman"/>
              </a:defRPr>
            </a:lvl8pPr>
            <a:lvl9pPr algn="l">
              <a:defRPr sz="1800" b="1">
                <a:solidFill>
                  <a:srgbClr val="000000"/>
                </a:solidFill>
                <a:latin typeface="Times New Roman"/>
                <a:ea typeface="Times New Roman"/>
                <a:cs typeface="Times New Roman"/>
              </a:defRPr>
            </a:lvl9pPr>
          </a:lstStyle>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BELFROUH Sanae</a:t>
            </a:r>
          </a:p>
        </p:txBody>
      </p:sp>
      <p:sp>
        <p:nvSpPr>
          <p:cNvPr id="13" name="Academic Year:">
            <a:extLst xmlns:a="http://schemas.openxmlformats.org/drawingml/2006/main">
              <a:ext uri="{FF2B5EF4-FFF2-40B4-BE49-F238E27FC236}">
                <a16:creationId xmlns:a16="http://schemas.microsoft.com/office/drawing/2014/main" id="{1C7C2A5A-1BC7-4EC4-8514-0937B7E656C7}"/>
              </a:ext>
            </a:extLst>
          </p:cNvPr>
          <p:cNvSpPr>
            <a:spLocks xmlns:a="http://schemas.openxmlformats.org/drawingml/2006/main" noGrp="1"/>
          </p:cNvSpPr>
          <p:nvPr/>
        </p:nvSpPr>
        <p:spPr>
          <a:xfrm xmlns:a="http://schemas.openxmlformats.org/drawingml/2006/main">
            <a:off x="4191000" y="5953125"/>
            <a:ext cx="3810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000000"/>
                </a:solidFill>
                <a:latin typeface="Times New Roman"/>
                <a:ea typeface="Times New Roman"/>
                <a:cs typeface="Times New Roman"/>
              </a:defRPr>
            </a:defPPr>
            <a:lvl1pPr algn="ctr">
              <a:defRPr sz="1950" b="1">
                <a:solidFill>
                  <a:srgbClr val="000000"/>
                </a:solidFill>
                <a:latin typeface="Times New Roman"/>
                <a:ea typeface="Times New Roman"/>
                <a:cs typeface="Times New Roman"/>
              </a:defRPr>
            </a:lvl1pPr>
            <a:lvl2pPr algn="ctr">
              <a:defRPr sz="1950" b="1">
                <a:solidFill>
                  <a:srgbClr val="000000"/>
                </a:solidFill>
                <a:latin typeface="Times New Roman"/>
                <a:ea typeface="Times New Roman"/>
                <a:cs typeface="Times New Roman"/>
              </a:defRPr>
            </a:lvl2pPr>
            <a:lvl3pPr algn="ctr">
              <a:defRPr sz="1950" b="1">
                <a:solidFill>
                  <a:srgbClr val="000000"/>
                </a:solidFill>
                <a:latin typeface="Times New Roman"/>
                <a:ea typeface="Times New Roman"/>
                <a:cs typeface="Times New Roman"/>
              </a:defRPr>
            </a:lvl3pPr>
            <a:lvl4pPr algn="ctr">
              <a:defRPr sz="1950" b="1">
                <a:solidFill>
                  <a:srgbClr val="000000"/>
                </a:solidFill>
                <a:latin typeface="Times New Roman"/>
                <a:ea typeface="Times New Roman"/>
                <a:cs typeface="Times New Roman"/>
              </a:defRPr>
            </a:lvl4pPr>
            <a:lvl5pPr algn="ctr">
              <a:defRPr sz="1950" b="1">
                <a:solidFill>
                  <a:srgbClr val="000000"/>
                </a:solidFill>
                <a:latin typeface="Times New Roman"/>
                <a:ea typeface="Times New Roman"/>
                <a:cs typeface="Times New Roman"/>
              </a:defRPr>
            </a:lvl5pPr>
            <a:lvl6pPr algn="ctr">
              <a:defRPr sz="1950" b="1">
                <a:solidFill>
                  <a:srgbClr val="000000"/>
                </a:solidFill>
                <a:latin typeface="Times New Roman"/>
                <a:ea typeface="Times New Roman"/>
                <a:cs typeface="Times New Roman"/>
              </a:defRPr>
            </a:lvl6pPr>
            <a:lvl7pPr algn="ctr">
              <a:defRPr sz="1950" b="1">
                <a:solidFill>
                  <a:srgbClr val="000000"/>
                </a:solidFill>
                <a:latin typeface="Times New Roman"/>
                <a:ea typeface="Times New Roman"/>
                <a:cs typeface="Times New Roman"/>
              </a:defRPr>
            </a:lvl7pPr>
            <a:lvl8pPr algn="ctr">
              <a:defRPr sz="1950" b="1">
                <a:solidFill>
                  <a:srgbClr val="000000"/>
                </a:solidFill>
                <a:latin typeface="Times New Roman"/>
                <a:ea typeface="Times New Roman"/>
                <a:cs typeface="Times New Roman"/>
              </a:defRPr>
            </a:lvl8pPr>
            <a:lvl9pPr algn="ctr">
              <a:defRPr sz="1950" b="1">
                <a:solidFill>
                  <a:srgbClr val="000000"/>
                </a:solidFill>
                <a:latin typeface="Times New Roman"/>
                <a:ea typeface="Times New Roman"/>
                <a:cs typeface="Times New Roman"/>
              </a:defRPr>
            </a:lvl9pPr>
          </a:lstStyle>
          <a:p xmlns:a="http://schemas.openxmlformats.org/drawingml/2006/main">
            <a:pPr algn="ct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Academic Year:</a:t>
            </a:r>
          </a:p>
        </p:txBody>
      </p:sp>
      <p:sp>
        <p:nvSpPr>
          <p:cNvPr id="14" name="2025/2026">
            <a:extLst xmlns:a="http://schemas.openxmlformats.org/drawingml/2006/main">
              <a:ext uri="{FF2B5EF4-FFF2-40B4-BE49-F238E27FC236}">
                <a16:creationId xmlns:a16="http://schemas.microsoft.com/office/drawing/2014/main" id="{469180E4-0CE1-4097-A298-6177D54A9335}"/>
              </a:ext>
            </a:extLst>
          </p:cNvPr>
          <p:cNvSpPr>
            <a:spLocks xmlns:a="http://schemas.openxmlformats.org/drawingml/2006/main" noGrp="1"/>
          </p:cNvSpPr>
          <p:nvPr/>
        </p:nvSpPr>
        <p:spPr>
          <a:xfrm xmlns:a="http://schemas.openxmlformats.org/drawingml/2006/main">
            <a:off x="4191000" y="6372225"/>
            <a:ext cx="3810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000000"/>
                </a:solidFill>
                <a:latin typeface="Times New Roman"/>
                <a:ea typeface="Times New Roman"/>
                <a:cs typeface="Times New Roman"/>
              </a:defRPr>
            </a:defPPr>
            <a:lvl1pPr algn="ctr">
              <a:defRPr sz="1950" b="1">
                <a:solidFill>
                  <a:srgbClr val="000000"/>
                </a:solidFill>
                <a:latin typeface="Times New Roman"/>
                <a:ea typeface="Times New Roman"/>
                <a:cs typeface="Times New Roman"/>
              </a:defRPr>
            </a:lvl1pPr>
            <a:lvl2pPr algn="ctr">
              <a:defRPr sz="1950" b="1">
                <a:solidFill>
                  <a:srgbClr val="000000"/>
                </a:solidFill>
                <a:latin typeface="Times New Roman"/>
                <a:ea typeface="Times New Roman"/>
                <a:cs typeface="Times New Roman"/>
              </a:defRPr>
            </a:lvl2pPr>
            <a:lvl3pPr algn="ctr">
              <a:defRPr sz="1950" b="1">
                <a:solidFill>
                  <a:srgbClr val="000000"/>
                </a:solidFill>
                <a:latin typeface="Times New Roman"/>
                <a:ea typeface="Times New Roman"/>
                <a:cs typeface="Times New Roman"/>
              </a:defRPr>
            </a:lvl3pPr>
            <a:lvl4pPr algn="ctr">
              <a:defRPr sz="1950" b="1">
                <a:solidFill>
                  <a:srgbClr val="000000"/>
                </a:solidFill>
                <a:latin typeface="Times New Roman"/>
                <a:ea typeface="Times New Roman"/>
                <a:cs typeface="Times New Roman"/>
              </a:defRPr>
            </a:lvl4pPr>
            <a:lvl5pPr algn="ctr">
              <a:defRPr sz="1950" b="1">
                <a:solidFill>
                  <a:srgbClr val="000000"/>
                </a:solidFill>
                <a:latin typeface="Times New Roman"/>
                <a:ea typeface="Times New Roman"/>
                <a:cs typeface="Times New Roman"/>
              </a:defRPr>
            </a:lvl5pPr>
            <a:lvl6pPr algn="ctr">
              <a:defRPr sz="1950" b="1">
                <a:solidFill>
                  <a:srgbClr val="000000"/>
                </a:solidFill>
                <a:latin typeface="Times New Roman"/>
                <a:ea typeface="Times New Roman"/>
                <a:cs typeface="Times New Roman"/>
              </a:defRPr>
            </a:lvl6pPr>
            <a:lvl7pPr algn="ctr">
              <a:defRPr sz="1950" b="1">
                <a:solidFill>
                  <a:srgbClr val="000000"/>
                </a:solidFill>
                <a:latin typeface="Times New Roman"/>
                <a:ea typeface="Times New Roman"/>
                <a:cs typeface="Times New Roman"/>
              </a:defRPr>
            </a:lvl7pPr>
            <a:lvl8pPr algn="ctr">
              <a:defRPr sz="1950" b="1">
                <a:solidFill>
                  <a:srgbClr val="000000"/>
                </a:solidFill>
                <a:latin typeface="Times New Roman"/>
                <a:ea typeface="Times New Roman"/>
                <a:cs typeface="Times New Roman"/>
              </a:defRPr>
            </a:lvl8pPr>
            <a:lvl9pPr algn="ctr">
              <a:defRPr sz="1950" b="1">
                <a:solidFill>
                  <a:srgbClr val="000000"/>
                </a:solidFill>
                <a:latin typeface="Times New Roman"/>
                <a:ea typeface="Times New Roman"/>
                <a:cs typeface="Times New Roman"/>
              </a:defRPr>
            </a:lvl9pPr>
          </a:lstStyle>
          <a:p xmlns:a="http://schemas.openxmlformats.org/drawingml/2006/main">
            <a:pPr algn="ct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2025/2026</a:t>
            </a:r>
          </a:p>
        </p:txBody>
      </p:sp>
    </p:spTree>
    <p:extLst>
      <p:ext uri="{BB962C8B-B14F-4D97-AF65-F5344CB8AC3E}">
        <p14:creationId xmlns:p14="http://schemas.microsoft.com/office/powerpoint/2010/main" val="6171336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ataset and experimental split">
            <a:extLst xmlns:a="http://schemas.openxmlformats.org/drawingml/2006/main">
              <a:ext uri="{FF2B5EF4-FFF2-40B4-BE49-F238E27FC236}">
                <a16:creationId xmlns:a16="http://schemas.microsoft.com/office/drawing/2014/main" id="{E1140A92-411C-45A7-98FD-67087CE06C09}"/>
              </a:ext>
            </a:extLst>
          </p:cNvPr>
          <p:cNvSpPr>
            <a:spLocks xmlns:a="http://schemas.openxmlformats.org/drawingml/2006/main" noGrp="1"/>
          </p:cNvSpPr>
          <p:nvPr/>
        </p:nvSpPr>
        <p:spPr>
          <a:xfrm xmlns:a="http://schemas.openxmlformats.org/drawingml/2006/main">
            <a:off x="609600" y="5048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xmlns:a="http://schemas.openxmlformats.org/drawingml/2006/main">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Dataset and experimental split</a:t>
            </a:r>
          </a:p>
        </p:txBody>
      </p:sp>
      <p:sp>
        <p:nvSpPr>
          <p:cNvPr id="2" name="">
            <a:extLst xmlns:a="http://schemas.openxmlformats.org/drawingml/2006/main">
              <a:ext uri="{FF2B5EF4-FFF2-40B4-BE49-F238E27FC236}">
                <a16:creationId xmlns:a16="http://schemas.microsoft.com/office/drawing/2014/main" id="{44C25BB4-150B-45B8-98B7-1C1491FE074D}"/>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14288">
            <a:solidFill>
              <a:srgbClr val="2563EB"/>
            </a:solidFill>
            <a:prstDash val="solid"/>
          </a:ln>
        </p:spPr>
      </p:sp>
      <p:sp>
        <p:nvSpPr>
          <p:cNvPr id="3" name="2. Dataset and acquisition">
            <a:extLst xmlns:a="http://schemas.openxmlformats.org/drawingml/2006/main">
              <a:ext uri="{FF2B5EF4-FFF2-40B4-BE49-F238E27FC236}">
                <a16:creationId xmlns:a16="http://schemas.microsoft.com/office/drawing/2014/main" id="{D3C1DBF5-83DD-4F33-9A81-3BFD24B84B7D}"/>
              </a:ext>
            </a:extLst>
          </p:cNvPr>
          <p:cNvSpPr>
            <a:spLocks xmlns:a="http://schemas.openxmlformats.org/drawingml/2006/main" noGrp="1"/>
          </p:cNvSpPr>
          <p:nvPr/>
        </p:nvSpPr>
        <p:spPr>
          <a:xfrm xmlns:a="http://schemas.openxmlformats.org/drawingml/2006/main">
            <a:off x="609600" y="6419850"/>
            <a:ext cx="971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xmlns:a="http://schemas.openxmlformats.org/drawingml/2006/main">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2. Dataset and acquisition</a:t>
            </a:r>
          </a:p>
        </p:txBody>
      </p:sp>
      <p:sp>
        <p:nvSpPr>
          <p:cNvPr id="4" name="03 / 13">
            <a:extLst xmlns:a="http://schemas.openxmlformats.org/drawingml/2006/main">
              <a:ext uri="{FF2B5EF4-FFF2-40B4-BE49-F238E27FC236}">
                <a16:creationId xmlns:a16="http://schemas.microsoft.com/office/drawing/2014/main" id="{39D2D65D-D4D9-444E-98A6-AC620D18DAD2}"/>
              </a:ext>
            </a:extLst>
          </p:cNvPr>
          <p:cNvSpPr>
            <a:spLocks xmlns:a="http://schemas.openxmlformats.org/drawingml/2006/main" noGrp="1"/>
          </p:cNvSpPr>
          <p:nvPr/>
        </p:nvSpPr>
        <p:spPr>
          <a:xfrm xmlns:a="http://schemas.openxmlformats.org/drawingml/2006/main">
            <a:off x="10477500" y="6419850"/>
            <a:ext cx="1104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ns0:p xmlns:ns0="http://schemas.openxmlformats.org/drawingml/2006/main">
            <ns0:pPr algn="r">
              <ns0:defRPr sz="1200" b="0">
                <ns0:solidFill>
                  <ns0:srgbClr val="64748B"/>
                </ns0:solidFill>
                <ns0:latin typeface="Times New Roman"/>
                <ns0:ea typeface="Times New Roman"/>
                <ns0:cs typeface="Times New Roman"/>
              </ns0:defRPr>
            </ns0:pPr>
            <ns0:r>
              <ns0:rPr sz="1200" b="0">
                <ns0:solidFill>
                  <ns0:srgbClr val="64748B"/>
                </ns0:solidFill>
                <ns0:latin typeface="Times New Roman"/>
                <ns0:ea typeface="Times New Roman"/>
                <ns0:cs typeface="Times New Roman"/>
              </ns0:rPr>
              <ns0:t>03 / 14</ns0:t>
            </ns0:r>
          </ns0:p>
        </p:txBody>
      </p:sp>
      <p:sp>
        <p:nvSpPr>
          <p:cNvPr id="5" name="50,000 reviews">
            <a:extLst xmlns:a="http://schemas.openxmlformats.org/drawingml/2006/main">
              <a:ext uri="{FF2B5EF4-FFF2-40B4-BE49-F238E27FC236}">
                <a16:creationId xmlns:a16="http://schemas.microsoft.com/office/drawing/2014/main" id="{A6B6B34D-F634-4560-93CF-5F8FE554C156}"/>
              </a:ext>
            </a:extLst>
          </p:cNvPr>
          <p:cNvSpPr>
            <a:spLocks xmlns:a="http://schemas.openxmlformats.org/drawingml/2006/main" noGrp="1"/>
          </p:cNvSpPr>
          <p:nvPr/>
        </p:nvSpPr>
        <p:spPr>
          <a:xfrm xmlns:a="http://schemas.openxmlformats.org/drawingml/2006/main">
            <a:off x="609600" y="165735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675" b="1">
                <a:solidFill>
                  <a:srgbClr val="2563EB"/>
                </a:solidFill>
                <a:latin typeface="Times New Roman"/>
                <a:ea typeface="Times New Roman"/>
                <a:cs typeface="Times New Roman"/>
              </a:defRPr>
            </a:defPPr>
            <a:lvl1pPr algn="l">
              <a:defRPr sz="3675" b="1">
                <a:solidFill>
                  <a:srgbClr val="2563EB"/>
                </a:solidFill>
                <a:latin typeface="Times New Roman"/>
                <a:ea typeface="Times New Roman"/>
                <a:cs typeface="Times New Roman"/>
              </a:defRPr>
            </a:lvl1pPr>
            <a:lvl2pPr algn="l">
              <a:defRPr sz="3675" b="1">
                <a:solidFill>
                  <a:srgbClr val="2563EB"/>
                </a:solidFill>
                <a:latin typeface="Times New Roman"/>
                <a:ea typeface="Times New Roman"/>
                <a:cs typeface="Times New Roman"/>
              </a:defRPr>
            </a:lvl2pPr>
            <a:lvl3pPr algn="l">
              <a:defRPr sz="3675" b="1">
                <a:solidFill>
                  <a:srgbClr val="2563EB"/>
                </a:solidFill>
                <a:latin typeface="Times New Roman"/>
                <a:ea typeface="Times New Roman"/>
                <a:cs typeface="Times New Roman"/>
              </a:defRPr>
            </a:lvl3pPr>
            <a:lvl4pPr algn="l">
              <a:defRPr sz="3675" b="1">
                <a:solidFill>
                  <a:srgbClr val="2563EB"/>
                </a:solidFill>
                <a:latin typeface="Times New Roman"/>
                <a:ea typeface="Times New Roman"/>
                <a:cs typeface="Times New Roman"/>
              </a:defRPr>
            </a:lvl4pPr>
            <a:lvl5pPr algn="l">
              <a:defRPr sz="3675" b="1">
                <a:solidFill>
                  <a:srgbClr val="2563EB"/>
                </a:solidFill>
                <a:latin typeface="Times New Roman"/>
                <a:ea typeface="Times New Roman"/>
                <a:cs typeface="Times New Roman"/>
              </a:defRPr>
            </a:lvl5pPr>
            <a:lvl6pPr algn="l">
              <a:defRPr sz="3675" b="1">
                <a:solidFill>
                  <a:srgbClr val="2563EB"/>
                </a:solidFill>
                <a:latin typeface="Times New Roman"/>
                <a:ea typeface="Times New Roman"/>
                <a:cs typeface="Times New Roman"/>
              </a:defRPr>
            </a:lvl6pPr>
            <a:lvl7pPr algn="l">
              <a:defRPr sz="3675" b="1">
                <a:solidFill>
                  <a:srgbClr val="2563EB"/>
                </a:solidFill>
                <a:latin typeface="Times New Roman"/>
                <a:ea typeface="Times New Roman"/>
                <a:cs typeface="Times New Roman"/>
              </a:defRPr>
            </a:lvl7pPr>
            <a:lvl8pPr algn="l">
              <a:defRPr sz="3675" b="1">
                <a:solidFill>
                  <a:srgbClr val="2563EB"/>
                </a:solidFill>
                <a:latin typeface="Times New Roman"/>
                <a:ea typeface="Times New Roman"/>
                <a:cs typeface="Times New Roman"/>
              </a:defRPr>
            </a:lvl8pPr>
            <a:lvl9pPr algn="l">
              <a:defRPr sz="3675" b="1">
                <a:solidFill>
                  <a:srgbClr val="2563EB"/>
                </a:solidFill>
                <a:latin typeface="Times New Roman"/>
                <a:ea typeface="Times New Roman"/>
                <a:cs typeface="Times New Roman"/>
              </a:defRPr>
            </a:lvl9pPr>
          </a:lstStyle>
          <a:p xmlns:a="http://schemas.openxmlformats.org/drawingml/2006/main">
            <a:pPr algn="l">
              <a:defRPr sz="3675" b="1">
                <a:solidFill>
                  <a:srgbClr val="2563EB"/>
                </a:solidFill>
                <a:latin typeface="Times New Roman"/>
                <a:ea typeface="Times New Roman"/>
                <a:cs typeface="Times New Roman"/>
              </a:defRPr>
            </a:pPr>
            <a:r>
              <a:rPr sz="3675" b="1">
                <a:solidFill>
                  <a:srgbClr val="2563EB"/>
                </a:solidFill>
                <a:latin typeface="Times New Roman"/>
                <a:ea typeface="Times New Roman"/>
                <a:cs typeface="Times New Roman"/>
              </a:rPr>
              <a:t>50,000 reviews</a:t>
            </a:r>
          </a:p>
        </p:txBody>
      </p:sp>
      <p:sp>
        <p:nvSpPr>
          <p:cNvPr id="6" name="English movie reviews&#10;25,000 positive / 25,000 negative">
            <a:extLst xmlns:a="http://schemas.openxmlformats.org/drawingml/2006/main">
              <a:ext uri="{FF2B5EF4-FFF2-40B4-BE49-F238E27FC236}">
                <a16:creationId xmlns:a16="http://schemas.microsoft.com/office/drawing/2014/main" id="{8DA88632-F56C-4FFD-98FD-5F7342BE0885}"/>
              </a:ext>
            </a:extLst>
          </p:cNvPr>
          <p:cNvSpPr>
            <a:spLocks xmlns:a="http://schemas.openxmlformats.org/drawingml/2006/main" noGrp="1"/>
          </p:cNvSpPr>
          <p:nvPr/>
        </p:nvSpPr>
        <p:spPr>
          <a:xfrm xmlns:a="http://schemas.openxmlformats.org/drawingml/2006/main">
            <a:off x="609600" y="2400300"/>
            <a:ext cx="4514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xmlns:a="http://schemas.openxmlformats.org/drawingml/2006/main">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English movie reviews</a:t>
            </a:r>
          </a:p>
          <a:p xmlns:a="http://schemas.openxmlformats.org/drawingml/2006/main">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25,000 positive / 25,000 negative</a:t>
            </a:r>
          </a:p>
        </p:txBody>
      </p:sp>
      <p:pic>
        <p:nvPicPr>
          <p:cNvPr id="7" name="">
            <a:extLst xmlns:a="http://schemas.openxmlformats.org/drawingml/2006/main">
              <a:ext uri="{FF2B5EF4-FFF2-40B4-BE49-F238E27FC236}">
                <a16:creationId xmlns:a16="http://schemas.microsoft.com/office/drawing/2014/main" id="{908FF0C6-996B-4091-B54C-8829153955C0}"/>
              </a:ext>
            </a:extLst>
          </p:cNvPr>
          <p:cNvPicPr>
            <a:picLocks xmlns:a="http://schemas.openxmlformats.org/drawingml/2006/main" noChangeAspect="1"/>
          </p:cNvPicPr>
          <p:nvPr/>
        </p:nvPicPr>
        <p:blipFill>
          <a:blip xmlns:r="http://schemas.openxmlformats.org/officeDocument/2006/relationships" xmlns:a="http://schemas.openxmlformats.org/drawingml/2006/main" r:embed="R9e9893815a014bc9"/>
          <a:stretch xmlns:a="http://schemas.openxmlformats.org/drawingml/2006/main"/>
        </p:blipFill>
        <p:spPr>
          <a:xfrm xmlns:a="http://schemas.openxmlformats.org/drawingml/2006/main">
            <a:off x="723900" y="3430521"/>
            <a:ext cx="4305300" cy="1844808"/>
          </a:xfrm>
          <a:prstGeom xmlns:a="http://schemas.openxmlformats.org/drawingml/2006/main" prst="rect">
            <a:avLst/>
          </a:prstGeom>
        </p:spPr>
      </p:pic>
      <p:sp>
        <p:nvSpPr>
          <p:cNvPr id="8" name="418 exact duplicates + 4 after cleaning&#10;49,578 unique reviews remain&#10;No missing or blank reviews">
            <a:extLst xmlns:a="http://schemas.openxmlformats.org/drawingml/2006/main">
              <a:ext uri="{FF2B5EF4-FFF2-40B4-BE49-F238E27FC236}">
                <a16:creationId xmlns:a16="http://schemas.microsoft.com/office/drawing/2014/main" id="{829BA3EF-615C-4501-AD6A-EDEFF7499804}"/>
              </a:ext>
            </a:extLst>
          </p:cNvPr>
          <p:cNvSpPr>
            <a:spLocks xmlns:a="http://schemas.openxmlformats.org/drawingml/2006/main" noGrp="1"/>
          </p:cNvSpPr>
          <p:nvPr/>
        </p:nvSpPr>
        <p:spPr>
          <a:xfrm xmlns:a="http://schemas.openxmlformats.org/drawingml/2006/main">
            <a:off x="609600" y="5362575"/>
            <a:ext cx="4514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D3D"/>
                </a:solidFill>
                <a:latin typeface="Times New Roman"/>
                <a:ea typeface="Times New Roman"/>
                <a:cs typeface="Times New Roman"/>
              </a:defRPr>
            </a:defPPr>
            <a:lvl1pPr algn="l">
              <a:defRPr sz="1800" b="0">
                <a:solidFill>
                  <a:srgbClr val="202D3D"/>
                </a:solidFill>
                <a:latin typeface="Times New Roman"/>
                <a:ea typeface="Times New Roman"/>
                <a:cs typeface="Times New Roman"/>
              </a:defRPr>
            </a:lvl1pPr>
            <a:lvl2pPr algn="l">
              <a:defRPr sz="1800" b="0">
                <a:solidFill>
                  <a:srgbClr val="202D3D"/>
                </a:solidFill>
                <a:latin typeface="Times New Roman"/>
                <a:ea typeface="Times New Roman"/>
                <a:cs typeface="Times New Roman"/>
              </a:defRPr>
            </a:lvl2pPr>
            <a:lvl3pPr algn="l">
              <a:defRPr sz="1800" b="0">
                <a:solidFill>
                  <a:srgbClr val="202D3D"/>
                </a:solidFill>
                <a:latin typeface="Times New Roman"/>
                <a:ea typeface="Times New Roman"/>
                <a:cs typeface="Times New Roman"/>
              </a:defRPr>
            </a:lvl3pPr>
            <a:lvl4pPr algn="l">
              <a:defRPr sz="1800" b="0">
                <a:solidFill>
                  <a:srgbClr val="202D3D"/>
                </a:solidFill>
                <a:latin typeface="Times New Roman"/>
                <a:ea typeface="Times New Roman"/>
                <a:cs typeface="Times New Roman"/>
              </a:defRPr>
            </a:lvl4pPr>
            <a:lvl5pPr algn="l">
              <a:defRPr sz="1800" b="0">
                <a:solidFill>
                  <a:srgbClr val="202D3D"/>
                </a:solidFill>
                <a:latin typeface="Times New Roman"/>
                <a:ea typeface="Times New Roman"/>
                <a:cs typeface="Times New Roman"/>
              </a:defRPr>
            </a:lvl5pPr>
            <a:lvl6pPr algn="l">
              <a:defRPr sz="1800" b="0">
                <a:solidFill>
                  <a:srgbClr val="202D3D"/>
                </a:solidFill>
                <a:latin typeface="Times New Roman"/>
                <a:ea typeface="Times New Roman"/>
                <a:cs typeface="Times New Roman"/>
              </a:defRPr>
            </a:lvl6pPr>
            <a:lvl7pPr algn="l">
              <a:defRPr sz="1800" b="0">
                <a:solidFill>
                  <a:srgbClr val="202D3D"/>
                </a:solidFill>
                <a:latin typeface="Times New Roman"/>
                <a:ea typeface="Times New Roman"/>
                <a:cs typeface="Times New Roman"/>
              </a:defRPr>
            </a:lvl7pPr>
            <a:lvl8pPr algn="l">
              <a:defRPr sz="1800" b="0">
                <a:solidFill>
                  <a:srgbClr val="202D3D"/>
                </a:solidFill>
                <a:latin typeface="Times New Roman"/>
                <a:ea typeface="Times New Roman"/>
                <a:cs typeface="Times New Roman"/>
              </a:defRPr>
            </a:lvl8pPr>
            <a:lvl9pPr algn="l">
              <a:defRPr sz="1800" b="0">
                <a:solidFill>
                  <a:srgbClr val="202D3D"/>
                </a:solidFill>
                <a:latin typeface="Times New Roman"/>
                <a:ea typeface="Times New Roman"/>
                <a:cs typeface="Times New Roman"/>
              </a:defRPr>
            </a:lvl9pPr>
          </a:lstStyle>
          <a:p xmlns:a="http://schemas.openxmlformats.org/drawingml/2006/main">
            <a:pPr algn="l">
              <a:defRPr sz="1800" b="0">
                <a:solidFill>
                  <a:srgbClr val="202D3D"/>
                </a:solidFill>
                <a:latin typeface="Times New Roman"/>
                <a:ea typeface="Times New Roman"/>
                <a:cs typeface="Times New Roman"/>
              </a:defRPr>
            </a:pPr>
            <a:r>
              <a:rPr sz="1800" b="0">
                <a:solidFill>
                  <a:srgbClr val="202D3D"/>
                </a:solidFill>
                <a:latin typeface="Times New Roman"/>
                <a:ea typeface="Times New Roman"/>
                <a:cs typeface="Times New Roman"/>
              </a:rPr>
              <a:t>418 exact duplicates + 4 after cleaning</a:t>
            </a:r>
          </a:p>
          <a:p xmlns:a="http://schemas.openxmlformats.org/drawingml/2006/main">
            <a:pPr algn="l">
              <a:defRPr sz="1800" b="0">
                <a:solidFill>
                  <a:srgbClr val="202D3D"/>
                </a:solidFill>
                <a:latin typeface="Times New Roman"/>
                <a:ea typeface="Times New Roman"/>
                <a:cs typeface="Times New Roman"/>
              </a:defRPr>
            </a:pPr>
            <a:r>
              <a:rPr sz="1800" b="0">
                <a:solidFill>
                  <a:srgbClr val="202D3D"/>
                </a:solidFill>
                <a:latin typeface="Times New Roman"/>
                <a:ea typeface="Times New Roman"/>
                <a:cs typeface="Times New Roman"/>
              </a:rPr>
              <a:t>49,578 unique reviews remain</a:t>
            </a:r>
          </a:p>
          <a:p xmlns:a="http://schemas.openxmlformats.org/drawingml/2006/main">
            <a:pPr algn="l">
              <a:defRPr sz="1800" b="0">
                <a:solidFill>
                  <a:srgbClr val="202D3D"/>
                </a:solidFill>
                <a:latin typeface="Times New Roman"/>
                <a:ea typeface="Times New Roman"/>
                <a:cs typeface="Times New Roman"/>
              </a:defRPr>
            </a:pPr>
            <a:r>
              <a:rPr sz="1800" b="0">
                <a:solidFill>
                  <a:srgbClr val="202D3D"/>
                </a:solidFill>
                <a:latin typeface="Times New Roman"/>
                <a:ea typeface="Times New Roman"/>
                <a:cs typeface="Times New Roman"/>
              </a:rPr>
              <a:t>No missing or blank reviews</a:t>
            </a:r>
          </a:p>
        </p:txBody>
      </p:sp>
      <p:graphicFrame>
        <p:nvGraphicFramePr>
          <p:cNvPr id="9" name="">
            <a:extLst xmlns:a="http://schemas.openxmlformats.org/drawingml/2006/main">
              <a:ext uri="{FF2B5EF4-FFF2-40B4-BE49-F238E27FC236}">
                <a16:creationId xmlns:a16="http://schemas.microsoft.com/office/drawing/2014/main" id="{5DDC33F9-A7E7-4E47-9B86-41DA3085A83B}"/>
              </a:ext>
            </a:extLst>
          </p:cNvPr>
          <p:cNvGraphicFramePr/>
          <p:nvPr/>
        </p:nvGraphicFramePr>
        <p:xfrm>
          <a:off xmlns:a="http://schemas.openxmlformats.org/drawingml/2006/main" x="5314950" y="1724025"/>
          <a:ext xmlns:a="http://schemas.openxmlformats.org/drawingml/2006/main" cx="6267450" cy="2867025"/>
        </p:xfrm>
        <a:graphic xmlns:a="http://schemas.openxmlformats.org/drawingml/2006/main">
          <a:graphicData uri="http://schemas.openxmlformats.org/drawingml/2006/table">
            <a:tbl>
              <a:tblPr/>
              <a:tblGrid>
                <a:gridCol w="1619250"/>
                <a:gridCol w="1571625"/>
                <a:gridCol w="3076575"/>
              </a:tblGrid>
              <a:tr h="716756">
                <a:tc>
                  <a:txBody>
                    <a:bodyPr lIns="114300" tIns="114300" rIns="114300" bIns="114300"/>
                    <a:lstStyle/>
                    <a:p>
                      <a:pPr algn="l"/>
                      <a:r>
                        <a:rPr sz="1950" b="1">
                          <a:solidFill>
                            <a:srgbClr val="FFFFFF"/>
                          </a:solidFill>
                          <a:latin typeface="Times New Roman"/>
                          <a:ea typeface="Times New Roman"/>
                          <a:cs typeface="Times New Roman"/>
                        </a:rPr>
                        <a:t>Split</a:t>
                      </a:r>
                    </a:p>
                  </a:txBody>
                  <a:tcPr marL="91440" marR="91440" marT="45720" marB="45720" anchor="ctr">
                    <a:lnL w="9525">
                      <a:solidFill>
                        <a:srgbClr val="AAB9CB"/>
                      </a:solidFill>
                      <a:prstDash val="soli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lIns="114300" tIns="114300" rIns="114300" bIns="114300"/>
                    <a:lstStyle/>
                    <a:p>
                      <a:pPr algn="ctr"/>
                      <a:r>
                        <a:rPr sz="1950" b="1">
                          <a:solidFill>
                            <a:srgbClr val="FFFFFF"/>
                          </a:solidFill>
                          <a:latin typeface="Times New Roman"/>
                          <a:ea typeface="Times New Roman"/>
                          <a:cs typeface="Times New Roman"/>
                        </a:rPr>
                        <a:t>Reviews</a:t>
                      </a:r>
                    </a:p>
                  </a:txBody>
                  <a:tcPr marL="91440" marR="91440" marT="45720" marB="45720" anchor="ctr">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lIns="114300" tIns="114300" rIns="114300" bIns="114300"/>
                    <a:lstStyle/>
                    <a:p>
                      <a:pPr algn="ctr"/>
                      <a:r>
                        <a:rPr sz="1950" b="1">
                          <a:solidFill>
                            <a:srgbClr val="FFFFFF"/>
                          </a:solidFill>
                          <a:latin typeface="Times New Roman"/>
                          <a:ea typeface="Times New Roman"/>
                          <a:cs typeface="Times New Roman"/>
                        </a:rPr>
                        <a:t>Purpose</a:t>
                      </a:r>
                    </a:p>
                  </a:txBody>
                  <a:tcPr marL="91440" marR="91440" marT="45720" marB="45720" anchor="ctr">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r>
              <a:tr h="716756">
                <a:tc>
                  <a:txBody>
                    <a:bodyPr lIns="114300" tIns="114300" rIns="114300" bIns="114300"/>
                    <a:lstStyle/>
                    <a:p>
                      <a:pPr algn="l"/>
                      <a:r>
                        <a:rPr sz="1950" b="0">
                          <a:solidFill>
                            <a:srgbClr val="202D3D"/>
                          </a:solidFill>
                          <a:latin typeface="Times New Roman"/>
                          <a:ea typeface="Times New Roman"/>
                          <a:cs typeface="Times New Roman"/>
                        </a:rPr>
                        <a:t>Train</a:t>
                      </a:r>
                    </a:p>
                  </a:txBody>
                  <a:tcPr marL="91440" marR="91440" marT="45720" marB="45720" anchor="ctr">
                    <a:lnL w="9525">
                      <a:solidFill>
                        <a:srgbClr val="AAB9CB"/>
                      </a:solidFill>
                      <a:prstDash val="solid"/>
                    </a:lnL>
                    <a:lnR w="9525">
                      <a:solidFill>
                        <a:srgbClr val="AAB9CB"/>
                      </a:solidFill>
                      <a:prstDash val="solid"/>
                    </a:lnR>
                    <a:lnB w="9525">
                      <a:solidFill>
                        <a:srgbClr val="AAB9CB"/>
                      </a:solidFill>
                      <a:prstDash val="solid"/>
                    </a:lnB>
                    <a:solidFill>
                      <a:srgbClr val="F3F7FC"/>
                    </a:solidFill>
                  </a:tcPr>
                </a:tc>
                <a:tc>
                  <a:txBody>
                    <a:bodyPr lIns="114300" tIns="114300" rIns="114300" bIns="114300"/>
                    <a:lstStyle/>
                    <a:p>
                      <a:pPr algn="ctr"/>
                      <a:r>
                        <a:rPr sz="1950" b="0">
                          <a:solidFill>
                            <a:srgbClr val="202D3D"/>
                          </a:solidFill>
                          <a:latin typeface="Times New Roman"/>
                          <a:ea typeface="Times New Roman"/>
                          <a:cs typeface="Times New Roman"/>
                        </a:rPr>
                        <a:t>39,662</a:t>
                      </a:r>
                    </a:p>
                  </a:txBody>
                  <a:tcPr marL="91440" marR="91440" marT="45720" marB="45720" anchor="ctr">
                    <a:lnR w="9525">
                      <a:solidFill>
                        <a:srgbClr val="AAB9CB"/>
                      </a:solidFill>
                      <a:prstDash val="solid"/>
                    </a:lnR>
                    <a:lnB w="9525">
                      <a:solidFill>
                        <a:srgbClr val="AAB9CB"/>
                      </a:solidFill>
                      <a:prstDash val="solid"/>
                    </a:lnB>
                    <a:solidFill>
                      <a:srgbClr val="F3F7FC"/>
                    </a:solidFill>
                  </a:tcPr>
                </a:tc>
                <a:tc>
                  <a:txBody>
                    <a:bodyPr lIns="114300" tIns="114300" rIns="114300" bIns="114300"/>
                    <a:lstStyle/>
                    <a:p>
                      <a:pPr algn="ctr"/>
                      <a:r>
                        <a:rPr sz="1950" b="0">
                          <a:solidFill>
                            <a:srgbClr val="202D3D"/>
                          </a:solidFill>
                          <a:latin typeface="Times New Roman"/>
                          <a:ea typeface="Times New Roman"/>
                          <a:cs typeface="Times New Roman"/>
                        </a:rPr>
                        <a:t>Fit models</a:t>
                      </a:r>
                    </a:p>
                  </a:txBody>
                  <a:tcPr marL="91440" marR="91440" marT="45720" marB="45720" anchor="ctr">
                    <a:lnR w="9525">
                      <a:solidFill>
                        <a:srgbClr val="AAB9CB"/>
                      </a:solidFill>
                      <a:prstDash val="solid"/>
                    </a:lnR>
                    <a:lnB w="9525">
                      <a:solidFill>
                        <a:srgbClr val="AAB9CB"/>
                      </a:solidFill>
                      <a:prstDash val="solid"/>
                    </a:lnB>
                    <a:solidFill>
                      <a:srgbClr val="F3F7FC"/>
                    </a:solidFill>
                  </a:tcPr>
                </a:tc>
              </a:tr>
              <a:tr h="716756">
                <a:tc>
                  <a:txBody>
                    <a:bodyPr lIns="114300" tIns="114300" rIns="114300" bIns="114300"/>
                    <a:lstStyle/>
                    <a:p>
                      <a:pPr algn="l"/>
                      <a:r>
                        <a:rPr sz="1950" b="0">
                          <a:solidFill>
                            <a:srgbClr val="202D3D"/>
                          </a:solidFill>
                          <a:latin typeface="Times New Roman"/>
                          <a:ea typeface="Times New Roman"/>
                          <a:cs typeface="Times New Roman"/>
                        </a:rPr>
                        <a:t>Validation</a:t>
                      </a:r>
                    </a:p>
                  </a:txBody>
                  <a:tcPr marL="91440" marR="91440" marT="45720" marB="45720" anchor="ctr">
                    <a:lnL w="9525">
                      <a:solidFill>
                        <a:srgbClr val="AAB9CB"/>
                      </a:solidFill>
                      <a:prstDash val="solid"/>
                    </a:lnL>
                    <a:lnR w="9525">
                      <a:solidFill>
                        <a:srgbClr val="AAB9CB"/>
                      </a:solidFill>
                      <a:prstDash val="solid"/>
                    </a:lnR>
                    <a:lnB w="9525">
                      <a:solidFill>
                        <a:srgbClr val="AAB9CB"/>
                      </a:solidFill>
                      <a:prstDash val="solid"/>
                    </a:lnB>
                    <a:solidFill>
                      <a:srgbClr val="FFFFFF"/>
                    </a:solidFill>
                  </a:tcPr>
                </a:tc>
                <a:tc>
                  <a:txBody>
                    <a:bodyPr lIns="114300" tIns="114300" rIns="114300" bIns="114300"/>
                    <a:lstStyle/>
                    <a:p>
                      <a:pPr algn="ctr"/>
                      <a:r>
                        <a:rPr sz="1950" b="0">
                          <a:solidFill>
                            <a:srgbClr val="202D3D"/>
                          </a:solidFill>
                          <a:latin typeface="Times New Roman"/>
                          <a:ea typeface="Times New Roman"/>
                          <a:cs typeface="Times New Roman"/>
                        </a:rPr>
                        <a:t>4,958</a:t>
                      </a:r>
                    </a:p>
                  </a:txBody>
                  <a:tcPr marL="91440" marR="91440" marT="45720" marB="45720" anchor="ctr">
                    <a:lnR w="9525">
                      <a:solidFill>
                        <a:srgbClr val="AAB9CB"/>
                      </a:solidFill>
                      <a:prstDash val="solid"/>
                    </a:lnR>
                    <a:lnB w="9525">
                      <a:solidFill>
                        <a:srgbClr val="AAB9CB"/>
                      </a:solidFill>
                      <a:prstDash val="solid"/>
                    </a:lnB>
                    <a:solidFill>
                      <a:srgbClr val="FFFFFF"/>
                    </a:solidFill>
                  </a:tcPr>
                </a:tc>
                <a:tc>
                  <a:txBody>
                    <a:bodyPr lIns="114300" tIns="114300" rIns="114300" bIns="114300"/>
                    <a:lstStyle/>
                    <a:p>
                      <a:pPr algn="ctr"/>
                      <a:r>
                        <a:rPr sz="1950" b="0">
                          <a:solidFill>
                            <a:srgbClr val="202D3D"/>
                          </a:solidFill>
                          <a:latin typeface="Times New Roman"/>
                          <a:ea typeface="Times New Roman"/>
                          <a:cs typeface="Times New Roman"/>
                        </a:rPr>
                        <a:t>Select checkpoint</a:t>
                      </a:r>
                    </a:p>
                  </a:txBody>
                  <a:tcPr marL="91440" marR="91440" marT="45720" marB="45720" anchor="ctr">
                    <a:lnR w="9525">
                      <a:solidFill>
                        <a:srgbClr val="AAB9CB"/>
                      </a:solidFill>
                      <a:prstDash val="solid"/>
                    </a:lnR>
                    <a:lnB w="9525">
                      <a:solidFill>
                        <a:srgbClr val="AAB9CB"/>
                      </a:solidFill>
                      <a:prstDash val="solid"/>
                    </a:lnB>
                    <a:solidFill>
                      <a:srgbClr val="FFFFFF"/>
                    </a:solidFill>
                  </a:tcPr>
                </a:tc>
              </a:tr>
              <a:tr h="716756">
                <a:tc>
                  <a:txBody>
                    <a:bodyPr lIns="114300" tIns="114300" rIns="114300" bIns="114300"/>
                    <a:lstStyle/>
                    <a:p>
                      <a:pPr algn="l"/>
                      <a:r>
                        <a:rPr sz="1950" b="0">
                          <a:solidFill>
                            <a:srgbClr val="202D3D"/>
                          </a:solidFill>
                          <a:latin typeface="Times New Roman"/>
                          <a:ea typeface="Times New Roman"/>
                          <a:cs typeface="Times New Roman"/>
                        </a:rPr>
                        <a:t>Test</a:t>
                      </a:r>
                    </a:p>
                  </a:txBody>
                  <a:tcPr marL="91440" marR="91440" marT="45720" marB="45720" anchor="ctr">
                    <a:lnL w="9525">
                      <a:solidFill>
                        <a:srgbClr val="AAB9CB"/>
                      </a:solidFill>
                      <a:prstDash val="solid"/>
                    </a:lnL>
                    <a:lnR w="9525">
                      <a:solidFill>
                        <a:srgbClr val="AAB9CB"/>
                      </a:solidFill>
                      <a:prstDash val="solid"/>
                    </a:lnR>
                    <a:lnB w="9525">
                      <a:solidFill>
                        <a:srgbClr val="AAB9CB"/>
                      </a:solidFill>
                      <a:prstDash val="solid"/>
                    </a:lnB>
                    <a:solidFill>
                      <a:srgbClr val="F3F7FC"/>
                    </a:solidFill>
                  </a:tcPr>
                </a:tc>
                <a:tc>
                  <a:txBody>
                    <a:bodyPr lIns="114300" tIns="114300" rIns="114300" bIns="114300"/>
                    <a:lstStyle/>
                    <a:p>
                      <a:pPr algn="ctr"/>
                      <a:r>
                        <a:rPr sz="1950" b="0">
                          <a:solidFill>
                            <a:srgbClr val="202D3D"/>
                          </a:solidFill>
                          <a:latin typeface="Times New Roman"/>
                          <a:ea typeface="Times New Roman"/>
                          <a:cs typeface="Times New Roman"/>
                        </a:rPr>
                        <a:t>4,958</a:t>
                      </a:r>
                    </a:p>
                  </a:txBody>
                  <a:tcPr marL="91440" marR="91440" marT="45720" marB="45720" anchor="ctr">
                    <a:lnR w="9525">
                      <a:solidFill>
                        <a:srgbClr val="AAB9CB"/>
                      </a:solidFill>
                      <a:prstDash val="solid"/>
                    </a:lnR>
                    <a:lnB w="9525">
                      <a:solidFill>
                        <a:srgbClr val="AAB9CB"/>
                      </a:solidFill>
                      <a:prstDash val="solid"/>
                    </a:lnB>
                    <a:solidFill>
                      <a:srgbClr val="F3F7FC"/>
                    </a:solidFill>
                  </a:tcPr>
                </a:tc>
                <a:tc>
                  <a:txBody>
                    <a:bodyPr lIns="114300" tIns="114300" rIns="114300" bIns="114300"/>
                    <a:lstStyle/>
                    <a:p>
                      <a:pPr algn="ctr"/>
                      <a:r>
                        <a:rPr sz="1950" b="0">
                          <a:solidFill>
                            <a:srgbClr val="202D3D"/>
                          </a:solidFill>
                          <a:latin typeface="Times New Roman"/>
                          <a:ea typeface="Times New Roman"/>
                          <a:cs typeface="Times New Roman"/>
                        </a:rPr>
                        <a:t>Final evaluation</a:t>
                      </a:r>
                    </a:p>
                  </a:txBody>
                  <a:tcPr marL="91440" marR="91440" marT="45720" marB="45720" anchor="ctr">
                    <a:lnR w="9525">
                      <a:solidFill>
                        <a:srgbClr val="AAB9CB"/>
                      </a:solidFill>
                      <a:prstDash val="solid"/>
                    </a:lnR>
                    <a:lnB w="9525">
                      <a:solidFill>
                        <a:srgbClr val="AAB9CB"/>
                      </a:solidFill>
                      <a:prstDash val="solid"/>
                    </a:lnB>
                    <a:solidFill>
                      <a:srgbClr val="F3F7FC"/>
                    </a:solidFill>
                  </a:tcPr>
                </a:tc>
              </a:tr>
            </a:tbl>
          </a:graphicData>
        </a:graphic>
      </p:graphicFrame>
      <p:sp>
        <p:nvSpPr>
          <p:cNvPr id="10" name="80% / 10% / 10%">
            <a:extLst xmlns:a="http://schemas.openxmlformats.org/drawingml/2006/main">
              <a:ext uri="{FF2B5EF4-FFF2-40B4-BE49-F238E27FC236}">
                <a16:creationId xmlns:a16="http://schemas.microsoft.com/office/drawing/2014/main" id="{D40DC389-A7E9-4ECD-83E2-8D4FE720BA8F}"/>
              </a:ext>
            </a:extLst>
          </p:cNvPr>
          <p:cNvSpPr>
            <a:spLocks xmlns:a="http://schemas.openxmlformats.org/drawingml/2006/main" noGrp="1"/>
          </p:cNvSpPr>
          <p:nvPr/>
        </p:nvSpPr>
        <p:spPr>
          <a:xfrm xmlns:a="http://schemas.openxmlformats.org/drawingml/2006/main">
            <a:off x="5314950" y="48672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563EB"/>
                </a:solidFill>
                <a:latin typeface="Times New Roman"/>
                <a:ea typeface="Times New Roman"/>
                <a:cs typeface="Times New Roman"/>
              </a:defRPr>
            </a:defPPr>
            <a:lvl1pPr algn="l">
              <a:defRPr sz="3000" b="1">
                <a:solidFill>
                  <a:srgbClr val="2563EB"/>
                </a:solidFill>
                <a:latin typeface="Times New Roman"/>
                <a:ea typeface="Times New Roman"/>
                <a:cs typeface="Times New Roman"/>
              </a:defRPr>
            </a:lvl1pPr>
            <a:lvl2pPr algn="l">
              <a:defRPr sz="3000" b="1">
                <a:solidFill>
                  <a:srgbClr val="2563EB"/>
                </a:solidFill>
                <a:latin typeface="Times New Roman"/>
                <a:ea typeface="Times New Roman"/>
                <a:cs typeface="Times New Roman"/>
              </a:defRPr>
            </a:lvl2pPr>
            <a:lvl3pPr algn="l">
              <a:defRPr sz="3000" b="1">
                <a:solidFill>
                  <a:srgbClr val="2563EB"/>
                </a:solidFill>
                <a:latin typeface="Times New Roman"/>
                <a:ea typeface="Times New Roman"/>
                <a:cs typeface="Times New Roman"/>
              </a:defRPr>
            </a:lvl3pPr>
            <a:lvl4pPr algn="l">
              <a:defRPr sz="3000" b="1">
                <a:solidFill>
                  <a:srgbClr val="2563EB"/>
                </a:solidFill>
                <a:latin typeface="Times New Roman"/>
                <a:ea typeface="Times New Roman"/>
                <a:cs typeface="Times New Roman"/>
              </a:defRPr>
            </a:lvl4pPr>
            <a:lvl5pPr algn="l">
              <a:defRPr sz="3000" b="1">
                <a:solidFill>
                  <a:srgbClr val="2563EB"/>
                </a:solidFill>
                <a:latin typeface="Times New Roman"/>
                <a:ea typeface="Times New Roman"/>
                <a:cs typeface="Times New Roman"/>
              </a:defRPr>
            </a:lvl5pPr>
            <a:lvl6pPr algn="l">
              <a:defRPr sz="3000" b="1">
                <a:solidFill>
                  <a:srgbClr val="2563EB"/>
                </a:solidFill>
                <a:latin typeface="Times New Roman"/>
                <a:ea typeface="Times New Roman"/>
                <a:cs typeface="Times New Roman"/>
              </a:defRPr>
            </a:lvl6pPr>
            <a:lvl7pPr algn="l">
              <a:defRPr sz="3000" b="1">
                <a:solidFill>
                  <a:srgbClr val="2563EB"/>
                </a:solidFill>
                <a:latin typeface="Times New Roman"/>
                <a:ea typeface="Times New Roman"/>
                <a:cs typeface="Times New Roman"/>
              </a:defRPr>
            </a:lvl7pPr>
            <a:lvl8pPr algn="l">
              <a:defRPr sz="3000" b="1">
                <a:solidFill>
                  <a:srgbClr val="2563EB"/>
                </a:solidFill>
                <a:latin typeface="Times New Roman"/>
                <a:ea typeface="Times New Roman"/>
                <a:cs typeface="Times New Roman"/>
              </a:defRPr>
            </a:lvl8pPr>
            <a:lvl9pPr algn="l">
              <a:defRPr sz="3000" b="1">
                <a:solidFill>
                  <a:srgbClr val="2563EB"/>
                </a:solidFill>
                <a:latin typeface="Times New Roman"/>
                <a:ea typeface="Times New Roman"/>
                <a:cs typeface="Times New Roman"/>
              </a:defRPr>
            </a:lvl9pPr>
          </a:lstStyle>
          <a:p xmlns:a="http://schemas.openxmlformats.org/drawingml/2006/main">
            <a:pPr algn="l">
              <a:defRPr sz="3000" b="1">
                <a:solidFill>
                  <a:srgbClr val="2563EB"/>
                </a:solidFill>
                <a:latin typeface="Times New Roman"/>
                <a:ea typeface="Times New Roman"/>
                <a:cs typeface="Times New Roman"/>
              </a:defRPr>
            </a:pPr>
            <a:r>
              <a:rPr sz="3000" b="1">
                <a:solidFill>
                  <a:srgbClr val="2563EB"/>
                </a:solidFill>
                <a:latin typeface="Times New Roman"/>
                <a:ea typeface="Times New Roman"/>
                <a:cs typeface="Times New Roman"/>
              </a:rPr>
              <a:t>80% / 10% / 10%</a:t>
            </a:r>
          </a:p>
        </p:txBody>
      </p:sp>
      <p:sp>
        <p:nvSpPr>
          <p:cNvPr id="11" name="Stratified by sentiment, random seed 42">
            <a:extLst xmlns:a="http://schemas.openxmlformats.org/drawingml/2006/main">
              <a:ext uri="{FF2B5EF4-FFF2-40B4-BE49-F238E27FC236}">
                <a16:creationId xmlns:a16="http://schemas.microsoft.com/office/drawing/2014/main" id="{EFED0F40-774B-44AB-99A0-49F85160BE5C}"/>
              </a:ext>
            </a:extLst>
          </p:cNvPr>
          <p:cNvSpPr>
            <a:spLocks xmlns:a="http://schemas.openxmlformats.org/drawingml/2006/main" noGrp="1"/>
          </p:cNvSpPr>
          <p:nvPr/>
        </p:nvSpPr>
        <p:spPr>
          <a:xfrm xmlns:a="http://schemas.openxmlformats.org/drawingml/2006/main">
            <a:off x="5314950" y="5467350"/>
            <a:ext cx="6267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xmlns:a="http://schemas.openxmlformats.org/drawingml/2006/main">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Stratified by sentiment, random seed 42</a:t>
            </a:r>
          </a:p>
        </p:txBody>
      </p:sp>
    </p:spTree>
    <p:extLst>
      <p:ext uri="{BB962C8B-B14F-4D97-AF65-F5344CB8AC3E}">
        <p14:creationId xmlns:p14="http://schemas.microsoft.com/office/powerpoint/2010/main" val="1917611336"/>
      </p:ext>
    </p:extLst>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0909DD03-2174-4C9E-9F67-9C04C1BE3077}"/>
              </a:ext>
            </a:extLst>
          </p:cNvPr>
          <p:cNvCxnSpPr>
            <a:stCxn id="7" idx="3"/>
            <a:endCxn id="8" idx="1"/>
          </p:cNvCxnSpPr>
          <p:nvPr/>
        </p:nvCxnSpPr>
        <p:spPr>
          <a:xfrm>
            <a:off x="8791575" y="2714625"/>
            <a:ext cx="190500" cy="0"/>
          </a:xfrm>
          <a:prstGeom prst="straightConnector1">
            <a:avLst/>
          </a:prstGeom>
          <a:ln w="19050">
            <a:solidFill>
              <a:srgbClr val="17365D"/>
            </a:solidFill>
            <a:prstDash val="solid"/>
            <a:tailEnd type="arrow" w="med" len="med"/>
          </a:ln>
        </p:spPr>
      </p:cxnSp>
      <p:cxnSp>
        <p:nvCxnSpPr>
          <p:cNvPr id="10" name="Straight Arrow Connector 9">
            <a:extLst>
              <a:ext uri="{FF2B5EF4-FFF2-40B4-BE49-F238E27FC236}">
                <a16:creationId xmlns:a16="http://schemas.microsoft.com/office/drawing/2014/main" id="{9596E619-87EB-4DB7-949A-8716C41CEBDA}"/>
              </a:ext>
            </a:extLst>
          </p:cNvPr>
          <p:cNvCxnSpPr>
            <a:stCxn id="6" idx="3"/>
            <a:endCxn id="7" idx="1"/>
          </p:cNvCxnSpPr>
          <p:nvPr/>
        </p:nvCxnSpPr>
        <p:spPr>
          <a:xfrm>
            <a:off x="6000750" y="2714625"/>
            <a:ext cx="190500" cy="0"/>
          </a:xfrm>
          <a:prstGeom prst="straightConnector1">
            <a:avLst/>
          </a:prstGeom>
          <a:ln w="19050">
            <a:solidFill>
              <a:srgbClr val="17365D"/>
            </a:solidFill>
            <a:prstDash val="solid"/>
            <a:tailEnd type="arrow" w="med" len="med"/>
          </a:ln>
        </p:spPr>
      </p:cxnSp>
      <p:cxnSp>
        <p:nvCxnSpPr>
          <p:cNvPr id="9" name="Straight Arrow Connector 8">
            <a:extLst>
              <a:ext uri="{FF2B5EF4-FFF2-40B4-BE49-F238E27FC236}">
                <a16:creationId xmlns:a16="http://schemas.microsoft.com/office/drawing/2014/main" id="{670A37BB-5B83-4195-B220-64118584D11C}"/>
              </a:ext>
            </a:extLst>
          </p:cNvPr>
          <p:cNvCxnSpPr>
            <a:stCxn id="5" idx="3"/>
            <a:endCxn id="6" idx="1"/>
          </p:cNvCxnSpPr>
          <p:nvPr/>
        </p:nvCxnSpPr>
        <p:spPr>
          <a:xfrm>
            <a:off x="3209925" y="2714625"/>
            <a:ext cx="190500" cy="0"/>
          </a:xfrm>
          <a:prstGeom prst="straightConnector1">
            <a:avLst/>
          </a:prstGeom>
          <a:ln w="19050">
            <a:solidFill>
              <a:srgbClr val="17365D"/>
            </a:solidFill>
            <a:prstDash val="solid"/>
            <a:tailEnd type="arrow" w="med" len="med"/>
          </a:ln>
        </p:spPr>
      </p:cxnSp>
      <p:sp>
        <p:nvSpPr>
          <p:cNvPr id="17" name="Preprocessing preserves negation">
            <a:extLst>
              <a:ext uri="{FF2B5EF4-FFF2-40B4-BE49-F238E27FC236}">
                <a16:creationId xmlns:a16="http://schemas.microsoft.com/office/drawing/2014/main" id="{1B132877-29BA-4DCC-B898-EF533A01183E}"/>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Preprocessing</a:t>
            </a:r>
          </a:p>
        </p:txBody>
      </p:sp>
      <p:sp>
        <p:nvSpPr>
          <p:cNvPr id="2" name="Straight Connector 1">
            <a:extLst>
              <a:ext uri="{FF2B5EF4-FFF2-40B4-BE49-F238E27FC236}">
                <a16:creationId xmlns:a16="http://schemas.microsoft.com/office/drawing/2014/main" id="{669C8C2F-E5F7-43C0-9736-3B454B969ED7}"/>
              </a:ext>
            </a:extLst>
          </p:cNvPr>
          <p:cNvSpPr>
            <a:spLocks noGrp="1"/>
          </p:cNvSpPr>
          <p:nvPr/>
        </p:nvSpPr>
        <p:spPr>
          <a:xfrm>
            <a:off x="609600" y="1266825"/>
            <a:ext cx="10972800" cy="0"/>
          </a:xfrm>
          <a:prstGeom prst="line">
            <a:avLst/>
          </a:prstGeom>
          <a:ln w="28575">
            <a:solidFill>
              <a:srgbClr val="2563EB"/>
            </a:solidFill>
            <a:prstDash val="solid"/>
          </a:ln>
        </p:spPr>
      </p:sp>
      <p:sp>
        <p:nvSpPr>
          <p:cNvPr id="3" name="3. Preprocessing and representation">
            <a:extLst>
              <a:ext uri="{FF2B5EF4-FFF2-40B4-BE49-F238E27FC236}">
                <a16:creationId xmlns:a16="http://schemas.microsoft.com/office/drawing/2014/main" id="{0F4284FA-B456-4E8E-A72E-F20920076486}"/>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3. Preprocessing and representation</a:t>
            </a:r>
          </a:p>
        </p:txBody>
      </p:sp>
      <p:sp>
        <p:nvSpPr>
          <p:cNvPr id="4" name="04 / 13">
            <a:extLst>
              <a:ext uri="{FF2B5EF4-FFF2-40B4-BE49-F238E27FC236}">
                <a16:creationId xmlns:a16="http://schemas.microsoft.com/office/drawing/2014/main" id="{A9B285F6-B443-4FE7-864F-C17BAFD0CA8C}"/>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04 / 14</a:t>
            </a:r>
          </a:p>
        </p:txBody>
      </p:sp>
      <p:sp>
        <p:nvSpPr>
          <p:cNvPr id="5" name="HTML + case&#10;Remove tags&#10;Lowercase">
            <a:extLst>
              <a:ext uri="{FF2B5EF4-FFF2-40B4-BE49-F238E27FC236}">
                <a16:creationId xmlns:a16="http://schemas.microsoft.com/office/drawing/2014/main" id="{BFF1097D-6B0F-4D4C-B190-67C00970920F}"/>
              </a:ext>
            </a:extLst>
          </p:cNvPr>
          <p:cNvSpPr>
            <a:spLocks noGrp="1"/>
          </p:cNvSpPr>
          <p:nvPr/>
        </p:nvSpPr>
        <p:spPr>
          <a:xfrm>
            <a:off x="609600" y="1952625"/>
            <a:ext cx="2600325" cy="1524000"/>
          </a:xfrm>
          <a:prstGeom prst="rect">
            <a:avLst/>
          </a:prstGeom>
          <a:solidFill>
            <a:srgbClr val="EAF2FF"/>
          </a:solidFill>
          <a:ln w="14288">
            <a:solidFill>
              <a:srgbClr val="17365D"/>
            </a:solidFill>
            <a:prstDash val="solid"/>
          </a:ln>
        </p:spPr>
        <p:txBody>
          <a:bodyPr wrap="square" lIns="114300" tIns="114300" rIns="114300" bIns="114300" anchor="ctr">
            <a:noAutofit/>
          </a:bodyPr>
          <a:lstStyle>
            <a:defPPr algn="ctr">
              <a:defRPr sz="1800">
                <a:solidFill>
                  <a:srgbClr val="202D3D"/>
                </a:solidFill>
                <a:latin typeface="Times New Roman"/>
                <a:ea typeface="Times New Roman"/>
                <a:cs typeface="Times New Roman"/>
              </a:defRPr>
            </a:defPPr>
            <a:lvl1pPr algn="ctr">
              <a:defRPr sz="1800">
                <a:solidFill>
                  <a:srgbClr val="202D3D"/>
                </a:solidFill>
                <a:latin typeface="Times New Roman"/>
                <a:ea typeface="Times New Roman"/>
                <a:cs typeface="Times New Roman"/>
              </a:defRPr>
            </a:lvl1pPr>
            <a:lvl2pPr algn="ctr">
              <a:defRPr sz="1800">
                <a:solidFill>
                  <a:srgbClr val="202D3D"/>
                </a:solidFill>
                <a:latin typeface="Times New Roman"/>
                <a:ea typeface="Times New Roman"/>
                <a:cs typeface="Times New Roman"/>
              </a:defRPr>
            </a:lvl2pPr>
            <a:lvl3pPr algn="ctr">
              <a:defRPr sz="1800">
                <a:solidFill>
                  <a:srgbClr val="202D3D"/>
                </a:solidFill>
                <a:latin typeface="Times New Roman"/>
                <a:ea typeface="Times New Roman"/>
                <a:cs typeface="Times New Roman"/>
              </a:defRPr>
            </a:lvl3pPr>
            <a:lvl4pPr algn="ctr">
              <a:defRPr sz="1800">
                <a:solidFill>
                  <a:srgbClr val="202D3D"/>
                </a:solidFill>
                <a:latin typeface="Times New Roman"/>
                <a:ea typeface="Times New Roman"/>
                <a:cs typeface="Times New Roman"/>
              </a:defRPr>
            </a:lvl4pPr>
            <a:lvl5pPr algn="ctr">
              <a:defRPr sz="1800">
                <a:solidFill>
                  <a:srgbClr val="202D3D"/>
                </a:solidFill>
                <a:latin typeface="Times New Roman"/>
                <a:ea typeface="Times New Roman"/>
                <a:cs typeface="Times New Roman"/>
              </a:defRPr>
            </a:lvl5pPr>
            <a:lvl6pPr algn="ctr">
              <a:defRPr sz="1800">
                <a:solidFill>
                  <a:srgbClr val="202D3D"/>
                </a:solidFill>
                <a:latin typeface="Times New Roman"/>
                <a:ea typeface="Times New Roman"/>
                <a:cs typeface="Times New Roman"/>
              </a:defRPr>
            </a:lvl6pPr>
            <a:lvl7pPr algn="ctr">
              <a:defRPr sz="1800">
                <a:solidFill>
                  <a:srgbClr val="202D3D"/>
                </a:solidFill>
                <a:latin typeface="Times New Roman"/>
                <a:ea typeface="Times New Roman"/>
                <a:cs typeface="Times New Roman"/>
              </a:defRPr>
            </a:lvl7pPr>
            <a:lvl8pPr algn="ctr">
              <a:defRPr sz="1800">
                <a:solidFill>
                  <a:srgbClr val="202D3D"/>
                </a:solidFill>
                <a:latin typeface="Times New Roman"/>
                <a:ea typeface="Times New Roman"/>
                <a:cs typeface="Times New Roman"/>
              </a:defRPr>
            </a:lvl8pPr>
            <a:lvl9pPr algn="ctr">
              <a:defRPr sz="1800">
                <a:solidFill>
                  <a:srgbClr val="202D3D"/>
                </a:solidFill>
                <a:latin typeface="Times New Roman"/>
                <a:ea typeface="Times New Roman"/>
                <a:cs typeface="Times New Roman"/>
              </a:defRPr>
            </a:lvl9pPr>
          </a:lstStyle>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Cleaning</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Remove HTML</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Lowercase</a:t>
            </a:r>
          </a:p>
        </p:txBody>
      </p:sp>
      <p:sp>
        <p:nvSpPr>
          <p:cNvPr id="6" name="Negation&#10;didn't becomes&#10;did not">
            <a:extLst>
              <a:ext uri="{FF2B5EF4-FFF2-40B4-BE49-F238E27FC236}">
                <a16:creationId xmlns:a16="http://schemas.microsoft.com/office/drawing/2014/main" id="{40C34BAB-1C36-4241-9B31-F88534A8595B}"/>
              </a:ext>
            </a:extLst>
          </p:cNvPr>
          <p:cNvSpPr>
            <a:spLocks noGrp="1"/>
          </p:cNvSpPr>
          <p:nvPr/>
        </p:nvSpPr>
        <p:spPr>
          <a:xfrm>
            <a:off x="3400425" y="1952625"/>
            <a:ext cx="2600325" cy="1524000"/>
          </a:xfrm>
          <a:prstGeom prst="rect">
            <a:avLst/>
          </a:prstGeom>
          <a:solidFill>
            <a:srgbClr val="FFF0E0"/>
          </a:solidFill>
          <a:ln w="14288">
            <a:solidFill>
              <a:srgbClr val="17365D"/>
            </a:solidFill>
            <a:prstDash val="solid"/>
          </a:ln>
        </p:spPr>
        <p:txBody>
          <a:bodyPr wrap="square" lIns="114300" tIns="114300" rIns="114300" bIns="114300" anchor="ctr">
            <a:noAutofit/>
          </a:bodyPr>
          <a:lstStyle>
            <a:defPPr algn="ctr">
              <a:defRPr sz="1800">
                <a:solidFill>
                  <a:srgbClr val="202D3D"/>
                </a:solidFill>
                <a:latin typeface="Times New Roman"/>
                <a:ea typeface="Times New Roman"/>
                <a:cs typeface="Times New Roman"/>
              </a:defRPr>
            </a:defPPr>
            <a:lvl1pPr algn="ctr">
              <a:defRPr sz="1800">
                <a:solidFill>
                  <a:srgbClr val="202D3D"/>
                </a:solidFill>
                <a:latin typeface="Times New Roman"/>
                <a:ea typeface="Times New Roman"/>
                <a:cs typeface="Times New Roman"/>
              </a:defRPr>
            </a:lvl1pPr>
            <a:lvl2pPr algn="ctr">
              <a:defRPr sz="1800">
                <a:solidFill>
                  <a:srgbClr val="202D3D"/>
                </a:solidFill>
                <a:latin typeface="Times New Roman"/>
                <a:ea typeface="Times New Roman"/>
                <a:cs typeface="Times New Roman"/>
              </a:defRPr>
            </a:lvl2pPr>
            <a:lvl3pPr algn="ctr">
              <a:defRPr sz="1800">
                <a:solidFill>
                  <a:srgbClr val="202D3D"/>
                </a:solidFill>
                <a:latin typeface="Times New Roman"/>
                <a:ea typeface="Times New Roman"/>
                <a:cs typeface="Times New Roman"/>
              </a:defRPr>
            </a:lvl3pPr>
            <a:lvl4pPr algn="ctr">
              <a:defRPr sz="1800">
                <a:solidFill>
                  <a:srgbClr val="202D3D"/>
                </a:solidFill>
                <a:latin typeface="Times New Roman"/>
                <a:ea typeface="Times New Roman"/>
                <a:cs typeface="Times New Roman"/>
              </a:defRPr>
            </a:lvl4pPr>
            <a:lvl5pPr algn="ctr">
              <a:defRPr sz="1800">
                <a:solidFill>
                  <a:srgbClr val="202D3D"/>
                </a:solidFill>
                <a:latin typeface="Times New Roman"/>
                <a:ea typeface="Times New Roman"/>
                <a:cs typeface="Times New Roman"/>
              </a:defRPr>
            </a:lvl5pPr>
            <a:lvl6pPr algn="ctr">
              <a:defRPr sz="1800">
                <a:solidFill>
                  <a:srgbClr val="202D3D"/>
                </a:solidFill>
                <a:latin typeface="Times New Roman"/>
                <a:ea typeface="Times New Roman"/>
                <a:cs typeface="Times New Roman"/>
              </a:defRPr>
            </a:lvl6pPr>
            <a:lvl7pPr algn="ctr">
              <a:defRPr sz="1800">
                <a:solidFill>
                  <a:srgbClr val="202D3D"/>
                </a:solidFill>
                <a:latin typeface="Times New Roman"/>
                <a:ea typeface="Times New Roman"/>
                <a:cs typeface="Times New Roman"/>
              </a:defRPr>
            </a:lvl7pPr>
            <a:lvl8pPr algn="ctr">
              <a:defRPr sz="1800">
                <a:solidFill>
                  <a:srgbClr val="202D3D"/>
                </a:solidFill>
                <a:latin typeface="Times New Roman"/>
                <a:ea typeface="Times New Roman"/>
                <a:cs typeface="Times New Roman"/>
              </a:defRPr>
            </a:lvl8pPr>
            <a:lvl9pPr algn="ctr">
              <a:defRPr sz="1800">
                <a:solidFill>
                  <a:srgbClr val="202D3D"/>
                </a:solidFill>
                <a:latin typeface="Times New Roman"/>
                <a:ea typeface="Times New Roman"/>
                <a:cs typeface="Times New Roman"/>
              </a:defRPr>
            </a:lvl9pPr>
          </a:lstStyle>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Negation</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didn't becomes</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did not</a:t>
            </a:r>
          </a:p>
        </p:txBody>
      </p:sp>
      <p:sp>
        <p:nvSpPr>
          <p:cNvPr id="7" name="Tokenization&#10;Regex word&#10;extraction">
            <a:extLst>
              <a:ext uri="{FF2B5EF4-FFF2-40B4-BE49-F238E27FC236}">
                <a16:creationId xmlns:a16="http://schemas.microsoft.com/office/drawing/2014/main" id="{E07E29B6-F896-4FF2-86D0-FCC9C43D5905}"/>
              </a:ext>
            </a:extLst>
          </p:cNvPr>
          <p:cNvSpPr>
            <a:spLocks noGrp="1"/>
          </p:cNvSpPr>
          <p:nvPr/>
        </p:nvSpPr>
        <p:spPr>
          <a:xfrm>
            <a:off x="6191250" y="1952625"/>
            <a:ext cx="2600325" cy="1524000"/>
          </a:xfrm>
          <a:prstGeom prst="rect">
            <a:avLst/>
          </a:prstGeom>
          <a:solidFill>
            <a:srgbClr val="E5F5F0"/>
          </a:solidFill>
          <a:ln w="14288">
            <a:solidFill>
              <a:srgbClr val="17365D"/>
            </a:solidFill>
            <a:prstDash val="solid"/>
          </a:ln>
        </p:spPr>
        <p:txBody>
          <a:bodyPr wrap="square" lIns="114300" tIns="114300" rIns="114300" bIns="114300" anchor="ctr">
            <a:noAutofit/>
          </a:bodyPr>
          <a:lstStyle>
            <a:defPPr algn="ctr">
              <a:defRPr sz="1800">
                <a:solidFill>
                  <a:srgbClr val="202D3D"/>
                </a:solidFill>
                <a:latin typeface="Times New Roman"/>
                <a:ea typeface="Times New Roman"/>
                <a:cs typeface="Times New Roman"/>
              </a:defRPr>
            </a:defPPr>
            <a:lvl1pPr algn="ctr">
              <a:defRPr sz="1800">
                <a:solidFill>
                  <a:srgbClr val="202D3D"/>
                </a:solidFill>
                <a:latin typeface="Times New Roman"/>
                <a:ea typeface="Times New Roman"/>
                <a:cs typeface="Times New Roman"/>
              </a:defRPr>
            </a:lvl1pPr>
            <a:lvl2pPr algn="ctr">
              <a:defRPr sz="1800">
                <a:solidFill>
                  <a:srgbClr val="202D3D"/>
                </a:solidFill>
                <a:latin typeface="Times New Roman"/>
                <a:ea typeface="Times New Roman"/>
                <a:cs typeface="Times New Roman"/>
              </a:defRPr>
            </a:lvl2pPr>
            <a:lvl3pPr algn="ctr">
              <a:defRPr sz="1800">
                <a:solidFill>
                  <a:srgbClr val="202D3D"/>
                </a:solidFill>
                <a:latin typeface="Times New Roman"/>
                <a:ea typeface="Times New Roman"/>
                <a:cs typeface="Times New Roman"/>
              </a:defRPr>
            </a:lvl3pPr>
            <a:lvl4pPr algn="ctr">
              <a:defRPr sz="1800">
                <a:solidFill>
                  <a:srgbClr val="202D3D"/>
                </a:solidFill>
                <a:latin typeface="Times New Roman"/>
                <a:ea typeface="Times New Roman"/>
                <a:cs typeface="Times New Roman"/>
              </a:defRPr>
            </a:lvl4pPr>
            <a:lvl5pPr algn="ctr">
              <a:defRPr sz="1800">
                <a:solidFill>
                  <a:srgbClr val="202D3D"/>
                </a:solidFill>
                <a:latin typeface="Times New Roman"/>
                <a:ea typeface="Times New Roman"/>
                <a:cs typeface="Times New Roman"/>
              </a:defRPr>
            </a:lvl5pPr>
            <a:lvl6pPr algn="ctr">
              <a:defRPr sz="1800">
                <a:solidFill>
                  <a:srgbClr val="202D3D"/>
                </a:solidFill>
                <a:latin typeface="Times New Roman"/>
                <a:ea typeface="Times New Roman"/>
                <a:cs typeface="Times New Roman"/>
              </a:defRPr>
            </a:lvl6pPr>
            <a:lvl7pPr algn="ctr">
              <a:defRPr sz="1800">
                <a:solidFill>
                  <a:srgbClr val="202D3D"/>
                </a:solidFill>
                <a:latin typeface="Times New Roman"/>
                <a:ea typeface="Times New Roman"/>
                <a:cs typeface="Times New Roman"/>
              </a:defRPr>
            </a:lvl7pPr>
            <a:lvl8pPr algn="ctr">
              <a:defRPr sz="1800">
                <a:solidFill>
                  <a:srgbClr val="202D3D"/>
                </a:solidFill>
                <a:latin typeface="Times New Roman"/>
                <a:ea typeface="Times New Roman"/>
                <a:cs typeface="Times New Roman"/>
              </a:defRPr>
            </a:lvl8pPr>
            <a:lvl9pPr algn="ctr">
              <a:defRPr sz="1800">
                <a:solidFill>
                  <a:srgbClr val="202D3D"/>
                </a:solidFill>
                <a:latin typeface="Times New Roman"/>
                <a:ea typeface="Times New Roman"/>
                <a:cs typeface="Times New Roman"/>
              </a:defRPr>
            </a:lvl9pPr>
          </a:lstStyle>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Tokenization</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Split text</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into words</a:t>
            </a:r>
          </a:p>
        </p:txBody>
      </p:sp>
      <p:sp>
        <p:nvSpPr>
          <p:cNvPr id="8" name="Lemmatization&#10;POS + WordNet&#10;movies: movie">
            <a:extLst>
              <a:ext uri="{FF2B5EF4-FFF2-40B4-BE49-F238E27FC236}">
                <a16:creationId xmlns:a16="http://schemas.microsoft.com/office/drawing/2014/main" id="{7403AEC1-124A-443D-9579-5D8527045B17}"/>
              </a:ext>
            </a:extLst>
          </p:cNvPr>
          <p:cNvSpPr>
            <a:spLocks noGrp="1"/>
          </p:cNvSpPr>
          <p:nvPr/>
        </p:nvSpPr>
        <p:spPr>
          <a:xfrm>
            <a:off x="8982075" y="1952625"/>
            <a:ext cx="2600325" cy="1524000"/>
          </a:xfrm>
          <a:prstGeom prst="rect">
            <a:avLst/>
          </a:prstGeom>
          <a:solidFill>
            <a:srgbClr val="EAF2FF"/>
          </a:solidFill>
          <a:ln w="14288">
            <a:solidFill>
              <a:srgbClr val="17365D"/>
            </a:solidFill>
            <a:prstDash val="solid"/>
          </a:ln>
        </p:spPr>
        <p:txBody>
          <a:bodyPr wrap="square" lIns="114300" tIns="114300" rIns="114300" bIns="114300" anchor="ctr">
            <a:noAutofit/>
          </a:bodyPr>
          <a:lstStyle>
            <a:defPPr algn="ctr">
              <a:defRPr sz="1800">
                <a:solidFill>
                  <a:srgbClr val="202D3D"/>
                </a:solidFill>
                <a:latin typeface="Times New Roman"/>
                <a:ea typeface="Times New Roman"/>
                <a:cs typeface="Times New Roman"/>
              </a:defRPr>
            </a:defPPr>
            <a:lvl1pPr algn="ctr">
              <a:defRPr sz="1800">
                <a:solidFill>
                  <a:srgbClr val="202D3D"/>
                </a:solidFill>
                <a:latin typeface="Times New Roman"/>
                <a:ea typeface="Times New Roman"/>
                <a:cs typeface="Times New Roman"/>
              </a:defRPr>
            </a:lvl1pPr>
            <a:lvl2pPr algn="ctr">
              <a:defRPr sz="1800">
                <a:solidFill>
                  <a:srgbClr val="202D3D"/>
                </a:solidFill>
                <a:latin typeface="Times New Roman"/>
                <a:ea typeface="Times New Roman"/>
                <a:cs typeface="Times New Roman"/>
              </a:defRPr>
            </a:lvl2pPr>
            <a:lvl3pPr algn="ctr">
              <a:defRPr sz="1800">
                <a:solidFill>
                  <a:srgbClr val="202D3D"/>
                </a:solidFill>
                <a:latin typeface="Times New Roman"/>
                <a:ea typeface="Times New Roman"/>
                <a:cs typeface="Times New Roman"/>
              </a:defRPr>
            </a:lvl3pPr>
            <a:lvl4pPr algn="ctr">
              <a:defRPr sz="1800">
                <a:solidFill>
                  <a:srgbClr val="202D3D"/>
                </a:solidFill>
                <a:latin typeface="Times New Roman"/>
                <a:ea typeface="Times New Roman"/>
                <a:cs typeface="Times New Roman"/>
              </a:defRPr>
            </a:lvl4pPr>
            <a:lvl5pPr algn="ctr">
              <a:defRPr sz="1800">
                <a:solidFill>
                  <a:srgbClr val="202D3D"/>
                </a:solidFill>
                <a:latin typeface="Times New Roman"/>
                <a:ea typeface="Times New Roman"/>
                <a:cs typeface="Times New Roman"/>
              </a:defRPr>
            </a:lvl5pPr>
            <a:lvl6pPr algn="ctr">
              <a:defRPr sz="1800">
                <a:solidFill>
                  <a:srgbClr val="202D3D"/>
                </a:solidFill>
                <a:latin typeface="Times New Roman"/>
                <a:ea typeface="Times New Roman"/>
                <a:cs typeface="Times New Roman"/>
              </a:defRPr>
            </a:lvl6pPr>
            <a:lvl7pPr algn="ctr">
              <a:defRPr sz="1800">
                <a:solidFill>
                  <a:srgbClr val="202D3D"/>
                </a:solidFill>
                <a:latin typeface="Times New Roman"/>
                <a:ea typeface="Times New Roman"/>
                <a:cs typeface="Times New Roman"/>
              </a:defRPr>
            </a:lvl7pPr>
            <a:lvl8pPr algn="ctr">
              <a:defRPr sz="1800">
                <a:solidFill>
                  <a:srgbClr val="202D3D"/>
                </a:solidFill>
                <a:latin typeface="Times New Roman"/>
                <a:ea typeface="Times New Roman"/>
                <a:cs typeface="Times New Roman"/>
              </a:defRPr>
            </a:lvl8pPr>
            <a:lvl9pPr algn="ctr">
              <a:defRPr sz="1800">
                <a:solidFill>
                  <a:srgbClr val="202D3D"/>
                </a:solidFill>
                <a:latin typeface="Times New Roman"/>
                <a:ea typeface="Times New Roman"/>
                <a:cs typeface="Times New Roman"/>
              </a:defRPr>
            </a:lvl9pPr>
          </a:lstStyle>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Lemmatization</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Simplify forms</a:t>
            </a:r>
          </a:p>
          <a:p>
            <a:pPr algn="ctr">
              <a:defRPr sz="1800">
                <a:solidFill>
                  <a:srgbClr val="202D3D"/>
                </a:solidFill>
                <a:latin typeface="Times New Roman"/>
                <a:ea typeface="Times New Roman"/>
                <a:cs typeface="Times New Roman"/>
              </a:defRPr>
            </a:pPr>
            <a:r>
              <a:rPr sz="1800">
                <a:solidFill>
                  <a:srgbClr val="202D3D"/>
                </a:solidFill>
                <a:latin typeface="Times New Roman"/>
                <a:ea typeface="Times New Roman"/>
                <a:cs typeface="Times New Roman"/>
              </a:rPr>
              <a:t>movies: movie</a:t>
            </a:r>
          </a:p>
        </p:txBody>
      </p:sp>
      <p:sp>
        <p:nvSpPr>
          <p:cNvPr id="12" name="Original">
            <a:extLst>
              <a:ext uri="{FF2B5EF4-FFF2-40B4-BE49-F238E27FC236}">
                <a16:creationId xmlns:a16="http://schemas.microsoft.com/office/drawing/2014/main" id="{BD660008-39A9-4B51-9A53-DD880B4CDC6E}"/>
              </a:ext>
            </a:extLst>
          </p:cNvPr>
          <p:cNvSpPr>
            <a:spLocks noGrp="1"/>
          </p:cNvSpPr>
          <p:nvPr/>
        </p:nvSpPr>
        <p:spPr>
          <a:xfrm>
            <a:off x="609600" y="4010025"/>
            <a:ext cx="1714500" cy="304800"/>
          </a:xfrm>
          <a:prstGeom prst="rect">
            <a:avLst/>
          </a:prstGeom>
          <a:noFill/>
          <a:ln w="0">
            <a:noFill/>
          </a:ln>
        </p:spPr>
        <p:txBody>
          <a:bodyPr wrap="square" lIns="0" tIns="0" rIns="0" bIns="0" anchor="t">
            <a:noAutofit/>
          </a:bodyPr>
          <a:lstStyle>
            <a:defPPr algn="l">
              <a:defRPr sz="1725" b="1">
                <a:solidFill>
                  <a:srgbClr val="202D3D"/>
                </a:solidFill>
                <a:latin typeface="Times New Roman"/>
                <a:ea typeface="Times New Roman"/>
                <a:cs typeface="Times New Roman"/>
              </a:defRPr>
            </a:defPPr>
            <a:lvl1pPr algn="l">
              <a:defRPr sz="1725" b="1">
                <a:solidFill>
                  <a:srgbClr val="202D3D"/>
                </a:solidFill>
                <a:latin typeface="Times New Roman"/>
                <a:ea typeface="Times New Roman"/>
                <a:cs typeface="Times New Roman"/>
              </a:defRPr>
            </a:lvl1pPr>
            <a:lvl2pPr algn="l">
              <a:defRPr sz="1725" b="1">
                <a:solidFill>
                  <a:srgbClr val="202D3D"/>
                </a:solidFill>
                <a:latin typeface="Times New Roman"/>
                <a:ea typeface="Times New Roman"/>
                <a:cs typeface="Times New Roman"/>
              </a:defRPr>
            </a:lvl2pPr>
            <a:lvl3pPr algn="l">
              <a:defRPr sz="1725" b="1">
                <a:solidFill>
                  <a:srgbClr val="202D3D"/>
                </a:solidFill>
                <a:latin typeface="Times New Roman"/>
                <a:ea typeface="Times New Roman"/>
                <a:cs typeface="Times New Roman"/>
              </a:defRPr>
            </a:lvl3pPr>
            <a:lvl4pPr algn="l">
              <a:defRPr sz="1725" b="1">
                <a:solidFill>
                  <a:srgbClr val="202D3D"/>
                </a:solidFill>
                <a:latin typeface="Times New Roman"/>
                <a:ea typeface="Times New Roman"/>
                <a:cs typeface="Times New Roman"/>
              </a:defRPr>
            </a:lvl4pPr>
            <a:lvl5pPr algn="l">
              <a:defRPr sz="1725" b="1">
                <a:solidFill>
                  <a:srgbClr val="202D3D"/>
                </a:solidFill>
                <a:latin typeface="Times New Roman"/>
                <a:ea typeface="Times New Roman"/>
                <a:cs typeface="Times New Roman"/>
              </a:defRPr>
            </a:lvl5pPr>
            <a:lvl6pPr algn="l">
              <a:defRPr sz="1725" b="1">
                <a:solidFill>
                  <a:srgbClr val="202D3D"/>
                </a:solidFill>
                <a:latin typeface="Times New Roman"/>
                <a:ea typeface="Times New Roman"/>
                <a:cs typeface="Times New Roman"/>
              </a:defRPr>
            </a:lvl6pPr>
            <a:lvl7pPr algn="l">
              <a:defRPr sz="1725" b="1">
                <a:solidFill>
                  <a:srgbClr val="202D3D"/>
                </a:solidFill>
                <a:latin typeface="Times New Roman"/>
                <a:ea typeface="Times New Roman"/>
                <a:cs typeface="Times New Roman"/>
              </a:defRPr>
            </a:lvl7pPr>
            <a:lvl8pPr algn="l">
              <a:defRPr sz="1725" b="1">
                <a:solidFill>
                  <a:srgbClr val="202D3D"/>
                </a:solidFill>
                <a:latin typeface="Times New Roman"/>
                <a:ea typeface="Times New Roman"/>
                <a:cs typeface="Times New Roman"/>
              </a:defRPr>
            </a:lvl8pPr>
            <a:lvl9pPr algn="l">
              <a:defRPr sz="1725" b="1">
                <a:solidFill>
                  <a:srgbClr val="202D3D"/>
                </a:solidFill>
                <a:latin typeface="Times New Roman"/>
                <a:ea typeface="Times New Roman"/>
                <a:cs typeface="Times New Roman"/>
              </a:defRPr>
            </a:lvl9pPr>
          </a:lstStyle>
          <a:p>
            <a:pPr algn="l">
              <a:defRPr sz="1725" b="1">
                <a:solidFill>
                  <a:srgbClr val="202D3D"/>
                </a:solidFill>
                <a:latin typeface="Times New Roman"/>
                <a:ea typeface="Times New Roman"/>
                <a:cs typeface="Times New Roman"/>
              </a:defRPr>
            </a:pPr>
            <a:r>
              <a:rPr sz="1725" b="1">
                <a:solidFill>
                  <a:srgbClr val="202D3D"/>
                </a:solidFill>
                <a:latin typeface="Times New Roman"/>
                <a:ea typeface="Times New Roman"/>
                <a:cs typeface="Times New Roman"/>
              </a:rPr>
              <a:t>Original</a:t>
            </a:r>
          </a:p>
        </p:txBody>
      </p:sp>
      <p:sp>
        <p:nvSpPr>
          <p:cNvPr id="13" name="THE movies weren't boring.&lt;br /&gt;">
            <a:extLst>
              <a:ext uri="{FF2B5EF4-FFF2-40B4-BE49-F238E27FC236}">
                <a16:creationId xmlns:a16="http://schemas.microsoft.com/office/drawing/2014/main" id="{76EAFA99-5C0C-4136-8BF7-A7D796AC6669}"/>
              </a:ext>
            </a:extLst>
          </p:cNvPr>
          <p:cNvSpPr>
            <a:spLocks noGrp="1"/>
          </p:cNvSpPr>
          <p:nvPr/>
        </p:nvSpPr>
        <p:spPr>
          <a:xfrm>
            <a:off x="2438400" y="3943350"/>
            <a:ext cx="9144000" cy="457200"/>
          </a:xfrm>
          <a:prstGeom prst="rect">
            <a:avLst/>
          </a:prstGeom>
          <a:noFill/>
          <a:ln w="0">
            <a:noFill/>
          </a:ln>
        </p:spPr>
        <p:txBody>
          <a:bodyPr wrap="square" lIns="0" tIns="0" rIns="0" bIns="0" anchor="t">
            <a:noAutofit/>
          </a:bodyPr>
          <a:lstStyle>
            <a:defPPr algn="l">
              <a:defRPr sz="2400" b="0">
                <a:solidFill>
                  <a:srgbClr val="202D3D"/>
                </a:solidFill>
                <a:latin typeface="Times New Roman"/>
                <a:ea typeface="Times New Roman"/>
                <a:cs typeface="Times New Roman"/>
              </a:defRPr>
            </a:defPPr>
            <a:lvl1pPr algn="l">
              <a:defRPr sz="2400" b="0">
                <a:solidFill>
                  <a:srgbClr val="202D3D"/>
                </a:solidFill>
                <a:latin typeface="Times New Roman"/>
                <a:ea typeface="Times New Roman"/>
                <a:cs typeface="Times New Roman"/>
              </a:defRPr>
            </a:lvl1pPr>
            <a:lvl2pPr algn="l">
              <a:defRPr sz="2400" b="0">
                <a:solidFill>
                  <a:srgbClr val="202D3D"/>
                </a:solidFill>
                <a:latin typeface="Times New Roman"/>
                <a:ea typeface="Times New Roman"/>
                <a:cs typeface="Times New Roman"/>
              </a:defRPr>
            </a:lvl2pPr>
            <a:lvl3pPr algn="l">
              <a:defRPr sz="2400" b="0">
                <a:solidFill>
                  <a:srgbClr val="202D3D"/>
                </a:solidFill>
                <a:latin typeface="Times New Roman"/>
                <a:ea typeface="Times New Roman"/>
                <a:cs typeface="Times New Roman"/>
              </a:defRPr>
            </a:lvl3pPr>
            <a:lvl4pPr algn="l">
              <a:defRPr sz="2400" b="0">
                <a:solidFill>
                  <a:srgbClr val="202D3D"/>
                </a:solidFill>
                <a:latin typeface="Times New Roman"/>
                <a:ea typeface="Times New Roman"/>
                <a:cs typeface="Times New Roman"/>
              </a:defRPr>
            </a:lvl4pPr>
            <a:lvl5pPr algn="l">
              <a:defRPr sz="2400" b="0">
                <a:solidFill>
                  <a:srgbClr val="202D3D"/>
                </a:solidFill>
                <a:latin typeface="Times New Roman"/>
                <a:ea typeface="Times New Roman"/>
                <a:cs typeface="Times New Roman"/>
              </a:defRPr>
            </a:lvl5pPr>
            <a:lvl6pPr algn="l">
              <a:defRPr sz="2400" b="0">
                <a:solidFill>
                  <a:srgbClr val="202D3D"/>
                </a:solidFill>
                <a:latin typeface="Times New Roman"/>
                <a:ea typeface="Times New Roman"/>
                <a:cs typeface="Times New Roman"/>
              </a:defRPr>
            </a:lvl6pPr>
            <a:lvl7pPr algn="l">
              <a:defRPr sz="2400" b="0">
                <a:solidFill>
                  <a:srgbClr val="202D3D"/>
                </a:solidFill>
                <a:latin typeface="Times New Roman"/>
                <a:ea typeface="Times New Roman"/>
                <a:cs typeface="Times New Roman"/>
              </a:defRPr>
            </a:lvl7pPr>
            <a:lvl8pPr algn="l">
              <a:defRPr sz="2400" b="0">
                <a:solidFill>
                  <a:srgbClr val="202D3D"/>
                </a:solidFill>
                <a:latin typeface="Times New Roman"/>
                <a:ea typeface="Times New Roman"/>
                <a:cs typeface="Times New Roman"/>
              </a:defRPr>
            </a:lvl8pPr>
            <a:lvl9pPr algn="l">
              <a:defRPr sz="2400" b="0">
                <a:solidFill>
                  <a:srgbClr val="202D3D"/>
                </a:solidFill>
                <a:latin typeface="Times New Roman"/>
                <a:ea typeface="Times New Roman"/>
                <a:cs typeface="Times New Roman"/>
              </a:defRPr>
            </a:lvl9pPr>
          </a:lstStyle>
          <a:p>
            <a:pPr algn="l">
              <a:defRPr sz="2400" b="0">
                <a:solidFill>
                  <a:srgbClr val="202D3D"/>
                </a:solidFill>
                <a:latin typeface="Times New Roman"/>
                <a:ea typeface="Times New Roman"/>
                <a:cs typeface="Times New Roman"/>
              </a:defRPr>
            </a:pPr>
            <a:r>
              <a:rPr sz="2400" b="0">
                <a:solidFill>
                  <a:srgbClr val="202D3D"/>
                </a:solidFill>
                <a:latin typeface="Times New Roman"/>
                <a:ea typeface="Times New Roman"/>
                <a:cs typeface="Times New Roman"/>
              </a:rPr>
              <a:t>THE movies weren't boring.&lt;br /&gt;</a:t>
            </a:r>
          </a:p>
        </p:txBody>
      </p:sp>
      <p:sp>
        <p:nvSpPr>
          <p:cNvPr id="14" name="Processed">
            <a:extLst>
              <a:ext uri="{FF2B5EF4-FFF2-40B4-BE49-F238E27FC236}">
                <a16:creationId xmlns:a16="http://schemas.microsoft.com/office/drawing/2014/main" id="{6AC648CA-CA7E-4F15-BF90-0E0EF8A46B3C}"/>
              </a:ext>
            </a:extLst>
          </p:cNvPr>
          <p:cNvSpPr>
            <a:spLocks noGrp="1"/>
          </p:cNvSpPr>
          <p:nvPr/>
        </p:nvSpPr>
        <p:spPr>
          <a:xfrm>
            <a:off x="609600" y="4686300"/>
            <a:ext cx="1714500" cy="304800"/>
          </a:xfrm>
          <a:prstGeom prst="rect">
            <a:avLst/>
          </a:prstGeom>
          <a:noFill/>
          <a:ln w="0">
            <a:noFill/>
          </a:ln>
        </p:spPr>
        <p:txBody>
          <a:bodyPr wrap="square" lIns="0" tIns="0" rIns="0" bIns="0" anchor="t">
            <a:noAutofit/>
          </a:bodyPr>
          <a:lstStyle>
            <a:defPPr algn="l">
              <a:defRPr sz="1725" b="1">
                <a:solidFill>
                  <a:srgbClr val="202D3D"/>
                </a:solidFill>
                <a:latin typeface="Times New Roman"/>
                <a:ea typeface="Times New Roman"/>
                <a:cs typeface="Times New Roman"/>
              </a:defRPr>
            </a:defPPr>
            <a:lvl1pPr algn="l">
              <a:defRPr sz="1725" b="1">
                <a:solidFill>
                  <a:srgbClr val="202D3D"/>
                </a:solidFill>
                <a:latin typeface="Times New Roman"/>
                <a:ea typeface="Times New Roman"/>
                <a:cs typeface="Times New Roman"/>
              </a:defRPr>
            </a:lvl1pPr>
            <a:lvl2pPr algn="l">
              <a:defRPr sz="1725" b="1">
                <a:solidFill>
                  <a:srgbClr val="202D3D"/>
                </a:solidFill>
                <a:latin typeface="Times New Roman"/>
                <a:ea typeface="Times New Roman"/>
                <a:cs typeface="Times New Roman"/>
              </a:defRPr>
            </a:lvl2pPr>
            <a:lvl3pPr algn="l">
              <a:defRPr sz="1725" b="1">
                <a:solidFill>
                  <a:srgbClr val="202D3D"/>
                </a:solidFill>
                <a:latin typeface="Times New Roman"/>
                <a:ea typeface="Times New Roman"/>
                <a:cs typeface="Times New Roman"/>
              </a:defRPr>
            </a:lvl3pPr>
            <a:lvl4pPr algn="l">
              <a:defRPr sz="1725" b="1">
                <a:solidFill>
                  <a:srgbClr val="202D3D"/>
                </a:solidFill>
                <a:latin typeface="Times New Roman"/>
                <a:ea typeface="Times New Roman"/>
                <a:cs typeface="Times New Roman"/>
              </a:defRPr>
            </a:lvl4pPr>
            <a:lvl5pPr algn="l">
              <a:defRPr sz="1725" b="1">
                <a:solidFill>
                  <a:srgbClr val="202D3D"/>
                </a:solidFill>
                <a:latin typeface="Times New Roman"/>
                <a:ea typeface="Times New Roman"/>
                <a:cs typeface="Times New Roman"/>
              </a:defRPr>
            </a:lvl5pPr>
            <a:lvl6pPr algn="l">
              <a:defRPr sz="1725" b="1">
                <a:solidFill>
                  <a:srgbClr val="202D3D"/>
                </a:solidFill>
                <a:latin typeface="Times New Roman"/>
                <a:ea typeface="Times New Roman"/>
                <a:cs typeface="Times New Roman"/>
              </a:defRPr>
            </a:lvl6pPr>
            <a:lvl7pPr algn="l">
              <a:defRPr sz="1725" b="1">
                <a:solidFill>
                  <a:srgbClr val="202D3D"/>
                </a:solidFill>
                <a:latin typeface="Times New Roman"/>
                <a:ea typeface="Times New Roman"/>
                <a:cs typeface="Times New Roman"/>
              </a:defRPr>
            </a:lvl7pPr>
            <a:lvl8pPr algn="l">
              <a:defRPr sz="1725" b="1">
                <a:solidFill>
                  <a:srgbClr val="202D3D"/>
                </a:solidFill>
                <a:latin typeface="Times New Roman"/>
                <a:ea typeface="Times New Roman"/>
                <a:cs typeface="Times New Roman"/>
              </a:defRPr>
            </a:lvl8pPr>
            <a:lvl9pPr algn="l">
              <a:defRPr sz="1725" b="1">
                <a:solidFill>
                  <a:srgbClr val="202D3D"/>
                </a:solidFill>
                <a:latin typeface="Times New Roman"/>
                <a:ea typeface="Times New Roman"/>
                <a:cs typeface="Times New Roman"/>
              </a:defRPr>
            </a:lvl9pPr>
          </a:lstStyle>
          <a:p>
            <a:pPr algn="l">
              <a:defRPr sz="1725" b="1">
                <a:solidFill>
                  <a:srgbClr val="202D3D"/>
                </a:solidFill>
                <a:latin typeface="Times New Roman"/>
                <a:ea typeface="Times New Roman"/>
                <a:cs typeface="Times New Roman"/>
              </a:defRPr>
            </a:pPr>
            <a:r>
              <a:rPr sz="1725" b="1">
                <a:solidFill>
                  <a:srgbClr val="202D3D"/>
                </a:solidFill>
                <a:latin typeface="Times New Roman"/>
                <a:ea typeface="Times New Roman"/>
                <a:cs typeface="Times New Roman"/>
              </a:rPr>
              <a:t>Processed</a:t>
            </a:r>
          </a:p>
        </p:txBody>
      </p:sp>
      <p:sp>
        <p:nvSpPr>
          <p:cNvPr id="15" name="the movie be not boring">
            <a:extLst>
              <a:ext uri="{FF2B5EF4-FFF2-40B4-BE49-F238E27FC236}">
                <a16:creationId xmlns:a16="http://schemas.microsoft.com/office/drawing/2014/main" id="{5AA70E74-409A-458C-9B5E-F37A5FD3357D}"/>
              </a:ext>
            </a:extLst>
          </p:cNvPr>
          <p:cNvSpPr>
            <a:spLocks noGrp="1"/>
          </p:cNvSpPr>
          <p:nvPr/>
        </p:nvSpPr>
        <p:spPr>
          <a:xfrm>
            <a:off x="2438400" y="4610100"/>
            <a:ext cx="9144000" cy="476250"/>
          </a:xfrm>
          <a:prstGeom prst="rect">
            <a:avLst/>
          </a:prstGeom>
          <a:noFill/>
          <a:ln w="0">
            <a:noFill/>
          </a:ln>
        </p:spPr>
        <p:txBody>
          <a:bodyPr wrap="square" lIns="0" tIns="0" rIns="0" bIns="0" anchor="t">
            <a:noAutofit/>
          </a:bodyPr>
          <a:lstStyle>
            <a:defPPr algn="l">
              <a:defRPr sz="2550" b="1">
                <a:solidFill>
                  <a:srgbClr val="202D3D"/>
                </a:solidFill>
                <a:latin typeface="Times New Roman"/>
                <a:ea typeface="Times New Roman"/>
                <a:cs typeface="Times New Roman"/>
              </a:defRPr>
            </a:defPPr>
            <a:lvl1pPr algn="l">
              <a:defRPr sz="2550" b="1">
                <a:solidFill>
                  <a:srgbClr val="202D3D"/>
                </a:solidFill>
                <a:latin typeface="Times New Roman"/>
                <a:ea typeface="Times New Roman"/>
                <a:cs typeface="Times New Roman"/>
              </a:defRPr>
            </a:lvl1pPr>
            <a:lvl2pPr algn="l">
              <a:defRPr sz="2550" b="1">
                <a:solidFill>
                  <a:srgbClr val="202D3D"/>
                </a:solidFill>
                <a:latin typeface="Times New Roman"/>
                <a:ea typeface="Times New Roman"/>
                <a:cs typeface="Times New Roman"/>
              </a:defRPr>
            </a:lvl2pPr>
            <a:lvl3pPr algn="l">
              <a:defRPr sz="2550" b="1">
                <a:solidFill>
                  <a:srgbClr val="202D3D"/>
                </a:solidFill>
                <a:latin typeface="Times New Roman"/>
                <a:ea typeface="Times New Roman"/>
                <a:cs typeface="Times New Roman"/>
              </a:defRPr>
            </a:lvl3pPr>
            <a:lvl4pPr algn="l">
              <a:defRPr sz="2550" b="1">
                <a:solidFill>
                  <a:srgbClr val="202D3D"/>
                </a:solidFill>
                <a:latin typeface="Times New Roman"/>
                <a:ea typeface="Times New Roman"/>
                <a:cs typeface="Times New Roman"/>
              </a:defRPr>
            </a:lvl4pPr>
            <a:lvl5pPr algn="l">
              <a:defRPr sz="2550" b="1">
                <a:solidFill>
                  <a:srgbClr val="202D3D"/>
                </a:solidFill>
                <a:latin typeface="Times New Roman"/>
                <a:ea typeface="Times New Roman"/>
                <a:cs typeface="Times New Roman"/>
              </a:defRPr>
            </a:lvl5pPr>
            <a:lvl6pPr algn="l">
              <a:defRPr sz="2550" b="1">
                <a:solidFill>
                  <a:srgbClr val="202D3D"/>
                </a:solidFill>
                <a:latin typeface="Times New Roman"/>
                <a:ea typeface="Times New Roman"/>
                <a:cs typeface="Times New Roman"/>
              </a:defRPr>
            </a:lvl6pPr>
            <a:lvl7pPr algn="l">
              <a:defRPr sz="2550" b="1">
                <a:solidFill>
                  <a:srgbClr val="202D3D"/>
                </a:solidFill>
                <a:latin typeface="Times New Roman"/>
                <a:ea typeface="Times New Roman"/>
                <a:cs typeface="Times New Roman"/>
              </a:defRPr>
            </a:lvl7pPr>
            <a:lvl8pPr algn="l">
              <a:defRPr sz="2550" b="1">
                <a:solidFill>
                  <a:srgbClr val="202D3D"/>
                </a:solidFill>
                <a:latin typeface="Times New Roman"/>
                <a:ea typeface="Times New Roman"/>
                <a:cs typeface="Times New Roman"/>
              </a:defRPr>
            </a:lvl8pPr>
            <a:lvl9pPr algn="l">
              <a:defRPr sz="2550" b="1">
                <a:solidFill>
                  <a:srgbClr val="202D3D"/>
                </a:solidFill>
                <a:latin typeface="Times New Roman"/>
                <a:ea typeface="Times New Roman"/>
                <a:cs typeface="Times New Roman"/>
              </a:defRPr>
            </a:lvl9pPr>
          </a:lstStyle>
          <a:p>
            <a:pPr algn="l">
              <a:defRPr sz="2550" b="1">
                <a:solidFill>
                  <a:srgbClr val="202D3D"/>
                </a:solidFill>
                <a:latin typeface="Times New Roman"/>
                <a:ea typeface="Times New Roman"/>
                <a:cs typeface="Times New Roman"/>
              </a:defRPr>
            </a:pPr>
            <a:r>
              <a:rPr sz="2550" b="1">
                <a:solidFill>
                  <a:srgbClr val="202D3D"/>
                </a:solidFill>
                <a:latin typeface="Times New Roman"/>
                <a:ea typeface="Times New Roman"/>
                <a:cs typeface="Times New Roman"/>
              </a:rPr>
              <a:t>the movie be not boring</a:t>
            </a:r>
          </a:p>
        </p:txBody>
      </p:sp>
      <p:sp>
        <p:nvSpPr>
          <p:cNvPr id="16" name="Keep negation and stop words. Reuse the same preprocessing during">
            <a:extLst>
              <a:ext uri="{FF2B5EF4-FFF2-40B4-BE49-F238E27FC236}">
                <a16:creationId xmlns:a16="http://schemas.microsoft.com/office/drawing/2014/main" id="{1723D45B-C6D6-4E54-850E-E988358854DC}"/>
              </a:ext>
            </a:extLst>
          </p:cNvPr>
          <p:cNvSpPr>
            <a:spLocks noGrp="1"/>
          </p:cNvSpPr>
          <p:nvPr/>
        </p:nvSpPr>
        <p:spPr>
          <a:xfrm>
            <a:off x="609600" y="5486400"/>
            <a:ext cx="10972800" cy="628650"/>
          </a:xfrm>
          <a:prstGeom prst="rect">
            <a:avLst/>
          </a:prstGeom>
          <a:noFill/>
          <a:ln w="0">
            <a:noFill/>
          </a:ln>
        </p:spPr>
        <p:txBody>
          <a:bodyPr wrap="square" lIns="0" tIns="0" rIns="0" bIns="0" anchor="t">
            <a:noAutofit/>
          </a:bodyPr>
          <a:lstStyle>
            <a:defPPr algn="l">
              <a:defRPr sz="1875" b="0">
                <a:solidFill>
                  <a:srgbClr val="202D3D"/>
                </a:solidFill>
                <a:latin typeface="Times New Roman"/>
                <a:ea typeface="Times New Roman"/>
                <a:cs typeface="Times New Roman"/>
              </a:defRPr>
            </a:defPPr>
            <a:lvl1pPr algn="l">
              <a:defRPr sz="1875" b="0">
                <a:solidFill>
                  <a:srgbClr val="202D3D"/>
                </a:solidFill>
                <a:latin typeface="Times New Roman"/>
                <a:ea typeface="Times New Roman"/>
                <a:cs typeface="Times New Roman"/>
              </a:defRPr>
            </a:lvl1pPr>
            <a:lvl2pPr algn="l">
              <a:defRPr sz="1875" b="0">
                <a:solidFill>
                  <a:srgbClr val="202D3D"/>
                </a:solidFill>
                <a:latin typeface="Times New Roman"/>
                <a:ea typeface="Times New Roman"/>
                <a:cs typeface="Times New Roman"/>
              </a:defRPr>
            </a:lvl2pPr>
            <a:lvl3pPr algn="l">
              <a:defRPr sz="1875" b="0">
                <a:solidFill>
                  <a:srgbClr val="202D3D"/>
                </a:solidFill>
                <a:latin typeface="Times New Roman"/>
                <a:ea typeface="Times New Roman"/>
                <a:cs typeface="Times New Roman"/>
              </a:defRPr>
            </a:lvl3pPr>
            <a:lvl4pPr algn="l">
              <a:defRPr sz="1875" b="0">
                <a:solidFill>
                  <a:srgbClr val="202D3D"/>
                </a:solidFill>
                <a:latin typeface="Times New Roman"/>
                <a:ea typeface="Times New Roman"/>
                <a:cs typeface="Times New Roman"/>
              </a:defRPr>
            </a:lvl4pPr>
            <a:lvl5pPr algn="l">
              <a:defRPr sz="1875" b="0">
                <a:solidFill>
                  <a:srgbClr val="202D3D"/>
                </a:solidFill>
                <a:latin typeface="Times New Roman"/>
                <a:ea typeface="Times New Roman"/>
                <a:cs typeface="Times New Roman"/>
              </a:defRPr>
            </a:lvl5pPr>
            <a:lvl6pPr algn="l">
              <a:defRPr sz="1875" b="0">
                <a:solidFill>
                  <a:srgbClr val="202D3D"/>
                </a:solidFill>
                <a:latin typeface="Times New Roman"/>
                <a:ea typeface="Times New Roman"/>
                <a:cs typeface="Times New Roman"/>
              </a:defRPr>
            </a:lvl6pPr>
            <a:lvl7pPr algn="l">
              <a:defRPr sz="1875" b="0">
                <a:solidFill>
                  <a:srgbClr val="202D3D"/>
                </a:solidFill>
                <a:latin typeface="Times New Roman"/>
                <a:ea typeface="Times New Roman"/>
                <a:cs typeface="Times New Roman"/>
              </a:defRPr>
            </a:lvl7pPr>
            <a:lvl8pPr algn="l">
              <a:defRPr sz="1875" b="0">
                <a:solidFill>
                  <a:srgbClr val="202D3D"/>
                </a:solidFill>
                <a:latin typeface="Times New Roman"/>
                <a:ea typeface="Times New Roman"/>
                <a:cs typeface="Times New Roman"/>
              </a:defRPr>
            </a:lvl8pPr>
            <a:lvl9pPr algn="l">
              <a:defRPr sz="1875" b="0">
                <a:solidFill>
                  <a:srgbClr val="202D3D"/>
                </a:solidFill>
                <a:latin typeface="Times New Roman"/>
                <a:ea typeface="Times New Roman"/>
                <a:cs typeface="Times New Roman"/>
              </a:defRPr>
            </a:lvl9pPr>
          </a:lstStyle>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Keep negation: "good" and "not good" have different meanings.</a:t>
            </a:r>
          </a:p>
        </p:txBody>
      </p:sp>
    </p:spTree>
    <p:extLst>
      <p:ext uri="{BB962C8B-B14F-4D97-AF65-F5344CB8AC3E}">
        <p14:creationId xmlns:p14="http://schemas.microsoft.com/office/powerpoint/2010/main" val="442114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wo representations of the same review">
            <a:extLst>
              <a:ext uri="{FF2B5EF4-FFF2-40B4-BE49-F238E27FC236}">
                <a16:creationId xmlns:a16="http://schemas.microsoft.com/office/drawing/2014/main" id="{3FBA4280-333F-4018-94D2-4AD8C88A4AEE}"/>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Text representation</a:t>
            </a:r>
          </a:p>
        </p:txBody>
      </p:sp>
      <p:sp>
        <p:nvSpPr>
          <p:cNvPr id="2" name="Straight Connector 1">
            <a:extLst>
              <a:ext uri="{FF2B5EF4-FFF2-40B4-BE49-F238E27FC236}">
                <a16:creationId xmlns:a16="http://schemas.microsoft.com/office/drawing/2014/main" id="{5E92F7E0-5291-4609-80B5-93DA076502D6}"/>
              </a:ext>
            </a:extLst>
          </p:cNvPr>
          <p:cNvSpPr>
            <a:spLocks noGrp="1"/>
          </p:cNvSpPr>
          <p:nvPr/>
        </p:nvSpPr>
        <p:spPr>
          <a:xfrm>
            <a:off x="609600" y="1266825"/>
            <a:ext cx="10972800" cy="0"/>
          </a:xfrm>
          <a:prstGeom prst="line">
            <a:avLst/>
          </a:prstGeom>
          <a:ln w="28575">
            <a:solidFill>
              <a:srgbClr val="2563EB"/>
            </a:solidFill>
            <a:prstDash val="solid"/>
          </a:ln>
        </p:spPr>
      </p:sp>
      <p:sp>
        <p:nvSpPr>
          <p:cNvPr id="3" name="3. Preprocessing and representation">
            <a:extLst>
              <a:ext uri="{FF2B5EF4-FFF2-40B4-BE49-F238E27FC236}">
                <a16:creationId xmlns:a16="http://schemas.microsoft.com/office/drawing/2014/main" id="{E065BDF7-320D-408B-873B-761531D26682}"/>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3. Preprocessing and representation</a:t>
            </a:r>
          </a:p>
        </p:txBody>
      </p:sp>
      <p:sp>
        <p:nvSpPr>
          <p:cNvPr id="4" name="05 / 13">
            <a:extLst>
              <a:ext uri="{FF2B5EF4-FFF2-40B4-BE49-F238E27FC236}">
                <a16:creationId xmlns:a16="http://schemas.microsoft.com/office/drawing/2014/main" id="{83669934-7C5F-4B66-8E63-26B8B3AB8201}"/>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05 / 14</a:t>
            </a:r>
          </a:p>
        </p:txBody>
      </p:sp>
      <p:sp>
        <p:nvSpPr>
          <p:cNvPr id="5" name="TF-IDF">
            <a:extLst>
              <a:ext uri="{FF2B5EF4-FFF2-40B4-BE49-F238E27FC236}">
                <a16:creationId xmlns:a16="http://schemas.microsoft.com/office/drawing/2014/main" id="{FC9C2467-0069-4C4A-A431-0918E202E0CE}"/>
              </a:ext>
            </a:extLst>
          </p:cNvPr>
          <p:cNvSpPr>
            <a:spLocks noGrp="1"/>
          </p:cNvSpPr>
          <p:nvPr/>
        </p:nvSpPr>
        <p:spPr>
          <a:xfrm>
            <a:off x="609600" y="1733550"/>
            <a:ext cx="4953000" cy="476250"/>
          </a:xfrm>
          <a:prstGeom prst="rect">
            <a:avLst/>
          </a:prstGeom>
          <a:noFill/>
          <a:ln w="0">
            <a:noFill/>
          </a:ln>
        </p:spPr>
        <p:txBody>
          <a:bodyPr wrap="square" lIns="0" tIns="0" rIns="0" bIns="0" anchor="t">
            <a:noAutofit/>
          </a:bodyPr>
          <a:lstStyle>
            <a:defPPr algn="l">
              <a:defRPr sz="2850" b="1">
                <a:solidFill>
                  <a:srgbClr val="2563EB"/>
                </a:solidFill>
                <a:latin typeface="Times New Roman"/>
                <a:ea typeface="Times New Roman"/>
                <a:cs typeface="Times New Roman"/>
              </a:defRPr>
            </a:defPPr>
            <a:lvl1pPr algn="l">
              <a:defRPr sz="2850" b="1">
                <a:solidFill>
                  <a:srgbClr val="2563EB"/>
                </a:solidFill>
                <a:latin typeface="Times New Roman"/>
                <a:ea typeface="Times New Roman"/>
                <a:cs typeface="Times New Roman"/>
              </a:defRPr>
            </a:lvl1pPr>
            <a:lvl2pPr algn="l">
              <a:defRPr sz="2850" b="1">
                <a:solidFill>
                  <a:srgbClr val="2563EB"/>
                </a:solidFill>
                <a:latin typeface="Times New Roman"/>
                <a:ea typeface="Times New Roman"/>
                <a:cs typeface="Times New Roman"/>
              </a:defRPr>
            </a:lvl2pPr>
            <a:lvl3pPr algn="l">
              <a:defRPr sz="2850" b="1">
                <a:solidFill>
                  <a:srgbClr val="2563EB"/>
                </a:solidFill>
                <a:latin typeface="Times New Roman"/>
                <a:ea typeface="Times New Roman"/>
                <a:cs typeface="Times New Roman"/>
              </a:defRPr>
            </a:lvl3pPr>
            <a:lvl4pPr algn="l">
              <a:defRPr sz="2850" b="1">
                <a:solidFill>
                  <a:srgbClr val="2563EB"/>
                </a:solidFill>
                <a:latin typeface="Times New Roman"/>
                <a:ea typeface="Times New Roman"/>
                <a:cs typeface="Times New Roman"/>
              </a:defRPr>
            </a:lvl4pPr>
            <a:lvl5pPr algn="l">
              <a:defRPr sz="2850" b="1">
                <a:solidFill>
                  <a:srgbClr val="2563EB"/>
                </a:solidFill>
                <a:latin typeface="Times New Roman"/>
                <a:ea typeface="Times New Roman"/>
                <a:cs typeface="Times New Roman"/>
              </a:defRPr>
            </a:lvl5pPr>
            <a:lvl6pPr algn="l">
              <a:defRPr sz="2850" b="1">
                <a:solidFill>
                  <a:srgbClr val="2563EB"/>
                </a:solidFill>
                <a:latin typeface="Times New Roman"/>
                <a:ea typeface="Times New Roman"/>
                <a:cs typeface="Times New Roman"/>
              </a:defRPr>
            </a:lvl6pPr>
            <a:lvl7pPr algn="l">
              <a:defRPr sz="2850" b="1">
                <a:solidFill>
                  <a:srgbClr val="2563EB"/>
                </a:solidFill>
                <a:latin typeface="Times New Roman"/>
                <a:ea typeface="Times New Roman"/>
                <a:cs typeface="Times New Roman"/>
              </a:defRPr>
            </a:lvl7pPr>
            <a:lvl8pPr algn="l">
              <a:defRPr sz="2850" b="1">
                <a:solidFill>
                  <a:srgbClr val="2563EB"/>
                </a:solidFill>
                <a:latin typeface="Times New Roman"/>
                <a:ea typeface="Times New Roman"/>
                <a:cs typeface="Times New Roman"/>
              </a:defRPr>
            </a:lvl8pPr>
            <a:lvl9pPr algn="l">
              <a:defRPr sz="2850" b="1">
                <a:solidFill>
                  <a:srgbClr val="2563EB"/>
                </a:solidFill>
                <a:latin typeface="Times New Roman"/>
                <a:ea typeface="Times New Roman"/>
                <a:cs typeface="Times New Roman"/>
              </a:defRPr>
            </a:lvl9pPr>
          </a:lstStyle>
          <a:p>
            <a:pPr algn="l">
              <a:defRPr sz="2850" b="1">
                <a:solidFill>
                  <a:srgbClr val="2563EB"/>
                </a:solidFill>
                <a:latin typeface="Times New Roman"/>
                <a:ea typeface="Times New Roman"/>
                <a:cs typeface="Times New Roman"/>
              </a:defRPr>
            </a:pPr>
            <a:r>
              <a:rPr sz="2850" b="1">
                <a:solidFill>
                  <a:srgbClr val="2563EB"/>
                </a:solidFill>
                <a:latin typeface="Times New Roman"/>
                <a:ea typeface="Times New Roman"/>
                <a:cs typeface="Times New Roman"/>
              </a:rPr>
              <a:t>TF-IDF</a:t>
            </a:r>
          </a:p>
        </p:txBody>
      </p:sp>
      <p:sp>
        <p:nvSpPr>
          <p:cNvPr id="6" name="Sparse unigram + bigram features">
            <a:extLst>
              <a:ext uri="{FF2B5EF4-FFF2-40B4-BE49-F238E27FC236}">
                <a16:creationId xmlns:a16="http://schemas.microsoft.com/office/drawing/2014/main" id="{F24C6FB1-7643-496D-90D4-207FAE15570C}"/>
              </a:ext>
            </a:extLst>
          </p:cNvPr>
          <p:cNvSpPr>
            <a:spLocks noGrp="1"/>
          </p:cNvSpPr>
          <p:nvPr/>
        </p:nvSpPr>
        <p:spPr>
          <a:xfrm>
            <a:off x="609600" y="2447925"/>
            <a:ext cx="5048250" cy="628650"/>
          </a:xfrm>
          <a:prstGeom prst="rect">
            <a:avLst/>
          </a:prstGeom>
          <a:noFill/>
          <a:ln w="0">
            <a:noFill/>
          </a:ln>
        </p:spPr>
        <p:txBody>
          <a:bodyPr wrap="square" lIns="0" tIns="0" rIns="0" bIns="0" anchor="t">
            <a:noAutofit/>
          </a:bodyPr>
          <a:lstStyle>
            <a:defPPr algn="l">
              <a:defRPr sz="2100" b="1">
                <a:solidFill>
                  <a:srgbClr val="202D3D"/>
                </a:solidFill>
                <a:latin typeface="Times New Roman"/>
                <a:ea typeface="Times New Roman"/>
                <a:cs typeface="Times New Roman"/>
              </a:defRPr>
            </a:defPPr>
            <a:lvl1pPr algn="l">
              <a:defRPr sz="2100" b="1">
                <a:solidFill>
                  <a:srgbClr val="202D3D"/>
                </a:solidFill>
                <a:latin typeface="Times New Roman"/>
                <a:ea typeface="Times New Roman"/>
                <a:cs typeface="Times New Roman"/>
              </a:defRPr>
            </a:lvl1pPr>
            <a:lvl2pPr algn="l">
              <a:defRPr sz="2100" b="1">
                <a:solidFill>
                  <a:srgbClr val="202D3D"/>
                </a:solidFill>
                <a:latin typeface="Times New Roman"/>
                <a:ea typeface="Times New Roman"/>
                <a:cs typeface="Times New Roman"/>
              </a:defRPr>
            </a:lvl2pPr>
            <a:lvl3pPr algn="l">
              <a:defRPr sz="2100" b="1">
                <a:solidFill>
                  <a:srgbClr val="202D3D"/>
                </a:solidFill>
                <a:latin typeface="Times New Roman"/>
                <a:ea typeface="Times New Roman"/>
                <a:cs typeface="Times New Roman"/>
              </a:defRPr>
            </a:lvl3pPr>
            <a:lvl4pPr algn="l">
              <a:defRPr sz="2100" b="1">
                <a:solidFill>
                  <a:srgbClr val="202D3D"/>
                </a:solidFill>
                <a:latin typeface="Times New Roman"/>
                <a:ea typeface="Times New Roman"/>
                <a:cs typeface="Times New Roman"/>
              </a:defRPr>
            </a:lvl4pPr>
            <a:lvl5pPr algn="l">
              <a:defRPr sz="2100" b="1">
                <a:solidFill>
                  <a:srgbClr val="202D3D"/>
                </a:solidFill>
                <a:latin typeface="Times New Roman"/>
                <a:ea typeface="Times New Roman"/>
                <a:cs typeface="Times New Roman"/>
              </a:defRPr>
            </a:lvl5pPr>
            <a:lvl6pPr algn="l">
              <a:defRPr sz="2100" b="1">
                <a:solidFill>
                  <a:srgbClr val="202D3D"/>
                </a:solidFill>
                <a:latin typeface="Times New Roman"/>
                <a:ea typeface="Times New Roman"/>
                <a:cs typeface="Times New Roman"/>
              </a:defRPr>
            </a:lvl6pPr>
            <a:lvl7pPr algn="l">
              <a:defRPr sz="2100" b="1">
                <a:solidFill>
                  <a:srgbClr val="202D3D"/>
                </a:solidFill>
                <a:latin typeface="Times New Roman"/>
                <a:ea typeface="Times New Roman"/>
                <a:cs typeface="Times New Roman"/>
              </a:defRPr>
            </a:lvl7pPr>
            <a:lvl8pPr algn="l">
              <a:defRPr sz="2100" b="1">
                <a:solidFill>
                  <a:srgbClr val="202D3D"/>
                </a:solidFill>
                <a:latin typeface="Times New Roman"/>
                <a:ea typeface="Times New Roman"/>
                <a:cs typeface="Times New Roman"/>
              </a:defRPr>
            </a:lvl8pPr>
            <a:lvl9pPr algn="l">
              <a:defRPr sz="2100" b="1">
                <a:solidFill>
                  <a:srgbClr val="202D3D"/>
                </a:solidFill>
                <a:latin typeface="Times New Roman"/>
                <a:ea typeface="Times New Roman"/>
                <a:cs typeface="Times New Roman"/>
              </a:defRPr>
            </a:lvl9pPr>
          </a:lstStyle>
          <a:p>
            <a:pPr algn="l">
              <a:defRPr sz="2100" b="1">
                <a:solidFill>
                  <a:srgbClr val="202D3D"/>
                </a:solidFill>
                <a:latin typeface="Times New Roman"/>
                <a:ea typeface="Times New Roman"/>
                <a:cs typeface="Times New Roman"/>
              </a:defRPr>
            </a:pPr>
            <a:r>
              <a:rPr sz="2100" b="1">
                <a:solidFill>
                  <a:srgbClr val="202D3D"/>
                </a:solidFill>
                <a:latin typeface="Times New Roman"/>
                <a:ea typeface="Times New Roman"/>
                <a:cs typeface="Times New Roman"/>
              </a:rPr>
              <a:t>Weights for words and word pairs</a:t>
            </a:r>
          </a:p>
        </p:txBody>
      </p:sp>
      <p:sp>
        <p:nvSpPr>
          <p:cNvPr id="7" name="50,000 features, min_df = 2&#10;Whole processed review&#10;Example featur">
            <a:extLst>
              <a:ext uri="{FF2B5EF4-FFF2-40B4-BE49-F238E27FC236}">
                <a16:creationId xmlns:a16="http://schemas.microsoft.com/office/drawing/2014/main" id="{05494DE4-6A90-4DA5-B46B-A5857E066CBF}"/>
              </a:ext>
            </a:extLst>
          </p:cNvPr>
          <p:cNvSpPr>
            <a:spLocks noGrp="1"/>
          </p:cNvSpPr>
          <p:nvPr/>
        </p:nvSpPr>
        <p:spPr>
          <a:xfrm>
            <a:off x="609600" y="3295650"/>
            <a:ext cx="5048250" cy="1219200"/>
          </a:xfrm>
          <a:prstGeom prst="rect">
            <a:avLst/>
          </a:prstGeom>
          <a:noFill/>
          <a:ln w="0">
            <a:noFill/>
          </a:ln>
        </p:spPr>
        <p:txBody>
          <a:bodyPr wrap="square" lIns="0" tIns="0" rIns="0" bIns="0" anchor="t">
            <a:noAutofit/>
          </a:bodyPr>
          <a:lstStyle>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50,000 features</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Individual words and pairs of words</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Example: "not recommend"</a:t>
            </a:r>
          </a:p>
        </p:txBody>
      </p:sp>
      <p:sp>
        <p:nvSpPr>
          <p:cNvPr id="8" name="Why: efficient lexical evidence&#10;and short negation patterns">
            <a:extLst>
              <a:ext uri="{FF2B5EF4-FFF2-40B4-BE49-F238E27FC236}">
                <a16:creationId xmlns:a16="http://schemas.microsoft.com/office/drawing/2014/main" id="{C4EA8713-8E07-46DC-AAE0-31CA57BEA3C8}"/>
              </a:ext>
            </a:extLst>
          </p:cNvPr>
          <p:cNvSpPr>
            <a:spLocks noGrp="1"/>
          </p:cNvSpPr>
          <p:nvPr/>
        </p:nvSpPr>
        <p:spPr>
          <a:xfrm>
            <a:off x="609600" y="4800600"/>
            <a:ext cx="5048250" cy="895350"/>
          </a:xfrm>
          <a:prstGeom prst="rect">
            <a:avLst/>
          </a:prstGeom>
          <a:noFill/>
          <a:ln w="0">
            <a:noFill/>
          </a:ln>
        </p:spPr>
        <p:txBody>
          <a:bodyPr wrap="square" lIns="0" tIns="0" rIns="0" bIns="0" anchor="t">
            <a:noAutofit/>
          </a:bodyPr>
          <a:lstStyle>
            <a:defPPr algn="l">
              <a:defRPr sz="1875" b="0">
                <a:solidFill>
                  <a:srgbClr val="202D3D"/>
                </a:solidFill>
                <a:latin typeface="Times New Roman"/>
                <a:ea typeface="Times New Roman"/>
                <a:cs typeface="Times New Roman"/>
              </a:defRPr>
            </a:defPPr>
            <a:lvl1pPr algn="l">
              <a:defRPr sz="1875" b="0">
                <a:solidFill>
                  <a:srgbClr val="202D3D"/>
                </a:solidFill>
                <a:latin typeface="Times New Roman"/>
                <a:ea typeface="Times New Roman"/>
                <a:cs typeface="Times New Roman"/>
              </a:defRPr>
            </a:lvl1pPr>
            <a:lvl2pPr algn="l">
              <a:defRPr sz="1875" b="0">
                <a:solidFill>
                  <a:srgbClr val="202D3D"/>
                </a:solidFill>
                <a:latin typeface="Times New Roman"/>
                <a:ea typeface="Times New Roman"/>
                <a:cs typeface="Times New Roman"/>
              </a:defRPr>
            </a:lvl2pPr>
            <a:lvl3pPr algn="l">
              <a:defRPr sz="1875" b="0">
                <a:solidFill>
                  <a:srgbClr val="202D3D"/>
                </a:solidFill>
                <a:latin typeface="Times New Roman"/>
                <a:ea typeface="Times New Roman"/>
                <a:cs typeface="Times New Roman"/>
              </a:defRPr>
            </a:lvl3pPr>
            <a:lvl4pPr algn="l">
              <a:defRPr sz="1875" b="0">
                <a:solidFill>
                  <a:srgbClr val="202D3D"/>
                </a:solidFill>
                <a:latin typeface="Times New Roman"/>
                <a:ea typeface="Times New Roman"/>
                <a:cs typeface="Times New Roman"/>
              </a:defRPr>
            </a:lvl4pPr>
            <a:lvl5pPr algn="l">
              <a:defRPr sz="1875" b="0">
                <a:solidFill>
                  <a:srgbClr val="202D3D"/>
                </a:solidFill>
                <a:latin typeface="Times New Roman"/>
                <a:ea typeface="Times New Roman"/>
                <a:cs typeface="Times New Roman"/>
              </a:defRPr>
            </a:lvl5pPr>
            <a:lvl6pPr algn="l">
              <a:defRPr sz="1875" b="0">
                <a:solidFill>
                  <a:srgbClr val="202D3D"/>
                </a:solidFill>
                <a:latin typeface="Times New Roman"/>
                <a:ea typeface="Times New Roman"/>
                <a:cs typeface="Times New Roman"/>
              </a:defRPr>
            </a:lvl6pPr>
            <a:lvl7pPr algn="l">
              <a:defRPr sz="1875" b="0">
                <a:solidFill>
                  <a:srgbClr val="202D3D"/>
                </a:solidFill>
                <a:latin typeface="Times New Roman"/>
                <a:ea typeface="Times New Roman"/>
                <a:cs typeface="Times New Roman"/>
              </a:defRPr>
            </a:lvl7pPr>
            <a:lvl8pPr algn="l">
              <a:defRPr sz="1875" b="0">
                <a:solidFill>
                  <a:srgbClr val="202D3D"/>
                </a:solidFill>
                <a:latin typeface="Times New Roman"/>
                <a:ea typeface="Times New Roman"/>
                <a:cs typeface="Times New Roman"/>
              </a:defRPr>
            </a:lvl8pPr>
            <a:lvl9pPr algn="l">
              <a:defRPr sz="1875" b="0">
                <a:solidFill>
                  <a:srgbClr val="202D3D"/>
                </a:solidFill>
                <a:latin typeface="Times New Roman"/>
                <a:ea typeface="Times New Roman"/>
                <a:cs typeface="Times New Roman"/>
              </a:defRPr>
            </a:lvl9pPr>
          </a:lstStyle>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Efficient representation for SVM</a:t>
            </a:r>
          </a:p>
        </p:txBody>
      </p:sp>
      <p:sp>
        <p:nvSpPr>
          <p:cNvPr id="9" name="GloVe embeddings">
            <a:extLst>
              <a:ext uri="{FF2B5EF4-FFF2-40B4-BE49-F238E27FC236}">
                <a16:creationId xmlns:a16="http://schemas.microsoft.com/office/drawing/2014/main" id="{63290148-61B6-46E6-91CB-5300DEF08CC9}"/>
              </a:ext>
            </a:extLst>
          </p:cNvPr>
          <p:cNvSpPr>
            <a:spLocks noGrp="1"/>
          </p:cNvSpPr>
          <p:nvPr/>
        </p:nvSpPr>
        <p:spPr>
          <a:xfrm>
            <a:off x="6286500" y="1733550"/>
            <a:ext cx="5295900" cy="476250"/>
          </a:xfrm>
          <a:prstGeom prst="rect">
            <a:avLst/>
          </a:prstGeom>
          <a:noFill/>
          <a:ln w="0">
            <a:noFill/>
          </a:ln>
        </p:spPr>
        <p:txBody>
          <a:bodyPr wrap="square" lIns="0" tIns="0" rIns="0" bIns="0" anchor="t">
            <a:noAutofit/>
          </a:bodyPr>
          <a:lstStyle>
            <a:defPPr algn="l">
              <a:defRPr sz="2850" b="1">
                <a:solidFill>
                  <a:srgbClr val="D97706"/>
                </a:solidFill>
                <a:latin typeface="Times New Roman"/>
                <a:ea typeface="Times New Roman"/>
                <a:cs typeface="Times New Roman"/>
              </a:defRPr>
            </a:defPPr>
            <a:lvl1pPr algn="l">
              <a:defRPr sz="2850" b="1">
                <a:solidFill>
                  <a:srgbClr val="D97706"/>
                </a:solidFill>
                <a:latin typeface="Times New Roman"/>
                <a:ea typeface="Times New Roman"/>
                <a:cs typeface="Times New Roman"/>
              </a:defRPr>
            </a:lvl1pPr>
            <a:lvl2pPr algn="l">
              <a:defRPr sz="2850" b="1">
                <a:solidFill>
                  <a:srgbClr val="D97706"/>
                </a:solidFill>
                <a:latin typeface="Times New Roman"/>
                <a:ea typeface="Times New Roman"/>
                <a:cs typeface="Times New Roman"/>
              </a:defRPr>
            </a:lvl2pPr>
            <a:lvl3pPr algn="l">
              <a:defRPr sz="2850" b="1">
                <a:solidFill>
                  <a:srgbClr val="D97706"/>
                </a:solidFill>
                <a:latin typeface="Times New Roman"/>
                <a:ea typeface="Times New Roman"/>
                <a:cs typeface="Times New Roman"/>
              </a:defRPr>
            </a:lvl3pPr>
            <a:lvl4pPr algn="l">
              <a:defRPr sz="2850" b="1">
                <a:solidFill>
                  <a:srgbClr val="D97706"/>
                </a:solidFill>
                <a:latin typeface="Times New Roman"/>
                <a:ea typeface="Times New Roman"/>
                <a:cs typeface="Times New Roman"/>
              </a:defRPr>
            </a:lvl4pPr>
            <a:lvl5pPr algn="l">
              <a:defRPr sz="2850" b="1">
                <a:solidFill>
                  <a:srgbClr val="D97706"/>
                </a:solidFill>
                <a:latin typeface="Times New Roman"/>
                <a:ea typeface="Times New Roman"/>
                <a:cs typeface="Times New Roman"/>
              </a:defRPr>
            </a:lvl5pPr>
            <a:lvl6pPr algn="l">
              <a:defRPr sz="2850" b="1">
                <a:solidFill>
                  <a:srgbClr val="D97706"/>
                </a:solidFill>
                <a:latin typeface="Times New Roman"/>
                <a:ea typeface="Times New Roman"/>
                <a:cs typeface="Times New Roman"/>
              </a:defRPr>
            </a:lvl6pPr>
            <a:lvl7pPr algn="l">
              <a:defRPr sz="2850" b="1">
                <a:solidFill>
                  <a:srgbClr val="D97706"/>
                </a:solidFill>
                <a:latin typeface="Times New Roman"/>
                <a:ea typeface="Times New Roman"/>
                <a:cs typeface="Times New Roman"/>
              </a:defRPr>
            </a:lvl7pPr>
            <a:lvl8pPr algn="l">
              <a:defRPr sz="2850" b="1">
                <a:solidFill>
                  <a:srgbClr val="D97706"/>
                </a:solidFill>
                <a:latin typeface="Times New Roman"/>
                <a:ea typeface="Times New Roman"/>
                <a:cs typeface="Times New Roman"/>
              </a:defRPr>
            </a:lvl8pPr>
            <a:lvl9pPr algn="l">
              <a:defRPr sz="2850" b="1">
                <a:solidFill>
                  <a:srgbClr val="D97706"/>
                </a:solidFill>
                <a:latin typeface="Times New Roman"/>
                <a:ea typeface="Times New Roman"/>
                <a:cs typeface="Times New Roman"/>
              </a:defRPr>
            </a:lvl9pPr>
          </a:lstStyle>
          <a:p>
            <a:pPr algn="l">
              <a:defRPr sz="2850" b="1">
                <a:solidFill>
                  <a:srgbClr val="D97706"/>
                </a:solidFill>
                <a:latin typeface="Times New Roman"/>
                <a:ea typeface="Times New Roman"/>
                <a:cs typeface="Times New Roman"/>
              </a:defRPr>
            </a:pPr>
            <a:r>
              <a:rPr sz="2850" b="1">
                <a:solidFill>
                  <a:srgbClr val="D97706"/>
                </a:solidFill>
                <a:latin typeface="Times New Roman"/>
                <a:ea typeface="Times New Roman"/>
                <a:cs typeface="Times New Roman"/>
              </a:rPr>
              <a:t>GloVe embeddings</a:t>
            </a:r>
          </a:p>
        </p:txBody>
      </p:sp>
      <p:sp>
        <p:nvSpPr>
          <p:cNvPr id="10" name="Dense word vectors with 100 values">
            <a:extLst>
              <a:ext uri="{FF2B5EF4-FFF2-40B4-BE49-F238E27FC236}">
                <a16:creationId xmlns:a16="http://schemas.microsoft.com/office/drawing/2014/main" id="{05A87A6D-6DE7-4ACB-9174-BB1F9DCD0083}"/>
              </a:ext>
            </a:extLst>
          </p:cNvPr>
          <p:cNvSpPr>
            <a:spLocks noGrp="1"/>
          </p:cNvSpPr>
          <p:nvPr/>
        </p:nvSpPr>
        <p:spPr>
          <a:xfrm>
            <a:off x="6286500" y="2447925"/>
            <a:ext cx="5295900" cy="628650"/>
          </a:xfrm>
          <a:prstGeom prst="rect">
            <a:avLst/>
          </a:prstGeom>
          <a:noFill/>
          <a:ln w="0">
            <a:noFill/>
          </a:ln>
        </p:spPr>
        <p:txBody>
          <a:bodyPr wrap="square" lIns="0" tIns="0" rIns="0" bIns="0" anchor="t">
            <a:noAutofit/>
          </a:bodyPr>
          <a:lstStyle>
            <a:defPPr algn="l">
              <a:defRPr sz="2100" b="1">
                <a:solidFill>
                  <a:srgbClr val="202D3D"/>
                </a:solidFill>
                <a:latin typeface="Times New Roman"/>
                <a:ea typeface="Times New Roman"/>
                <a:cs typeface="Times New Roman"/>
              </a:defRPr>
            </a:defPPr>
            <a:lvl1pPr algn="l">
              <a:defRPr sz="2100" b="1">
                <a:solidFill>
                  <a:srgbClr val="202D3D"/>
                </a:solidFill>
                <a:latin typeface="Times New Roman"/>
                <a:ea typeface="Times New Roman"/>
                <a:cs typeface="Times New Roman"/>
              </a:defRPr>
            </a:lvl1pPr>
            <a:lvl2pPr algn="l">
              <a:defRPr sz="2100" b="1">
                <a:solidFill>
                  <a:srgbClr val="202D3D"/>
                </a:solidFill>
                <a:latin typeface="Times New Roman"/>
                <a:ea typeface="Times New Roman"/>
                <a:cs typeface="Times New Roman"/>
              </a:defRPr>
            </a:lvl2pPr>
            <a:lvl3pPr algn="l">
              <a:defRPr sz="2100" b="1">
                <a:solidFill>
                  <a:srgbClr val="202D3D"/>
                </a:solidFill>
                <a:latin typeface="Times New Roman"/>
                <a:ea typeface="Times New Roman"/>
                <a:cs typeface="Times New Roman"/>
              </a:defRPr>
            </a:lvl3pPr>
            <a:lvl4pPr algn="l">
              <a:defRPr sz="2100" b="1">
                <a:solidFill>
                  <a:srgbClr val="202D3D"/>
                </a:solidFill>
                <a:latin typeface="Times New Roman"/>
                <a:ea typeface="Times New Roman"/>
                <a:cs typeface="Times New Roman"/>
              </a:defRPr>
            </a:lvl4pPr>
            <a:lvl5pPr algn="l">
              <a:defRPr sz="2100" b="1">
                <a:solidFill>
                  <a:srgbClr val="202D3D"/>
                </a:solidFill>
                <a:latin typeface="Times New Roman"/>
                <a:ea typeface="Times New Roman"/>
                <a:cs typeface="Times New Roman"/>
              </a:defRPr>
            </a:lvl5pPr>
            <a:lvl6pPr algn="l">
              <a:defRPr sz="2100" b="1">
                <a:solidFill>
                  <a:srgbClr val="202D3D"/>
                </a:solidFill>
                <a:latin typeface="Times New Roman"/>
                <a:ea typeface="Times New Roman"/>
                <a:cs typeface="Times New Roman"/>
              </a:defRPr>
            </a:lvl6pPr>
            <a:lvl7pPr algn="l">
              <a:defRPr sz="2100" b="1">
                <a:solidFill>
                  <a:srgbClr val="202D3D"/>
                </a:solidFill>
                <a:latin typeface="Times New Roman"/>
                <a:ea typeface="Times New Roman"/>
                <a:cs typeface="Times New Roman"/>
              </a:defRPr>
            </a:lvl7pPr>
            <a:lvl8pPr algn="l">
              <a:defRPr sz="2100" b="1">
                <a:solidFill>
                  <a:srgbClr val="202D3D"/>
                </a:solidFill>
                <a:latin typeface="Times New Roman"/>
                <a:ea typeface="Times New Roman"/>
                <a:cs typeface="Times New Roman"/>
              </a:defRPr>
            </a:lvl8pPr>
            <a:lvl9pPr algn="l">
              <a:defRPr sz="2100" b="1">
                <a:solidFill>
                  <a:srgbClr val="202D3D"/>
                </a:solidFill>
                <a:latin typeface="Times New Roman"/>
                <a:ea typeface="Times New Roman"/>
                <a:cs typeface="Times New Roman"/>
              </a:defRPr>
            </a:lvl9pPr>
          </a:lstStyle>
          <a:p>
            <a:pPr algn="l">
              <a:defRPr sz="2100" b="1">
                <a:solidFill>
                  <a:srgbClr val="202D3D"/>
                </a:solidFill>
                <a:latin typeface="Times New Roman"/>
                <a:ea typeface="Times New Roman"/>
                <a:cs typeface="Times New Roman"/>
              </a:defRPr>
            </a:pPr>
            <a:r>
              <a:rPr sz="2100" b="1">
                <a:solidFill>
                  <a:srgbClr val="202D3D"/>
                </a:solidFill>
                <a:latin typeface="Times New Roman"/>
                <a:ea typeface="Times New Roman"/>
                <a:cs typeface="Times New Roman"/>
              </a:rPr>
              <a:t>Dense word vectors with 100 values</a:t>
            </a:r>
          </a:p>
        </p:txBody>
      </p:sp>
      <p:sp>
        <p:nvSpPr>
          <p:cNvPr id="11" name="20,000 vocabulary entries&#10;450 tokens per review&#10;94.70% lexical vo">
            <a:extLst>
              <a:ext uri="{FF2B5EF4-FFF2-40B4-BE49-F238E27FC236}">
                <a16:creationId xmlns:a16="http://schemas.microsoft.com/office/drawing/2014/main" id="{292735AA-C4AD-4B1D-854A-5A18B55CB57D}"/>
              </a:ext>
            </a:extLst>
          </p:cNvPr>
          <p:cNvSpPr>
            <a:spLocks noGrp="1"/>
          </p:cNvSpPr>
          <p:nvPr/>
        </p:nvSpPr>
        <p:spPr>
          <a:xfrm>
            <a:off x="6286500" y="3295650"/>
            <a:ext cx="5295900" cy="1219200"/>
          </a:xfrm>
          <a:prstGeom prst="rect">
            <a:avLst/>
          </a:prstGeom>
          <a:noFill/>
          <a:ln w="0">
            <a:noFill/>
          </a:ln>
        </p:spPr>
        <p:txBody>
          <a:bodyPr wrap="square" lIns="0" tIns="0" rIns="0" bIns="0" anchor="t">
            <a:noAutofit/>
          </a:bodyPr>
          <a:lstStyle>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Up to 20,000 vocabulary entries</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Maximum 450 tokens per review</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100 numbers per word</a:t>
            </a:r>
          </a:p>
        </p:txBody>
      </p:sp>
      <p:sp>
        <p:nvSpPr>
          <p:cNvPr id="12" name="Why: pretrained word information&#10;for CNN pattern detectors">
            <a:extLst>
              <a:ext uri="{FF2B5EF4-FFF2-40B4-BE49-F238E27FC236}">
                <a16:creationId xmlns:a16="http://schemas.microsoft.com/office/drawing/2014/main" id="{8101A260-E61C-4DA2-9F70-D7F6AF756FA2}"/>
              </a:ext>
            </a:extLst>
          </p:cNvPr>
          <p:cNvSpPr>
            <a:spLocks noGrp="1"/>
          </p:cNvSpPr>
          <p:nvPr/>
        </p:nvSpPr>
        <p:spPr>
          <a:xfrm>
            <a:off x="6286500" y="4800600"/>
            <a:ext cx="5295900" cy="895350"/>
          </a:xfrm>
          <a:prstGeom prst="rect">
            <a:avLst/>
          </a:prstGeom>
          <a:noFill/>
          <a:ln w="0">
            <a:noFill/>
          </a:ln>
        </p:spPr>
        <p:txBody>
          <a:bodyPr wrap="square" lIns="0" tIns="0" rIns="0" bIns="0" anchor="t">
            <a:noAutofit/>
          </a:bodyPr>
          <a:lstStyle>
            <a:defPPr algn="l">
              <a:defRPr sz="1875" b="0">
                <a:solidFill>
                  <a:srgbClr val="202D3D"/>
                </a:solidFill>
                <a:latin typeface="Times New Roman"/>
                <a:ea typeface="Times New Roman"/>
                <a:cs typeface="Times New Roman"/>
              </a:defRPr>
            </a:defPPr>
            <a:lvl1pPr algn="l">
              <a:defRPr sz="1875" b="0">
                <a:solidFill>
                  <a:srgbClr val="202D3D"/>
                </a:solidFill>
                <a:latin typeface="Times New Roman"/>
                <a:ea typeface="Times New Roman"/>
                <a:cs typeface="Times New Roman"/>
              </a:defRPr>
            </a:lvl1pPr>
            <a:lvl2pPr algn="l">
              <a:defRPr sz="1875" b="0">
                <a:solidFill>
                  <a:srgbClr val="202D3D"/>
                </a:solidFill>
                <a:latin typeface="Times New Roman"/>
                <a:ea typeface="Times New Roman"/>
                <a:cs typeface="Times New Roman"/>
              </a:defRPr>
            </a:lvl2pPr>
            <a:lvl3pPr algn="l">
              <a:defRPr sz="1875" b="0">
                <a:solidFill>
                  <a:srgbClr val="202D3D"/>
                </a:solidFill>
                <a:latin typeface="Times New Roman"/>
                <a:ea typeface="Times New Roman"/>
                <a:cs typeface="Times New Roman"/>
              </a:defRPr>
            </a:lvl3pPr>
            <a:lvl4pPr algn="l">
              <a:defRPr sz="1875" b="0">
                <a:solidFill>
                  <a:srgbClr val="202D3D"/>
                </a:solidFill>
                <a:latin typeface="Times New Roman"/>
                <a:ea typeface="Times New Roman"/>
                <a:cs typeface="Times New Roman"/>
              </a:defRPr>
            </a:lvl4pPr>
            <a:lvl5pPr algn="l">
              <a:defRPr sz="1875" b="0">
                <a:solidFill>
                  <a:srgbClr val="202D3D"/>
                </a:solidFill>
                <a:latin typeface="Times New Roman"/>
                <a:ea typeface="Times New Roman"/>
                <a:cs typeface="Times New Roman"/>
              </a:defRPr>
            </a:lvl5pPr>
            <a:lvl6pPr algn="l">
              <a:defRPr sz="1875" b="0">
                <a:solidFill>
                  <a:srgbClr val="202D3D"/>
                </a:solidFill>
                <a:latin typeface="Times New Roman"/>
                <a:ea typeface="Times New Roman"/>
                <a:cs typeface="Times New Roman"/>
              </a:defRPr>
            </a:lvl6pPr>
            <a:lvl7pPr algn="l">
              <a:defRPr sz="1875" b="0">
                <a:solidFill>
                  <a:srgbClr val="202D3D"/>
                </a:solidFill>
                <a:latin typeface="Times New Roman"/>
                <a:ea typeface="Times New Roman"/>
                <a:cs typeface="Times New Roman"/>
              </a:defRPr>
            </a:lvl7pPr>
            <a:lvl8pPr algn="l">
              <a:defRPr sz="1875" b="0">
                <a:solidFill>
                  <a:srgbClr val="202D3D"/>
                </a:solidFill>
                <a:latin typeface="Times New Roman"/>
                <a:ea typeface="Times New Roman"/>
                <a:cs typeface="Times New Roman"/>
              </a:defRPr>
            </a:lvl8pPr>
            <a:lvl9pPr algn="l">
              <a:defRPr sz="1875" b="0">
                <a:solidFill>
                  <a:srgbClr val="202D3D"/>
                </a:solidFill>
                <a:latin typeface="Times New Roman"/>
                <a:ea typeface="Times New Roman"/>
                <a:cs typeface="Times New Roman"/>
              </a:defRPr>
            </a:lvl9pPr>
          </a:lstStyle>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Pretrained word information for CNN</a:t>
            </a:r>
          </a:p>
        </p:txBody>
      </p:sp>
      <p:sp>
        <p:nvSpPr>
          <p:cNvPr id="13" name="Fit TF-IDF and adapt the CNN vocabulary on training reviews only">
            <a:extLst>
              <a:ext uri="{FF2B5EF4-FFF2-40B4-BE49-F238E27FC236}">
                <a16:creationId xmlns:a16="http://schemas.microsoft.com/office/drawing/2014/main" id="{0FD3C3C3-3617-49F4-8B98-1018295BD8C0}"/>
              </a:ext>
            </a:extLst>
          </p:cNvPr>
          <p:cNvSpPr>
            <a:spLocks noGrp="1"/>
          </p:cNvSpPr>
          <p:nvPr/>
        </p:nvSpPr>
        <p:spPr>
          <a:xfrm>
            <a:off x="609600" y="5886450"/>
            <a:ext cx="10972800" cy="333375"/>
          </a:xfrm>
          <a:prstGeom prst="rect">
            <a:avLst/>
          </a:prstGeom>
          <a:noFill/>
          <a:ln w="0">
            <a:noFill/>
          </a:ln>
        </p:spPr>
        <p:txBody>
          <a:bodyPr wrap="square" lIns="0" tIns="0" rIns="0" bIns="0" anchor="t">
            <a:noAutofit/>
          </a:bodyPr>
          <a:lstStyle>
            <a:defPPr algn="l">
              <a:defRPr sz="1650" b="1">
                <a:solidFill>
                  <a:srgbClr val="202D3D"/>
                </a:solidFill>
                <a:latin typeface="Times New Roman"/>
                <a:ea typeface="Times New Roman"/>
                <a:cs typeface="Times New Roman"/>
              </a:defRPr>
            </a:defPPr>
            <a:lvl1pPr algn="l">
              <a:defRPr sz="1650" b="1">
                <a:solidFill>
                  <a:srgbClr val="202D3D"/>
                </a:solidFill>
                <a:latin typeface="Times New Roman"/>
                <a:ea typeface="Times New Roman"/>
                <a:cs typeface="Times New Roman"/>
              </a:defRPr>
            </a:lvl1pPr>
            <a:lvl2pPr algn="l">
              <a:defRPr sz="1650" b="1">
                <a:solidFill>
                  <a:srgbClr val="202D3D"/>
                </a:solidFill>
                <a:latin typeface="Times New Roman"/>
                <a:ea typeface="Times New Roman"/>
                <a:cs typeface="Times New Roman"/>
              </a:defRPr>
            </a:lvl2pPr>
            <a:lvl3pPr algn="l">
              <a:defRPr sz="1650" b="1">
                <a:solidFill>
                  <a:srgbClr val="202D3D"/>
                </a:solidFill>
                <a:latin typeface="Times New Roman"/>
                <a:ea typeface="Times New Roman"/>
                <a:cs typeface="Times New Roman"/>
              </a:defRPr>
            </a:lvl3pPr>
            <a:lvl4pPr algn="l">
              <a:defRPr sz="1650" b="1">
                <a:solidFill>
                  <a:srgbClr val="202D3D"/>
                </a:solidFill>
                <a:latin typeface="Times New Roman"/>
                <a:ea typeface="Times New Roman"/>
                <a:cs typeface="Times New Roman"/>
              </a:defRPr>
            </a:lvl4pPr>
            <a:lvl5pPr algn="l">
              <a:defRPr sz="1650" b="1">
                <a:solidFill>
                  <a:srgbClr val="202D3D"/>
                </a:solidFill>
                <a:latin typeface="Times New Roman"/>
                <a:ea typeface="Times New Roman"/>
                <a:cs typeface="Times New Roman"/>
              </a:defRPr>
            </a:lvl5pPr>
            <a:lvl6pPr algn="l">
              <a:defRPr sz="1650" b="1">
                <a:solidFill>
                  <a:srgbClr val="202D3D"/>
                </a:solidFill>
                <a:latin typeface="Times New Roman"/>
                <a:ea typeface="Times New Roman"/>
                <a:cs typeface="Times New Roman"/>
              </a:defRPr>
            </a:lvl6pPr>
            <a:lvl7pPr algn="l">
              <a:defRPr sz="1650" b="1">
                <a:solidFill>
                  <a:srgbClr val="202D3D"/>
                </a:solidFill>
                <a:latin typeface="Times New Roman"/>
                <a:ea typeface="Times New Roman"/>
                <a:cs typeface="Times New Roman"/>
              </a:defRPr>
            </a:lvl7pPr>
            <a:lvl8pPr algn="l">
              <a:defRPr sz="1650" b="1">
                <a:solidFill>
                  <a:srgbClr val="202D3D"/>
                </a:solidFill>
                <a:latin typeface="Times New Roman"/>
                <a:ea typeface="Times New Roman"/>
                <a:cs typeface="Times New Roman"/>
              </a:defRPr>
            </a:lvl8pPr>
            <a:lvl9pPr algn="l">
              <a:defRPr sz="1650" b="1">
                <a:solidFill>
                  <a:srgbClr val="202D3D"/>
                </a:solidFill>
                <a:latin typeface="Times New Roman"/>
                <a:ea typeface="Times New Roman"/>
                <a:cs typeface="Times New Roman"/>
              </a:defRPr>
            </a:lvl9pPr>
          </a:lstStyle>
          <a:p>
            <a:pPr algn="l">
              <a:defRPr sz="1650" b="1">
                <a:solidFill>
                  <a:srgbClr val="202D3D"/>
                </a:solidFill>
                <a:latin typeface="Times New Roman"/>
                <a:ea typeface="Times New Roman"/>
                <a:cs typeface="Times New Roman"/>
              </a:defRPr>
            </a:pPr>
            <a:r>
              <a:rPr sz="1650" b="1">
                <a:solidFill>
                  <a:srgbClr val="202D3D"/>
                </a:solidFill>
                <a:latin typeface="Times New Roman"/>
                <a:ea typeface="Times New Roman"/>
                <a:cs typeface="Times New Roman"/>
              </a:rPr>
              <a:t>Both vocabularies use training reviews only</a:t>
            </a:r>
          </a:p>
        </p:txBody>
      </p:sp>
    </p:spTree>
    <p:extLst>
      <p:ext uri="{BB962C8B-B14F-4D97-AF65-F5344CB8AC3E}">
        <p14:creationId xmlns:p14="http://schemas.microsoft.com/office/powerpoint/2010/main" val="70716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F-IDF with a linear SVM">
            <a:extLst>
              <a:ext uri="{FF2B5EF4-FFF2-40B4-BE49-F238E27FC236}">
                <a16:creationId xmlns:a16="http://schemas.microsoft.com/office/drawing/2014/main" id="{949A9B61-7A78-4FB6-9206-20F589DED84B}"/>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TF-IDF with SVM</a:t>
            </a:r>
          </a:p>
        </p:txBody>
      </p:sp>
      <p:sp>
        <p:nvSpPr>
          <p:cNvPr id="2" name="Straight Connector 1">
            <a:extLst>
              <a:ext uri="{FF2B5EF4-FFF2-40B4-BE49-F238E27FC236}">
                <a16:creationId xmlns:a16="http://schemas.microsoft.com/office/drawing/2014/main" id="{4D537E0C-604D-4BE9-8C2B-5706A118AB1C}"/>
              </a:ext>
            </a:extLst>
          </p:cNvPr>
          <p:cNvSpPr>
            <a:spLocks noGrp="1"/>
          </p:cNvSpPr>
          <p:nvPr/>
        </p:nvSpPr>
        <p:spPr>
          <a:xfrm>
            <a:off x="609600" y="1266825"/>
            <a:ext cx="10972800" cy="0"/>
          </a:xfrm>
          <a:prstGeom prst="line">
            <a:avLst/>
          </a:prstGeom>
          <a:ln w="28575">
            <a:solidFill>
              <a:srgbClr val="2563EB"/>
            </a:solidFill>
            <a:prstDash val="solid"/>
          </a:ln>
        </p:spPr>
      </p:sp>
      <p:sp>
        <p:nvSpPr>
          <p:cNvPr id="3" name="4. Modeling">
            <a:extLst>
              <a:ext uri="{FF2B5EF4-FFF2-40B4-BE49-F238E27FC236}">
                <a16:creationId xmlns:a16="http://schemas.microsoft.com/office/drawing/2014/main" id="{33FC87B2-B27D-44A2-B6D5-676932160CD8}"/>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4. Modeling</a:t>
            </a:r>
          </a:p>
        </p:txBody>
      </p:sp>
      <p:sp>
        <p:nvSpPr>
          <p:cNvPr id="4" name="06 / 13">
            <a:extLst>
              <a:ext uri="{FF2B5EF4-FFF2-40B4-BE49-F238E27FC236}">
                <a16:creationId xmlns:a16="http://schemas.microsoft.com/office/drawing/2014/main" id="{D0798F2A-6541-4C44-9291-2247FCE8CA39}"/>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06 / 14</a:t>
            </a:r>
          </a:p>
        </p:txBody>
      </p:sp>
      <p:sp>
        <p:nvSpPr>
          <p:cNvPr id="5" name="LinearSVC">
            <a:extLst>
              <a:ext uri="{FF2B5EF4-FFF2-40B4-BE49-F238E27FC236}">
                <a16:creationId xmlns:a16="http://schemas.microsoft.com/office/drawing/2014/main" id="{FB5466D6-ED97-445C-9978-9DEDF08A2207}"/>
              </a:ext>
            </a:extLst>
          </p:cNvPr>
          <p:cNvSpPr>
            <a:spLocks noGrp="1"/>
          </p:cNvSpPr>
          <p:nvPr/>
        </p:nvSpPr>
        <p:spPr>
          <a:xfrm>
            <a:off x="609600" y="1724025"/>
            <a:ext cx="4953000" cy="466725"/>
          </a:xfrm>
          <a:prstGeom prst="rect">
            <a:avLst/>
          </a:prstGeom>
          <a:noFill/>
          <a:ln w="0">
            <a:noFill/>
          </a:ln>
        </p:spPr>
        <p:txBody>
          <a:bodyPr wrap="square" lIns="0" tIns="0" rIns="0" bIns="0" anchor="t">
            <a:noAutofit/>
          </a:bodyPr>
          <a:lstStyle>
            <a:defPPr algn="l">
              <a:defRPr sz="2775" b="1">
                <a:solidFill>
                  <a:srgbClr val="2563EB"/>
                </a:solidFill>
                <a:latin typeface="Times New Roman"/>
                <a:ea typeface="Times New Roman"/>
                <a:cs typeface="Times New Roman"/>
              </a:defRPr>
            </a:defPPr>
            <a:lvl1pPr algn="l">
              <a:defRPr sz="2775" b="1">
                <a:solidFill>
                  <a:srgbClr val="2563EB"/>
                </a:solidFill>
                <a:latin typeface="Times New Roman"/>
                <a:ea typeface="Times New Roman"/>
                <a:cs typeface="Times New Roman"/>
              </a:defRPr>
            </a:lvl1pPr>
            <a:lvl2pPr algn="l">
              <a:defRPr sz="2775" b="1">
                <a:solidFill>
                  <a:srgbClr val="2563EB"/>
                </a:solidFill>
                <a:latin typeface="Times New Roman"/>
                <a:ea typeface="Times New Roman"/>
                <a:cs typeface="Times New Roman"/>
              </a:defRPr>
            </a:lvl2pPr>
            <a:lvl3pPr algn="l">
              <a:defRPr sz="2775" b="1">
                <a:solidFill>
                  <a:srgbClr val="2563EB"/>
                </a:solidFill>
                <a:latin typeface="Times New Roman"/>
                <a:ea typeface="Times New Roman"/>
                <a:cs typeface="Times New Roman"/>
              </a:defRPr>
            </a:lvl3pPr>
            <a:lvl4pPr algn="l">
              <a:defRPr sz="2775" b="1">
                <a:solidFill>
                  <a:srgbClr val="2563EB"/>
                </a:solidFill>
                <a:latin typeface="Times New Roman"/>
                <a:ea typeface="Times New Roman"/>
                <a:cs typeface="Times New Roman"/>
              </a:defRPr>
            </a:lvl4pPr>
            <a:lvl5pPr algn="l">
              <a:defRPr sz="2775" b="1">
                <a:solidFill>
                  <a:srgbClr val="2563EB"/>
                </a:solidFill>
                <a:latin typeface="Times New Roman"/>
                <a:ea typeface="Times New Roman"/>
                <a:cs typeface="Times New Roman"/>
              </a:defRPr>
            </a:lvl5pPr>
            <a:lvl6pPr algn="l">
              <a:defRPr sz="2775" b="1">
                <a:solidFill>
                  <a:srgbClr val="2563EB"/>
                </a:solidFill>
                <a:latin typeface="Times New Roman"/>
                <a:ea typeface="Times New Roman"/>
                <a:cs typeface="Times New Roman"/>
              </a:defRPr>
            </a:lvl6pPr>
            <a:lvl7pPr algn="l">
              <a:defRPr sz="2775" b="1">
                <a:solidFill>
                  <a:srgbClr val="2563EB"/>
                </a:solidFill>
                <a:latin typeface="Times New Roman"/>
                <a:ea typeface="Times New Roman"/>
                <a:cs typeface="Times New Roman"/>
              </a:defRPr>
            </a:lvl7pPr>
            <a:lvl8pPr algn="l">
              <a:defRPr sz="2775" b="1">
                <a:solidFill>
                  <a:srgbClr val="2563EB"/>
                </a:solidFill>
                <a:latin typeface="Times New Roman"/>
                <a:ea typeface="Times New Roman"/>
                <a:cs typeface="Times New Roman"/>
              </a:defRPr>
            </a:lvl8pPr>
            <a:lvl9pPr algn="l">
              <a:defRPr sz="2775" b="1">
                <a:solidFill>
                  <a:srgbClr val="2563EB"/>
                </a:solidFill>
                <a:latin typeface="Times New Roman"/>
                <a:ea typeface="Times New Roman"/>
                <a:cs typeface="Times New Roman"/>
              </a:defRPr>
            </a:lvl9pPr>
          </a:lstStyle>
          <a:p>
            <a:pPr algn="l">
              <a:defRPr sz="2775" b="1">
                <a:solidFill>
                  <a:srgbClr val="2563EB"/>
                </a:solidFill>
                <a:latin typeface="Times New Roman"/>
                <a:ea typeface="Times New Roman"/>
                <a:cs typeface="Times New Roman"/>
              </a:defRPr>
            </a:pPr>
            <a:r>
              <a:rPr sz="2625" b="1">
                <a:solidFill>
                  <a:srgbClr val="2563EB"/>
                </a:solidFill>
                <a:latin typeface="Times New Roman"/>
                <a:ea typeface="Times New Roman"/>
                <a:cs typeface="Times New Roman"/>
              </a:rPr>
              <a:t>Support Vector Machine</a:t>
            </a:r>
          </a:p>
        </p:txBody>
      </p:sp>
      <p:sp>
        <p:nvSpPr>
          <p:cNvPr id="6" name="C = 1.0&#10;max_iter = 5,000&#10;random_state = 42">
            <a:extLst>
              <a:ext uri="{FF2B5EF4-FFF2-40B4-BE49-F238E27FC236}">
                <a16:creationId xmlns:a16="http://schemas.microsoft.com/office/drawing/2014/main" id="{70A56ED1-B169-4B9D-B23D-299DE866B4CB}"/>
              </a:ext>
            </a:extLst>
          </p:cNvPr>
          <p:cNvSpPr>
            <a:spLocks noGrp="1"/>
          </p:cNvSpPr>
          <p:nvPr/>
        </p:nvSpPr>
        <p:spPr>
          <a:xfrm>
            <a:off x="609600" y="2428875"/>
            <a:ext cx="4762500" cy="1171575"/>
          </a:xfrm>
          <a:prstGeom prst="rect">
            <a:avLst/>
          </a:prstGeom>
          <a:noFill/>
          <a:ln w="0">
            <a:noFill/>
          </a:ln>
        </p:spPr>
        <p:txBody>
          <a:bodyPr wrap="square" lIns="0" tIns="0" rIns="0" bIns="0" anchor="t">
            <a:noAutofit/>
          </a:bodyPr>
          <a:lstStyle>
            <a:defPPr algn="l">
              <a:defRPr sz="2025" b="0">
                <a:solidFill>
                  <a:srgbClr val="202D3D"/>
                </a:solidFill>
                <a:latin typeface="Times New Roman"/>
                <a:ea typeface="Times New Roman"/>
                <a:cs typeface="Times New Roman"/>
              </a:defRPr>
            </a:defPPr>
            <a:lvl1pPr algn="l">
              <a:defRPr sz="2025" b="0">
                <a:solidFill>
                  <a:srgbClr val="202D3D"/>
                </a:solidFill>
                <a:latin typeface="Times New Roman"/>
                <a:ea typeface="Times New Roman"/>
                <a:cs typeface="Times New Roman"/>
              </a:defRPr>
            </a:lvl1pPr>
            <a:lvl2pPr algn="l">
              <a:defRPr sz="2025" b="0">
                <a:solidFill>
                  <a:srgbClr val="202D3D"/>
                </a:solidFill>
                <a:latin typeface="Times New Roman"/>
                <a:ea typeface="Times New Roman"/>
                <a:cs typeface="Times New Roman"/>
              </a:defRPr>
            </a:lvl2pPr>
            <a:lvl3pPr algn="l">
              <a:defRPr sz="2025" b="0">
                <a:solidFill>
                  <a:srgbClr val="202D3D"/>
                </a:solidFill>
                <a:latin typeface="Times New Roman"/>
                <a:ea typeface="Times New Roman"/>
                <a:cs typeface="Times New Roman"/>
              </a:defRPr>
            </a:lvl3pPr>
            <a:lvl4pPr algn="l">
              <a:defRPr sz="2025" b="0">
                <a:solidFill>
                  <a:srgbClr val="202D3D"/>
                </a:solidFill>
                <a:latin typeface="Times New Roman"/>
                <a:ea typeface="Times New Roman"/>
                <a:cs typeface="Times New Roman"/>
              </a:defRPr>
            </a:lvl4pPr>
            <a:lvl5pPr algn="l">
              <a:defRPr sz="2025" b="0">
                <a:solidFill>
                  <a:srgbClr val="202D3D"/>
                </a:solidFill>
                <a:latin typeface="Times New Roman"/>
                <a:ea typeface="Times New Roman"/>
                <a:cs typeface="Times New Roman"/>
              </a:defRPr>
            </a:lvl5pPr>
            <a:lvl6pPr algn="l">
              <a:defRPr sz="2025" b="0">
                <a:solidFill>
                  <a:srgbClr val="202D3D"/>
                </a:solidFill>
                <a:latin typeface="Times New Roman"/>
                <a:ea typeface="Times New Roman"/>
                <a:cs typeface="Times New Roman"/>
              </a:defRPr>
            </a:lvl6pPr>
            <a:lvl7pPr algn="l">
              <a:defRPr sz="2025" b="0">
                <a:solidFill>
                  <a:srgbClr val="202D3D"/>
                </a:solidFill>
                <a:latin typeface="Times New Roman"/>
                <a:ea typeface="Times New Roman"/>
                <a:cs typeface="Times New Roman"/>
              </a:defRPr>
            </a:lvl7pPr>
            <a:lvl8pPr algn="l">
              <a:defRPr sz="2025" b="0">
                <a:solidFill>
                  <a:srgbClr val="202D3D"/>
                </a:solidFill>
                <a:latin typeface="Times New Roman"/>
                <a:ea typeface="Times New Roman"/>
                <a:cs typeface="Times New Roman"/>
              </a:defRPr>
            </a:lvl8pPr>
            <a:lvl9pPr algn="l">
              <a:defRPr sz="2025" b="0">
                <a:solidFill>
                  <a:srgbClr val="202D3D"/>
                </a:solidFill>
                <a:latin typeface="Times New Roman"/>
                <a:ea typeface="Times New Roman"/>
                <a:cs typeface="Times New Roman"/>
              </a:defRPr>
            </a:lvl9pPr>
          </a:lstStyle>
          <a:p>
            <a:pPr algn="l">
              <a:defRPr sz="2025" b="0">
                <a:solidFill>
                  <a:srgbClr val="202D3D"/>
                </a:solidFill>
                <a:latin typeface="Times New Roman"/>
                <a:ea typeface="Times New Roman"/>
                <a:cs typeface="Times New Roman"/>
              </a:defRPr>
            </a:pPr>
            <a:r>
              <a:rPr sz="2025" b="0">
                <a:solidFill>
                  <a:srgbClr val="202D3D"/>
                </a:solidFill>
                <a:latin typeface="Times New Roman"/>
                <a:ea typeface="Times New Roman"/>
                <a:cs typeface="Times New Roman"/>
              </a:rPr>
              <a:t>Input: TF-IDF features</a:t>
            </a:r>
          </a:p>
          <a:p>
            <a:pPr algn="l">
              <a:defRPr sz="2025" b="0">
                <a:solidFill>
                  <a:srgbClr val="202D3D"/>
                </a:solidFill>
                <a:latin typeface="Times New Roman"/>
                <a:ea typeface="Times New Roman"/>
                <a:cs typeface="Times New Roman"/>
              </a:defRPr>
            </a:pPr>
            <a:r>
              <a:rPr sz="2025" b="0">
                <a:solidFill>
                  <a:srgbClr val="202D3D"/>
                </a:solidFill>
                <a:latin typeface="Times New Roman"/>
                <a:ea typeface="Times New Roman"/>
                <a:cs typeface="Times New Roman"/>
              </a:rPr>
              <a:t>Output: positive or negative</a:t>
            </a:r>
          </a:p>
          <a:p>
            <a:pPr algn="l">
              <a:defRPr sz="2025" b="0">
                <a:solidFill>
                  <a:srgbClr val="202D3D"/>
                </a:solidFill>
                <a:latin typeface="Times New Roman"/>
                <a:ea typeface="Times New Roman"/>
                <a:cs typeface="Times New Roman"/>
              </a:defRPr>
            </a:pPr>
            <a:r>
              <a:rPr sz="2025" b="0">
                <a:solidFill>
                  <a:srgbClr val="202D3D"/>
                </a:solidFill>
                <a:latin typeface="Times New Roman"/>
                <a:ea typeface="Times New Roman"/>
                <a:cs typeface="Times New Roman"/>
              </a:rPr>
              <a:t>Model: linear SVM</a:t>
            </a:r>
          </a:p>
        </p:txBody>
      </p:sp>
      <p:sp>
        <p:nvSpPr>
          <p:cNvPr id="7" name="A linear boundary in sparse text space">
            <a:extLst>
              <a:ext uri="{FF2B5EF4-FFF2-40B4-BE49-F238E27FC236}">
                <a16:creationId xmlns:a16="http://schemas.microsoft.com/office/drawing/2014/main" id="{D044D30F-348C-49B8-AA4E-26921B78578A}"/>
              </a:ext>
            </a:extLst>
          </p:cNvPr>
          <p:cNvSpPr>
            <a:spLocks noGrp="1"/>
          </p:cNvSpPr>
          <p:nvPr/>
        </p:nvSpPr>
        <p:spPr>
          <a:xfrm>
            <a:off x="609600" y="3895725"/>
            <a:ext cx="4953000" cy="723900"/>
          </a:xfrm>
          <a:prstGeom prst="rect">
            <a:avLst/>
          </a:prstGeom>
          <a:noFill/>
          <a:ln w="0">
            <a:noFill/>
          </a:ln>
        </p:spPr>
        <p:txBody>
          <a:bodyPr wrap="square" lIns="0" tIns="0" rIns="0" bIns="0" anchor="t">
            <a:noAutofit/>
          </a:bodyPr>
          <a:lstStyle>
            <a:defPPr algn="l">
              <a:defRPr sz="2100" b="1">
                <a:solidFill>
                  <a:srgbClr val="202D3D"/>
                </a:solidFill>
                <a:latin typeface="Times New Roman"/>
                <a:ea typeface="Times New Roman"/>
                <a:cs typeface="Times New Roman"/>
              </a:defRPr>
            </a:defPPr>
            <a:lvl1pPr algn="l">
              <a:defRPr sz="2100" b="1">
                <a:solidFill>
                  <a:srgbClr val="202D3D"/>
                </a:solidFill>
                <a:latin typeface="Times New Roman"/>
                <a:ea typeface="Times New Roman"/>
                <a:cs typeface="Times New Roman"/>
              </a:defRPr>
            </a:lvl1pPr>
            <a:lvl2pPr algn="l">
              <a:defRPr sz="2100" b="1">
                <a:solidFill>
                  <a:srgbClr val="202D3D"/>
                </a:solidFill>
                <a:latin typeface="Times New Roman"/>
                <a:ea typeface="Times New Roman"/>
                <a:cs typeface="Times New Roman"/>
              </a:defRPr>
            </a:lvl2pPr>
            <a:lvl3pPr algn="l">
              <a:defRPr sz="2100" b="1">
                <a:solidFill>
                  <a:srgbClr val="202D3D"/>
                </a:solidFill>
                <a:latin typeface="Times New Roman"/>
                <a:ea typeface="Times New Roman"/>
                <a:cs typeface="Times New Roman"/>
              </a:defRPr>
            </a:lvl3pPr>
            <a:lvl4pPr algn="l">
              <a:defRPr sz="2100" b="1">
                <a:solidFill>
                  <a:srgbClr val="202D3D"/>
                </a:solidFill>
                <a:latin typeface="Times New Roman"/>
                <a:ea typeface="Times New Roman"/>
                <a:cs typeface="Times New Roman"/>
              </a:defRPr>
            </a:lvl4pPr>
            <a:lvl5pPr algn="l">
              <a:defRPr sz="2100" b="1">
                <a:solidFill>
                  <a:srgbClr val="202D3D"/>
                </a:solidFill>
                <a:latin typeface="Times New Roman"/>
                <a:ea typeface="Times New Roman"/>
                <a:cs typeface="Times New Roman"/>
              </a:defRPr>
            </a:lvl5pPr>
            <a:lvl6pPr algn="l">
              <a:defRPr sz="2100" b="1">
                <a:solidFill>
                  <a:srgbClr val="202D3D"/>
                </a:solidFill>
                <a:latin typeface="Times New Roman"/>
                <a:ea typeface="Times New Roman"/>
                <a:cs typeface="Times New Roman"/>
              </a:defRPr>
            </a:lvl6pPr>
            <a:lvl7pPr algn="l">
              <a:defRPr sz="2100" b="1">
                <a:solidFill>
                  <a:srgbClr val="202D3D"/>
                </a:solidFill>
                <a:latin typeface="Times New Roman"/>
                <a:ea typeface="Times New Roman"/>
                <a:cs typeface="Times New Roman"/>
              </a:defRPr>
            </a:lvl7pPr>
            <a:lvl8pPr algn="l">
              <a:defRPr sz="2100" b="1">
                <a:solidFill>
                  <a:srgbClr val="202D3D"/>
                </a:solidFill>
                <a:latin typeface="Times New Roman"/>
                <a:ea typeface="Times New Roman"/>
                <a:cs typeface="Times New Roman"/>
              </a:defRPr>
            </a:lvl8pPr>
            <a:lvl9pPr algn="l">
              <a:defRPr sz="2100" b="1">
                <a:solidFill>
                  <a:srgbClr val="202D3D"/>
                </a:solidFill>
                <a:latin typeface="Times New Roman"/>
                <a:ea typeface="Times New Roman"/>
                <a:cs typeface="Times New Roman"/>
              </a:defRPr>
            </a:lvl9pPr>
          </a:lstStyle>
          <a:p>
            <a:pPr algn="l">
              <a:defRPr sz="2100" b="1">
                <a:solidFill>
                  <a:srgbClr val="202D3D"/>
                </a:solidFill>
                <a:latin typeface="Times New Roman"/>
                <a:ea typeface="Times New Roman"/>
                <a:cs typeface="Times New Roman"/>
              </a:defRPr>
            </a:pPr>
            <a:r>
              <a:rPr sz="2100" b="1">
                <a:solidFill>
                  <a:srgbClr val="202D3D"/>
                </a:solidFill>
                <a:latin typeface="Times New Roman"/>
                <a:ea typeface="Times New Roman"/>
                <a:cs typeface="Times New Roman"/>
              </a:rPr>
              <a:t>Separates positive and negative reviews</a:t>
            </a:r>
          </a:p>
        </p:txBody>
      </p:sp>
      <p:sp>
        <p:nvSpPr>
          <p:cNvPr id="8" name="Low training cost&#10;Inspectable feature weights">
            <a:extLst>
              <a:ext uri="{FF2B5EF4-FFF2-40B4-BE49-F238E27FC236}">
                <a16:creationId xmlns:a16="http://schemas.microsoft.com/office/drawing/2014/main" id="{77A0205F-F03A-4783-B6A8-4D6B40D808F6}"/>
              </a:ext>
            </a:extLst>
          </p:cNvPr>
          <p:cNvSpPr>
            <a:spLocks noGrp="1"/>
          </p:cNvSpPr>
          <p:nvPr/>
        </p:nvSpPr>
        <p:spPr>
          <a:xfrm>
            <a:off x="609600" y="4857750"/>
            <a:ext cx="4953000" cy="914400"/>
          </a:xfrm>
          <a:prstGeom prst="rect">
            <a:avLst/>
          </a:prstGeom>
          <a:noFill/>
          <a:ln w="0">
            <a:noFill/>
          </a:ln>
        </p:spPr>
        <p:txBody>
          <a:bodyPr wrap="square" lIns="0" tIns="0" rIns="0" bIns="0" anchor="t">
            <a:noAutofit/>
          </a:bodyPr>
          <a:lstStyle>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Efficient for text classification</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Word weights help explain predictions</a:t>
            </a:r>
          </a:p>
        </p:txBody>
      </p:sp>
      <p:graphicFrame>
        <p:nvGraphicFramePr>
          <p:cNvPr id="9" name="Table 8">
            <a:extLst>
              <a:ext uri="{FF2B5EF4-FFF2-40B4-BE49-F238E27FC236}">
                <a16:creationId xmlns:a16="http://schemas.microsoft.com/office/drawing/2014/main" id="{C00C56F6-7A7F-45B0-AD11-6B944408CB01}"/>
              </a:ext>
            </a:extLst>
          </p:cNvPr>
          <p:cNvGraphicFramePr/>
          <p:nvPr/>
        </p:nvGraphicFramePr>
        <p:xfrm>
          <a:off x="6162675" y="1724025"/>
          <a:ext cx="5419725" cy="3371850"/>
        </p:xfrm>
        <a:graphic>
          <a:graphicData uri="http://schemas.openxmlformats.org/drawingml/2006/table">
            <a:tbl>
              <a:tblPr/>
              <a:tblGrid>
                <a:gridCol w="3238500">
                  <a:extLst>
                    <a:ext uri="{9D8B030D-6E8A-4147-A177-3AD203B41FA5}">
                      <a16:colId xmlns:a16="http://schemas.microsoft.com/office/drawing/2014/main" val="20000"/>
                    </a:ext>
                  </a:extLst>
                </a:gridCol>
                <a:gridCol w="2181225">
                  <a:extLst>
                    <a:ext uri="{9D8B030D-6E8A-4147-A177-3AD203B41FA5}">
                      <a16:colId xmlns:a16="http://schemas.microsoft.com/office/drawing/2014/main" val="20001"/>
                    </a:ext>
                  </a:extLst>
                </a:gridCol>
              </a:tblGrid>
              <a:tr h="561975">
                <a:tc>
                  <a:txBody>
                    <a:bodyPr/>
                    <a:lstStyle/>
                    <a:p>
                      <a:pPr algn="l"/>
                      <a:r>
                        <a:rPr sz="1875" b="1">
                          <a:solidFill>
                            <a:srgbClr val="FFFFFF"/>
                          </a:solidFill>
                          <a:latin typeface="Times New Roman"/>
                          <a:ea typeface="Times New Roman"/>
                          <a:cs typeface="Times New Roman"/>
                        </a:rPr>
                        <a:t>Feature</a:t>
                      </a:r>
                    </a:p>
                  </a:txBody>
                  <a:tcPr anchor="ctr">
                    <a:lnL w="9525">
                      <a:solidFill>
                        <a:srgbClr val="AAB9CB"/>
                      </a:solidFill>
                      <a:prstDash val="soli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75" b="1">
                          <a:solidFill>
                            <a:srgbClr val="FFFFFF"/>
                          </a:solidFill>
                          <a:latin typeface="Times New Roman"/>
                          <a:ea typeface="Times New Roman"/>
                          <a:cs typeface="Times New Roman"/>
                        </a:rPr>
                        <a:t>Learned weight</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extLst>
                  <a:ext uri="{0D108BD9-81ED-4DB2-BD59-A6C34878D82A}">
                    <a16:rowId xmlns:a16="http://schemas.microsoft.com/office/drawing/2014/main" val="10000"/>
                  </a:ext>
                </a:extLst>
              </a:tr>
              <a:tr h="561975">
                <a:tc>
                  <a:txBody>
                    <a:bodyPr/>
                    <a:lstStyle/>
                    <a:p>
                      <a:pPr algn="l"/>
                      <a:r>
                        <a:rPr sz="1875" b="0">
                          <a:solidFill>
                            <a:srgbClr val="087F70"/>
                          </a:solidFill>
                          <a:latin typeface="Times New Roman"/>
                          <a:ea typeface="Times New Roman"/>
                          <a:cs typeface="Times New Roman"/>
                        </a:rPr>
                        <a:t>excellent</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75" b="0">
                          <a:solidFill>
                            <a:srgbClr val="087F70"/>
                          </a:solidFill>
                          <a:latin typeface="Times New Roman"/>
                          <a:ea typeface="Times New Roman"/>
                          <a:cs typeface="Times New Roman"/>
                        </a:rPr>
                        <a:t>+3.42</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1"/>
                  </a:ext>
                </a:extLst>
              </a:tr>
              <a:tr h="561975">
                <a:tc>
                  <a:txBody>
                    <a:bodyPr/>
                    <a:lstStyle/>
                    <a:p>
                      <a:pPr algn="l"/>
                      <a:r>
                        <a:rPr sz="1875" b="0">
                          <a:solidFill>
                            <a:srgbClr val="087F70"/>
                          </a:solidFill>
                          <a:latin typeface="Times New Roman"/>
                          <a:ea typeface="Times New Roman"/>
                          <a:cs typeface="Times New Roman"/>
                        </a:rPr>
                        <a:t>great</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75" b="0">
                          <a:solidFill>
                            <a:srgbClr val="087F70"/>
                          </a:solidFill>
                          <a:latin typeface="Times New Roman"/>
                          <a:ea typeface="Times New Roman"/>
                          <a:cs typeface="Times New Roman"/>
                        </a:rPr>
                        <a:t>+3.23</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2"/>
                  </a:ext>
                </a:extLst>
              </a:tr>
              <a:tr h="561975">
                <a:tc>
                  <a:txBody>
                    <a:bodyPr/>
                    <a:lstStyle/>
                    <a:p>
                      <a:pPr algn="l"/>
                      <a:r>
                        <a:rPr sz="1875" b="0">
                          <a:solidFill>
                            <a:srgbClr val="B54708"/>
                          </a:solidFill>
                          <a:latin typeface="Times New Roman"/>
                          <a:ea typeface="Times New Roman"/>
                          <a:cs typeface="Times New Roman"/>
                        </a:rPr>
                        <a:t>awful</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75" b="0">
                          <a:solidFill>
                            <a:srgbClr val="B54708"/>
                          </a:solidFill>
                          <a:latin typeface="Times New Roman"/>
                          <a:ea typeface="Times New Roman"/>
                          <a:cs typeface="Times New Roman"/>
                        </a:rPr>
                        <a:t>-4.60</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3"/>
                  </a:ext>
                </a:extLst>
              </a:tr>
              <a:tr h="561975">
                <a:tc>
                  <a:txBody>
                    <a:bodyPr/>
                    <a:lstStyle/>
                    <a:p>
                      <a:pPr algn="l"/>
                      <a:r>
                        <a:rPr sz="1875" b="0">
                          <a:solidFill>
                            <a:srgbClr val="B54708"/>
                          </a:solidFill>
                          <a:latin typeface="Times New Roman"/>
                          <a:ea typeface="Times New Roman"/>
                          <a:cs typeface="Times New Roman"/>
                        </a:rPr>
                        <a:t>bad</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75" b="0">
                          <a:solidFill>
                            <a:srgbClr val="B54708"/>
                          </a:solidFill>
                          <a:latin typeface="Times New Roman"/>
                          <a:ea typeface="Times New Roman"/>
                          <a:cs typeface="Times New Roman"/>
                        </a:rPr>
                        <a:t>-4.58</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4"/>
                  </a:ext>
                </a:extLst>
              </a:tr>
              <a:tr h="561975">
                <a:tc>
                  <a:txBody>
                    <a:bodyPr/>
                    <a:lstStyle/>
                    <a:p>
                      <a:pPr algn="l"/>
                      <a:r>
                        <a:rPr sz="1875" b="0">
                          <a:solidFill>
                            <a:srgbClr val="B54708"/>
                          </a:solidFill>
                          <a:latin typeface="Times New Roman"/>
                          <a:ea typeface="Times New Roman"/>
                          <a:cs typeface="Times New Roman"/>
                        </a:rPr>
                        <a:t>not recommend</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75" b="0">
                          <a:solidFill>
                            <a:srgbClr val="B54708"/>
                          </a:solidFill>
                          <a:latin typeface="Times New Roman"/>
                          <a:ea typeface="Times New Roman"/>
                          <a:cs typeface="Times New Roman"/>
                        </a:rPr>
                        <a:t>-3.53</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5"/>
                  </a:ext>
                </a:extLst>
              </a:tr>
            </a:tbl>
          </a:graphicData>
        </a:graphic>
      </p:graphicFrame>
      <p:sp>
        <p:nvSpPr>
          <p:cNvPr id="10" name="Weights express learned associations.&#10;A word has no fixed sentime">
            <a:extLst>
              <a:ext uri="{FF2B5EF4-FFF2-40B4-BE49-F238E27FC236}">
                <a16:creationId xmlns:a16="http://schemas.microsoft.com/office/drawing/2014/main" id="{2DA2A8E4-EF61-423B-8D1C-DDA73452492F}"/>
              </a:ext>
            </a:extLst>
          </p:cNvPr>
          <p:cNvSpPr>
            <a:spLocks noGrp="1"/>
          </p:cNvSpPr>
          <p:nvPr/>
        </p:nvSpPr>
        <p:spPr>
          <a:xfrm>
            <a:off x="6162675" y="5419725"/>
            <a:ext cx="5419725" cy="704850"/>
          </a:xfrm>
          <a:prstGeom prst="rect">
            <a:avLst/>
          </a:prstGeom>
          <a:noFill/>
          <a:ln w="0">
            <a:noFill/>
          </a:ln>
        </p:spPr>
        <p:txBody>
          <a:bodyPr wrap="square" lIns="0" tIns="0" rIns="0" bIns="0" anchor="t">
            <a:noAutofit/>
          </a:bodyPr>
          <a:lstStyle>
            <a:defPPr algn="l">
              <a:defRPr sz="1800" b="0">
                <a:solidFill>
                  <a:srgbClr val="202D3D"/>
                </a:solidFill>
                <a:latin typeface="Times New Roman"/>
                <a:ea typeface="Times New Roman"/>
                <a:cs typeface="Times New Roman"/>
              </a:defRPr>
            </a:defPPr>
            <a:lvl1pPr algn="l">
              <a:defRPr sz="1800" b="0">
                <a:solidFill>
                  <a:srgbClr val="202D3D"/>
                </a:solidFill>
                <a:latin typeface="Times New Roman"/>
                <a:ea typeface="Times New Roman"/>
                <a:cs typeface="Times New Roman"/>
              </a:defRPr>
            </a:lvl1pPr>
            <a:lvl2pPr algn="l">
              <a:defRPr sz="1800" b="0">
                <a:solidFill>
                  <a:srgbClr val="202D3D"/>
                </a:solidFill>
                <a:latin typeface="Times New Roman"/>
                <a:ea typeface="Times New Roman"/>
                <a:cs typeface="Times New Roman"/>
              </a:defRPr>
            </a:lvl2pPr>
            <a:lvl3pPr algn="l">
              <a:defRPr sz="1800" b="0">
                <a:solidFill>
                  <a:srgbClr val="202D3D"/>
                </a:solidFill>
                <a:latin typeface="Times New Roman"/>
                <a:ea typeface="Times New Roman"/>
                <a:cs typeface="Times New Roman"/>
              </a:defRPr>
            </a:lvl3pPr>
            <a:lvl4pPr algn="l">
              <a:defRPr sz="1800" b="0">
                <a:solidFill>
                  <a:srgbClr val="202D3D"/>
                </a:solidFill>
                <a:latin typeface="Times New Roman"/>
                <a:ea typeface="Times New Roman"/>
                <a:cs typeface="Times New Roman"/>
              </a:defRPr>
            </a:lvl4pPr>
            <a:lvl5pPr algn="l">
              <a:defRPr sz="1800" b="0">
                <a:solidFill>
                  <a:srgbClr val="202D3D"/>
                </a:solidFill>
                <a:latin typeface="Times New Roman"/>
                <a:ea typeface="Times New Roman"/>
                <a:cs typeface="Times New Roman"/>
              </a:defRPr>
            </a:lvl5pPr>
            <a:lvl6pPr algn="l">
              <a:defRPr sz="1800" b="0">
                <a:solidFill>
                  <a:srgbClr val="202D3D"/>
                </a:solidFill>
                <a:latin typeface="Times New Roman"/>
                <a:ea typeface="Times New Roman"/>
                <a:cs typeface="Times New Roman"/>
              </a:defRPr>
            </a:lvl6pPr>
            <a:lvl7pPr algn="l">
              <a:defRPr sz="1800" b="0">
                <a:solidFill>
                  <a:srgbClr val="202D3D"/>
                </a:solidFill>
                <a:latin typeface="Times New Roman"/>
                <a:ea typeface="Times New Roman"/>
                <a:cs typeface="Times New Roman"/>
              </a:defRPr>
            </a:lvl7pPr>
            <a:lvl8pPr algn="l">
              <a:defRPr sz="1800" b="0">
                <a:solidFill>
                  <a:srgbClr val="202D3D"/>
                </a:solidFill>
                <a:latin typeface="Times New Roman"/>
                <a:ea typeface="Times New Roman"/>
                <a:cs typeface="Times New Roman"/>
              </a:defRPr>
            </a:lvl8pPr>
            <a:lvl9pPr algn="l">
              <a:defRPr sz="1800" b="0">
                <a:solidFill>
                  <a:srgbClr val="202D3D"/>
                </a:solidFill>
                <a:latin typeface="Times New Roman"/>
                <a:ea typeface="Times New Roman"/>
                <a:cs typeface="Times New Roman"/>
              </a:defRPr>
            </a:lvl9pPr>
          </a:lstStyle>
          <a:p>
            <a:pPr algn="l">
              <a:defRPr sz="1800" b="0">
                <a:solidFill>
                  <a:srgbClr val="202D3D"/>
                </a:solidFill>
                <a:latin typeface="Times New Roman"/>
                <a:ea typeface="Times New Roman"/>
                <a:cs typeface="Times New Roman"/>
              </a:defRPr>
            </a:pPr>
            <a:r>
              <a:rPr sz="1800" b="0">
                <a:solidFill>
                  <a:srgbClr val="202D3D"/>
                </a:solidFill>
                <a:latin typeface="Times New Roman"/>
                <a:ea typeface="Times New Roman"/>
                <a:cs typeface="Times New Roman"/>
              </a:rPr>
              <a:t>Positive weights favor positive sentiment.</a:t>
            </a:r>
          </a:p>
          <a:p>
            <a:pPr algn="l">
              <a:defRPr sz="1800" b="0">
                <a:solidFill>
                  <a:srgbClr val="202D3D"/>
                </a:solidFill>
                <a:latin typeface="Times New Roman"/>
                <a:ea typeface="Times New Roman"/>
                <a:cs typeface="Times New Roman"/>
              </a:defRPr>
            </a:pPr>
            <a:r>
              <a:rPr sz="1800" b="0">
                <a:solidFill>
                  <a:srgbClr val="202D3D"/>
                </a:solidFill>
                <a:latin typeface="Times New Roman"/>
                <a:ea typeface="Times New Roman"/>
                <a:cs typeface="Times New Roman"/>
              </a:rPr>
              <a:t>Negative weights favor negative sentiment.</a:t>
            </a:r>
          </a:p>
        </p:txBody>
      </p:sp>
    </p:spTree>
    <p:extLst>
      <p:ext uri="{BB962C8B-B14F-4D97-AF65-F5344CB8AC3E}">
        <p14:creationId xmlns:p14="http://schemas.microsoft.com/office/powerpoint/2010/main" val="1086677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694DF3CE-94A7-4EE3-8436-D6F501D56D89}"/>
              </a:ext>
            </a:extLst>
          </p:cNvPr>
          <p:cNvCxnSpPr>
            <a:stCxn id="10" idx="3"/>
            <a:endCxn id="11" idx="1"/>
          </p:cNvCxnSpPr>
          <p:nvPr/>
        </p:nvCxnSpPr>
        <p:spPr>
          <a:xfrm>
            <a:off x="9696450" y="3086100"/>
            <a:ext cx="295275" cy="0"/>
          </a:xfrm>
          <a:prstGeom prst="straightConnector1">
            <a:avLst/>
          </a:prstGeom>
          <a:ln w="19050">
            <a:solidFill>
              <a:srgbClr val="17365D"/>
            </a:solidFill>
            <a:prstDash val="solid"/>
            <a:tailEnd type="arrow" w="med" len="med"/>
          </a:ln>
        </p:spPr>
      </p:cxnSp>
      <p:cxnSp>
        <p:nvCxnSpPr>
          <p:cNvPr id="15" name="Straight Arrow Connector 14">
            <a:extLst>
              <a:ext uri="{FF2B5EF4-FFF2-40B4-BE49-F238E27FC236}">
                <a16:creationId xmlns:a16="http://schemas.microsoft.com/office/drawing/2014/main" id="{C54595D9-5ABA-4270-96BC-CEACDFBB2942}"/>
              </a:ext>
            </a:extLst>
          </p:cNvPr>
          <p:cNvCxnSpPr>
            <a:stCxn id="9" idx="3"/>
            <a:endCxn id="10" idx="1"/>
          </p:cNvCxnSpPr>
          <p:nvPr/>
        </p:nvCxnSpPr>
        <p:spPr>
          <a:xfrm>
            <a:off x="7820025" y="3086100"/>
            <a:ext cx="295275" cy="0"/>
          </a:xfrm>
          <a:prstGeom prst="straightConnector1">
            <a:avLst/>
          </a:prstGeom>
          <a:ln w="19050">
            <a:solidFill>
              <a:srgbClr val="17365D"/>
            </a:solidFill>
            <a:prstDash val="solid"/>
            <a:tailEnd type="arrow" w="med" len="med"/>
          </a:ln>
        </p:spPr>
      </p:cxnSp>
      <p:cxnSp>
        <p:nvCxnSpPr>
          <p:cNvPr id="14" name="Straight Arrow Connector 13">
            <a:extLst>
              <a:ext uri="{FF2B5EF4-FFF2-40B4-BE49-F238E27FC236}">
                <a16:creationId xmlns:a16="http://schemas.microsoft.com/office/drawing/2014/main" id="{F562F1A1-ED23-4943-A967-5C83064BBAD5}"/>
              </a:ext>
            </a:extLst>
          </p:cNvPr>
          <p:cNvCxnSpPr>
            <a:stCxn id="8" idx="3"/>
            <a:endCxn id="9" idx="1"/>
          </p:cNvCxnSpPr>
          <p:nvPr/>
        </p:nvCxnSpPr>
        <p:spPr>
          <a:xfrm>
            <a:off x="5943600" y="3086100"/>
            <a:ext cx="295275" cy="0"/>
          </a:xfrm>
          <a:prstGeom prst="straightConnector1">
            <a:avLst/>
          </a:prstGeom>
          <a:ln w="19050">
            <a:solidFill>
              <a:srgbClr val="17365D"/>
            </a:solidFill>
            <a:prstDash val="solid"/>
            <a:tailEnd type="arrow" w="med" len="med"/>
          </a:ln>
        </p:spPr>
      </p:cxnSp>
      <p:cxnSp>
        <p:nvCxnSpPr>
          <p:cNvPr id="13" name="Straight Arrow Connector 12">
            <a:extLst>
              <a:ext uri="{FF2B5EF4-FFF2-40B4-BE49-F238E27FC236}">
                <a16:creationId xmlns:a16="http://schemas.microsoft.com/office/drawing/2014/main" id="{656D8FE5-D3FC-4A28-80E1-4EDE6028ADD8}"/>
              </a:ext>
            </a:extLst>
          </p:cNvPr>
          <p:cNvCxnSpPr>
            <a:stCxn id="7" idx="3"/>
            <a:endCxn id="8" idx="1"/>
          </p:cNvCxnSpPr>
          <p:nvPr/>
        </p:nvCxnSpPr>
        <p:spPr>
          <a:xfrm>
            <a:off x="4067175" y="3086100"/>
            <a:ext cx="295275" cy="0"/>
          </a:xfrm>
          <a:prstGeom prst="straightConnector1">
            <a:avLst/>
          </a:prstGeom>
          <a:ln w="19050">
            <a:solidFill>
              <a:srgbClr val="17365D"/>
            </a:solidFill>
            <a:prstDash val="solid"/>
            <a:tailEnd type="arrow" w="med" len="med"/>
          </a:ln>
        </p:spPr>
      </p:cxnSp>
      <p:cxnSp>
        <p:nvCxnSpPr>
          <p:cNvPr id="12" name="Straight Arrow Connector 11">
            <a:extLst>
              <a:ext uri="{FF2B5EF4-FFF2-40B4-BE49-F238E27FC236}">
                <a16:creationId xmlns:a16="http://schemas.microsoft.com/office/drawing/2014/main" id="{44773A8A-CB7D-40DB-8A36-75887A5E5AAF}"/>
              </a:ext>
            </a:extLst>
          </p:cNvPr>
          <p:cNvCxnSpPr>
            <a:stCxn id="6" idx="3"/>
            <a:endCxn id="7" idx="1"/>
          </p:cNvCxnSpPr>
          <p:nvPr/>
        </p:nvCxnSpPr>
        <p:spPr>
          <a:xfrm>
            <a:off x="2190750" y="3086100"/>
            <a:ext cx="295275" cy="0"/>
          </a:xfrm>
          <a:prstGeom prst="straightConnector1">
            <a:avLst/>
          </a:prstGeom>
          <a:ln w="19050">
            <a:solidFill>
              <a:srgbClr val="17365D"/>
            </a:solidFill>
            <a:prstDash val="solid"/>
            <a:tailEnd type="arrow" w="med" len="med"/>
          </a:ln>
        </p:spPr>
      </p:cxnSp>
      <p:sp>
        <p:nvSpPr>
          <p:cNvPr id="20" name="GloVe with a convolutional network">
            <a:extLst>
              <a:ext uri="{FF2B5EF4-FFF2-40B4-BE49-F238E27FC236}">
                <a16:creationId xmlns:a16="http://schemas.microsoft.com/office/drawing/2014/main" id="{F7A8968D-D80C-4289-9B41-6D832D6395A8}"/>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GloVe with CNN</a:t>
            </a:r>
          </a:p>
        </p:txBody>
      </p:sp>
      <p:sp>
        <p:nvSpPr>
          <p:cNvPr id="2" name="Straight Connector 1">
            <a:extLst>
              <a:ext uri="{FF2B5EF4-FFF2-40B4-BE49-F238E27FC236}">
                <a16:creationId xmlns:a16="http://schemas.microsoft.com/office/drawing/2014/main" id="{84425598-D292-4FBA-935E-3B4E0FA6F631}"/>
              </a:ext>
            </a:extLst>
          </p:cNvPr>
          <p:cNvSpPr>
            <a:spLocks noGrp="1"/>
          </p:cNvSpPr>
          <p:nvPr/>
        </p:nvSpPr>
        <p:spPr>
          <a:xfrm>
            <a:off x="609600" y="1266825"/>
            <a:ext cx="10972800" cy="0"/>
          </a:xfrm>
          <a:prstGeom prst="line">
            <a:avLst/>
          </a:prstGeom>
          <a:ln w="28575">
            <a:solidFill>
              <a:srgbClr val="2563EB"/>
            </a:solidFill>
            <a:prstDash val="solid"/>
          </a:ln>
        </p:spPr>
      </p:sp>
      <p:sp>
        <p:nvSpPr>
          <p:cNvPr id="3" name="4. Modeling">
            <a:extLst>
              <a:ext uri="{FF2B5EF4-FFF2-40B4-BE49-F238E27FC236}">
                <a16:creationId xmlns:a16="http://schemas.microsoft.com/office/drawing/2014/main" id="{00EBB4D5-0B9A-49D5-885E-F5D06ACCB2CB}"/>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4. Modeling</a:t>
            </a:r>
          </a:p>
        </p:txBody>
      </p:sp>
      <p:sp>
        <p:nvSpPr>
          <p:cNvPr id="4" name="07 / 13">
            <a:extLst>
              <a:ext uri="{FF2B5EF4-FFF2-40B4-BE49-F238E27FC236}">
                <a16:creationId xmlns:a16="http://schemas.microsoft.com/office/drawing/2014/main" id="{9735D2B0-E869-442C-8462-E0856D5123A7}"/>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07 / 14</a:t>
            </a:r>
          </a:p>
        </p:txBody>
      </p:sp>
      <p:sp>
        <p:nvSpPr>
          <p:cNvPr id="5" name="450 tokens per review">
            <a:extLst>
              <a:ext uri="{FF2B5EF4-FFF2-40B4-BE49-F238E27FC236}">
                <a16:creationId xmlns:a16="http://schemas.microsoft.com/office/drawing/2014/main" id="{605579DC-E20E-4056-9292-6FF79AC09ACD}"/>
              </a:ext>
            </a:extLst>
          </p:cNvPr>
          <p:cNvSpPr>
            <a:spLocks noGrp="1"/>
          </p:cNvSpPr>
          <p:nvPr/>
        </p:nvSpPr>
        <p:spPr>
          <a:xfrm>
            <a:off x="609600" y="1609725"/>
            <a:ext cx="10972800" cy="381000"/>
          </a:xfrm>
          <a:prstGeom prst="rect">
            <a:avLst/>
          </a:prstGeom>
          <a:noFill/>
          <a:ln w="0">
            <a:noFill/>
          </a:ln>
        </p:spPr>
        <p:txBody>
          <a:bodyPr wrap="square" lIns="0" tIns="0" rIns="0" bIns="0" anchor="t">
            <a:noAutofit/>
          </a:bodyPr>
          <a:lstStyle>
            <a:defPPr algn="l">
              <a:defRPr sz="2025" b="0">
                <a:solidFill>
                  <a:srgbClr val="202D3D"/>
                </a:solidFill>
                <a:latin typeface="Times New Roman"/>
                <a:ea typeface="Times New Roman"/>
                <a:cs typeface="Times New Roman"/>
              </a:defRPr>
            </a:defPPr>
            <a:lvl1pPr algn="l">
              <a:defRPr sz="2025" b="0">
                <a:solidFill>
                  <a:srgbClr val="202D3D"/>
                </a:solidFill>
                <a:latin typeface="Times New Roman"/>
                <a:ea typeface="Times New Roman"/>
                <a:cs typeface="Times New Roman"/>
              </a:defRPr>
            </a:lvl1pPr>
            <a:lvl2pPr algn="l">
              <a:defRPr sz="2025" b="0">
                <a:solidFill>
                  <a:srgbClr val="202D3D"/>
                </a:solidFill>
                <a:latin typeface="Times New Roman"/>
                <a:ea typeface="Times New Roman"/>
                <a:cs typeface="Times New Roman"/>
              </a:defRPr>
            </a:lvl2pPr>
            <a:lvl3pPr algn="l">
              <a:defRPr sz="2025" b="0">
                <a:solidFill>
                  <a:srgbClr val="202D3D"/>
                </a:solidFill>
                <a:latin typeface="Times New Roman"/>
                <a:ea typeface="Times New Roman"/>
                <a:cs typeface="Times New Roman"/>
              </a:defRPr>
            </a:lvl3pPr>
            <a:lvl4pPr algn="l">
              <a:defRPr sz="2025" b="0">
                <a:solidFill>
                  <a:srgbClr val="202D3D"/>
                </a:solidFill>
                <a:latin typeface="Times New Roman"/>
                <a:ea typeface="Times New Roman"/>
                <a:cs typeface="Times New Roman"/>
              </a:defRPr>
            </a:lvl4pPr>
            <a:lvl5pPr algn="l">
              <a:defRPr sz="2025" b="0">
                <a:solidFill>
                  <a:srgbClr val="202D3D"/>
                </a:solidFill>
                <a:latin typeface="Times New Roman"/>
                <a:ea typeface="Times New Roman"/>
                <a:cs typeface="Times New Roman"/>
              </a:defRPr>
            </a:lvl5pPr>
            <a:lvl6pPr algn="l">
              <a:defRPr sz="2025" b="0">
                <a:solidFill>
                  <a:srgbClr val="202D3D"/>
                </a:solidFill>
                <a:latin typeface="Times New Roman"/>
                <a:ea typeface="Times New Roman"/>
                <a:cs typeface="Times New Roman"/>
              </a:defRPr>
            </a:lvl6pPr>
            <a:lvl7pPr algn="l">
              <a:defRPr sz="2025" b="0">
                <a:solidFill>
                  <a:srgbClr val="202D3D"/>
                </a:solidFill>
                <a:latin typeface="Times New Roman"/>
                <a:ea typeface="Times New Roman"/>
                <a:cs typeface="Times New Roman"/>
              </a:defRPr>
            </a:lvl7pPr>
            <a:lvl8pPr algn="l">
              <a:defRPr sz="2025" b="0">
                <a:solidFill>
                  <a:srgbClr val="202D3D"/>
                </a:solidFill>
                <a:latin typeface="Times New Roman"/>
                <a:ea typeface="Times New Roman"/>
                <a:cs typeface="Times New Roman"/>
              </a:defRPr>
            </a:lvl8pPr>
            <a:lvl9pPr algn="l">
              <a:defRPr sz="2025" b="0">
                <a:solidFill>
                  <a:srgbClr val="202D3D"/>
                </a:solidFill>
                <a:latin typeface="Times New Roman"/>
                <a:ea typeface="Times New Roman"/>
                <a:cs typeface="Times New Roman"/>
              </a:defRPr>
            </a:lvl9pPr>
          </a:lstStyle>
          <a:p>
            <a:pPr algn="l">
              <a:defRPr sz="2025" b="0">
                <a:solidFill>
                  <a:srgbClr val="202D3D"/>
                </a:solidFill>
                <a:latin typeface="Times New Roman"/>
                <a:ea typeface="Times New Roman"/>
                <a:cs typeface="Times New Roman"/>
              </a:defRPr>
            </a:pPr>
            <a:r>
              <a:rPr sz="2025" b="0">
                <a:solidFill>
                  <a:srgbClr val="202D3D"/>
                </a:solidFill>
                <a:latin typeface="Times New Roman"/>
                <a:ea typeface="Times New Roman"/>
                <a:cs typeface="Times New Roman"/>
              </a:rPr>
              <a:t>450 tokens per review</a:t>
            </a:r>
          </a:p>
        </p:txBody>
      </p:sp>
      <p:sp>
        <p:nvSpPr>
          <p:cNvPr id="6" name="GloVe&#10;Embedding&#10;450 × 100">
            <a:extLst>
              <a:ext uri="{FF2B5EF4-FFF2-40B4-BE49-F238E27FC236}">
                <a16:creationId xmlns:a16="http://schemas.microsoft.com/office/drawing/2014/main" id="{0678BCA7-AD42-4759-A69F-54980F68FB36}"/>
              </a:ext>
            </a:extLst>
          </p:cNvPr>
          <p:cNvSpPr>
            <a:spLocks noGrp="1"/>
          </p:cNvSpPr>
          <p:nvPr/>
        </p:nvSpPr>
        <p:spPr>
          <a:xfrm>
            <a:off x="609600" y="2324100"/>
            <a:ext cx="1581150" cy="1524000"/>
          </a:xfrm>
          <a:prstGeom prst="rect">
            <a:avLst/>
          </a:prstGeom>
          <a:solidFill>
            <a:srgbClr val="EAF2FF"/>
          </a:solidFill>
          <a:ln w="14288">
            <a:solidFill>
              <a:srgbClr val="17365D"/>
            </a:solidFill>
            <a:prstDash val="solid"/>
          </a:ln>
        </p:spPr>
        <p:txBody>
          <a:bodyPr wrap="square" lIns="114300" tIns="114300" rIns="114300" bIns="114300" anchor="ctr">
            <a:noAutofit/>
          </a:bodyPr>
          <a:lstStyle>
            <a:defPPr algn="ctr">
              <a:defRPr sz="1725">
                <a:solidFill>
                  <a:srgbClr val="202D3D"/>
                </a:solidFill>
                <a:latin typeface="Times New Roman"/>
                <a:ea typeface="Times New Roman"/>
                <a:cs typeface="Times New Roman"/>
              </a:defRPr>
            </a:defPPr>
            <a:lvl1pPr algn="ctr">
              <a:defRPr sz="1725">
                <a:solidFill>
                  <a:srgbClr val="202D3D"/>
                </a:solidFill>
                <a:latin typeface="Times New Roman"/>
                <a:ea typeface="Times New Roman"/>
                <a:cs typeface="Times New Roman"/>
              </a:defRPr>
            </a:lvl1pPr>
            <a:lvl2pPr algn="ctr">
              <a:defRPr sz="1725">
                <a:solidFill>
                  <a:srgbClr val="202D3D"/>
                </a:solidFill>
                <a:latin typeface="Times New Roman"/>
                <a:ea typeface="Times New Roman"/>
                <a:cs typeface="Times New Roman"/>
              </a:defRPr>
            </a:lvl2pPr>
            <a:lvl3pPr algn="ctr">
              <a:defRPr sz="1725">
                <a:solidFill>
                  <a:srgbClr val="202D3D"/>
                </a:solidFill>
                <a:latin typeface="Times New Roman"/>
                <a:ea typeface="Times New Roman"/>
                <a:cs typeface="Times New Roman"/>
              </a:defRPr>
            </a:lvl3pPr>
            <a:lvl4pPr algn="ctr">
              <a:defRPr sz="1725">
                <a:solidFill>
                  <a:srgbClr val="202D3D"/>
                </a:solidFill>
                <a:latin typeface="Times New Roman"/>
                <a:ea typeface="Times New Roman"/>
                <a:cs typeface="Times New Roman"/>
              </a:defRPr>
            </a:lvl4pPr>
            <a:lvl5pPr algn="ctr">
              <a:defRPr sz="1725">
                <a:solidFill>
                  <a:srgbClr val="202D3D"/>
                </a:solidFill>
                <a:latin typeface="Times New Roman"/>
                <a:ea typeface="Times New Roman"/>
                <a:cs typeface="Times New Roman"/>
              </a:defRPr>
            </a:lvl5pPr>
            <a:lvl6pPr algn="ctr">
              <a:defRPr sz="1725">
                <a:solidFill>
                  <a:srgbClr val="202D3D"/>
                </a:solidFill>
                <a:latin typeface="Times New Roman"/>
                <a:ea typeface="Times New Roman"/>
                <a:cs typeface="Times New Roman"/>
              </a:defRPr>
            </a:lvl6pPr>
            <a:lvl7pPr algn="ctr">
              <a:defRPr sz="1725">
                <a:solidFill>
                  <a:srgbClr val="202D3D"/>
                </a:solidFill>
                <a:latin typeface="Times New Roman"/>
                <a:ea typeface="Times New Roman"/>
                <a:cs typeface="Times New Roman"/>
              </a:defRPr>
            </a:lvl7pPr>
            <a:lvl8pPr algn="ctr">
              <a:defRPr sz="1725">
                <a:solidFill>
                  <a:srgbClr val="202D3D"/>
                </a:solidFill>
                <a:latin typeface="Times New Roman"/>
                <a:ea typeface="Times New Roman"/>
                <a:cs typeface="Times New Roman"/>
              </a:defRPr>
            </a:lvl8pPr>
            <a:lvl9pPr algn="ctr">
              <a:defRPr sz="1725">
                <a:solidFill>
                  <a:srgbClr val="202D3D"/>
                </a:solidFill>
                <a:latin typeface="Times New Roman"/>
                <a:ea typeface="Times New Roman"/>
                <a:cs typeface="Times New Roman"/>
              </a:defRPr>
            </a:lvl9pPr>
          </a:lstStyle>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GloVe</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Embedding</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450 × 100</a:t>
            </a:r>
          </a:p>
        </p:txBody>
      </p:sp>
      <p:sp>
        <p:nvSpPr>
          <p:cNvPr id="7" name="Conv1D&#10;128 filters&#10;kernel 5&#10;ReLU">
            <a:extLst>
              <a:ext uri="{FF2B5EF4-FFF2-40B4-BE49-F238E27FC236}">
                <a16:creationId xmlns:a16="http://schemas.microsoft.com/office/drawing/2014/main" id="{3AAC616D-BF38-44C4-9F48-C58D2AA54028}"/>
              </a:ext>
            </a:extLst>
          </p:cNvPr>
          <p:cNvSpPr>
            <a:spLocks noGrp="1"/>
          </p:cNvSpPr>
          <p:nvPr/>
        </p:nvSpPr>
        <p:spPr>
          <a:xfrm>
            <a:off x="2486025" y="2324100"/>
            <a:ext cx="1581150" cy="1524000"/>
          </a:xfrm>
          <a:prstGeom prst="rect">
            <a:avLst/>
          </a:prstGeom>
          <a:solidFill>
            <a:srgbClr val="FFF0E0"/>
          </a:solidFill>
          <a:ln w="14288">
            <a:solidFill>
              <a:srgbClr val="17365D"/>
            </a:solidFill>
            <a:prstDash val="solid"/>
          </a:ln>
        </p:spPr>
        <p:txBody>
          <a:bodyPr wrap="square" lIns="114300" tIns="114300" rIns="114300" bIns="114300" anchor="ctr">
            <a:noAutofit/>
          </a:bodyPr>
          <a:lstStyle>
            <a:defPPr algn="ctr">
              <a:defRPr sz="1725">
                <a:solidFill>
                  <a:srgbClr val="202D3D"/>
                </a:solidFill>
                <a:latin typeface="Times New Roman"/>
                <a:ea typeface="Times New Roman"/>
                <a:cs typeface="Times New Roman"/>
              </a:defRPr>
            </a:defPPr>
            <a:lvl1pPr algn="ctr">
              <a:defRPr sz="1725">
                <a:solidFill>
                  <a:srgbClr val="202D3D"/>
                </a:solidFill>
                <a:latin typeface="Times New Roman"/>
                <a:ea typeface="Times New Roman"/>
                <a:cs typeface="Times New Roman"/>
              </a:defRPr>
            </a:lvl1pPr>
            <a:lvl2pPr algn="ctr">
              <a:defRPr sz="1725">
                <a:solidFill>
                  <a:srgbClr val="202D3D"/>
                </a:solidFill>
                <a:latin typeface="Times New Roman"/>
                <a:ea typeface="Times New Roman"/>
                <a:cs typeface="Times New Roman"/>
              </a:defRPr>
            </a:lvl2pPr>
            <a:lvl3pPr algn="ctr">
              <a:defRPr sz="1725">
                <a:solidFill>
                  <a:srgbClr val="202D3D"/>
                </a:solidFill>
                <a:latin typeface="Times New Roman"/>
                <a:ea typeface="Times New Roman"/>
                <a:cs typeface="Times New Roman"/>
              </a:defRPr>
            </a:lvl3pPr>
            <a:lvl4pPr algn="ctr">
              <a:defRPr sz="1725">
                <a:solidFill>
                  <a:srgbClr val="202D3D"/>
                </a:solidFill>
                <a:latin typeface="Times New Roman"/>
                <a:ea typeface="Times New Roman"/>
                <a:cs typeface="Times New Roman"/>
              </a:defRPr>
            </a:lvl4pPr>
            <a:lvl5pPr algn="ctr">
              <a:defRPr sz="1725">
                <a:solidFill>
                  <a:srgbClr val="202D3D"/>
                </a:solidFill>
                <a:latin typeface="Times New Roman"/>
                <a:ea typeface="Times New Roman"/>
                <a:cs typeface="Times New Roman"/>
              </a:defRPr>
            </a:lvl5pPr>
            <a:lvl6pPr algn="ctr">
              <a:defRPr sz="1725">
                <a:solidFill>
                  <a:srgbClr val="202D3D"/>
                </a:solidFill>
                <a:latin typeface="Times New Roman"/>
                <a:ea typeface="Times New Roman"/>
                <a:cs typeface="Times New Roman"/>
              </a:defRPr>
            </a:lvl6pPr>
            <a:lvl7pPr algn="ctr">
              <a:defRPr sz="1725">
                <a:solidFill>
                  <a:srgbClr val="202D3D"/>
                </a:solidFill>
                <a:latin typeface="Times New Roman"/>
                <a:ea typeface="Times New Roman"/>
                <a:cs typeface="Times New Roman"/>
              </a:defRPr>
            </a:lvl7pPr>
            <a:lvl8pPr algn="ctr">
              <a:defRPr sz="1725">
                <a:solidFill>
                  <a:srgbClr val="202D3D"/>
                </a:solidFill>
                <a:latin typeface="Times New Roman"/>
                <a:ea typeface="Times New Roman"/>
                <a:cs typeface="Times New Roman"/>
              </a:defRPr>
            </a:lvl8pPr>
            <a:lvl9pPr algn="ctr">
              <a:defRPr sz="1725">
                <a:solidFill>
                  <a:srgbClr val="202D3D"/>
                </a:solidFill>
                <a:latin typeface="Times New Roman"/>
                <a:ea typeface="Times New Roman"/>
                <a:cs typeface="Times New Roman"/>
              </a:defRPr>
            </a:lvl9pPr>
          </a:lstStyle>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Conv1D</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128 filters</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kernel 5</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ReLU</a:t>
            </a:r>
          </a:p>
        </p:txBody>
      </p:sp>
      <p:sp>
        <p:nvSpPr>
          <p:cNvPr id="8" name="Global max&#10;pooling&#10;128 values">
            <a:extLst>
              <a:ext uri="{FF2B5EF4-FFF2-40B4-BE49-F238E27FC236}">
                <a16:creationId xmlns:a16="http://schemas.microsoft.com/office/drawing/2014/main" id="{BD7968EC-DCB7-4E6E-A1EE-FF6ECFC7C51F}"/>
              </a:ext>
            </a:extLst>
          </p:cNvPr>
          <p:cNvSpPr>
            <a:spLocks noGrp="1"/>
          </p:cNvSpPr>
          <p:nvPr/>
        </p:nvSpPr>
        <p:spPr>
          <a:xfrm>
            <a:off x="4362450" y="2324100"/>
            <a:ext cx="1581150" cy="1524000"/>
          </a:xfrm>
          <a:prstGeom prst="rect">
            <a:avLst/>
          </a:prstGeom>
          <a:solidFill>
            <a:srgbClr val="E5F5F0"/>
          </a:solidFill>
          <a:ln w="14288">
            <a:solidFill>
              <a:srgbClr val="17365D"/>
            </a:solidFill>
            <a:prstDash val="solid"/>
          </a:ln>
        </p:spPr>
        <p:txBody>
          <a:bodyPr wrap="square" lIns="114300" tIns="114300" rIns="114300" bIns="114300" anchor="ctr">
            <a:noAutofit/>
          </a:bodyPr>
          <a:lstStyle>
            <a:defPPr algn="ctr">
              <a:defRPr sz="1725">
                <a:solidFill>
                  <a:srgbClr val="202D3D"/>
                </a:solidFill>
                <a:latin typeface="Times New Roman"/>
                <a:ea typeface="Times New Roman"/>
                <a:cs typeface="Times New Roman"/>
              </a:defRPr>
            </a:defPPr>
            <a:lvl1pPr algn="ctr">
              <a:defRPr sz="1725">
                <a:solidFill>
                  <a:srgbClr val="202D3D"/>
                </a:solidFill>
                <a:latin typeface="Times New Roman"/>
                <a:ea typeface="Times New Roman"/>
                <a:cs typeface="Times New Roman"/>
              </a:defRPr>
            </a:lvl1pPr>
            <a:lvl2pPr algn="ctr">
              <a:defRPr sz="1725">
                <a:solidFill>
                  <a:srgbClr val="202D3D"/>
                </a:solidFill>
                <a:latin typeface="Times New Roman"/>
                <a:ea typeface="Times New Roman"/>
                <a:cs typeface="Times New Roman"/>
              </a:defRPr>
            </a:lvl2pPr>
            <a:lvl3pPr algn="ctr">
              <a:defRPr sz="1725">
                <a:solidFill>
                  <a:srgbClr val="202D3D"/>
                </a:solidFill>
                <a:latin typeface="Times New Roman"/>
                <a:ea typeface="Times New Roman"/>
                <a:cs typeface="Times New Roman"/>
              </a:defRPr>
            </a:lvl3pPr>
            <a:lvl4pPr algn="ctr">
              <a:defRPr sz="1725">
                <a:solidFill>
                  <a:srgbClr val="202D3D"/>
                </a:solidFill>
                <a:latin typeface="Times New Roman"/>
                <a:ea typeface="Times New Roman"/>
                <a:cs typeface="Times New Roman"/>
              </a:defRPr>
            </a:lvl4pPr>
            <a:lvl5pPr algn="ctr">
              <a:defRPr sz="1725">
                <a:solidFill>
                  <a:srgbClr val="202D3D"/>
                </a:solidFill>
                <a:latin typeface="Times New Roman"/>
                <a:ea typeface="Times New Roman"/>
                <a:cs typeface="Times New Roman"/>
              </a:defRPr>
            </a:lvl5pPr>
            <a:lvl6pPr algn="ctr">
              <a:defRPr sz="1725">
                <a:solidFill>
                  <a:srgbClr val="202D3D"/>
                </a:solidFill>
                <a:latin typeface="Times New Roman"/>
                <a:ea typeface="Times New Roman"/>
                <a:cs typeface="Times New Roman"/>
              </a:defRPr>
            </a:lvl6pPr>
            <a:lvl7pPr algn="ctr">
              <a:defRPr sz="1725">
                <a:solidFill>
                  <a:srgbClr val="202D3D"/>
                </a:solidFill>
                <a:latin typeface="Times New Roman"/>
                <a:ea typeface="Times New Roman"/>
                <a:cs typeface="Times New Roman"/>
              </a:defRPr>
            </a:lvl7pPr>
            <a:lvl8pPr algn="ctr">
              <a:defRPr sz="1725">
                <a:solidFill>
                  <a:srgbClr val="202D3D"/>
                </a:solidFill>
                <a:latin typeface="Times New Roman"/>
                <a:ea typeface="Times New Roman"/>
                <a:cs typeface="Times New Roman"/>
              </a:defRPr>
            </a:lvl8pPr>
            <a:lvl9pPr algn="ctr">
              <a:defRPr sz="1725">
                <a:solidFill>
                  <a:srgbClr val="202D3D"/>
                </a:solidFill>
                <a:latin typeface="Times New Roman"/>
                <a:ea typeface="Times New Roman"/>
                <a:cs typeface="Times New Roman"/>
              </a:defRPr>
            </a:lvl9pPr>
          </a:lstStyle>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Global max</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pooling</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128 values</a:t>
            </a:r>
          </a:p>
        </p:txBody>
      </p:sp>
      <p:sp>
        <p:nvSpPr>
          <p:cNvPr id="9" name="Dense&#10;64 units&#10;ReLU">
            <a:extLst>
              <a:ext uri="{FF2B5EF4-FFF2-40B4-BE49-F238E27FC236}">
                <a16:creationId xmlns:a16="http://schemas.microsoft.com/office/drawing/2014/main" id="{45279EA6-8CD2-4C06-A5DE-82BD6AEA48AF}"/>
              </a:ext>
            </a:extLst>
          </p:cNvPr>
          <p:cNvSpPr>
            <a:spLocks noGrp="1"/>
          </p:cNvSpPr>
          <p:nvPr/>
        </p:nvSpPr>
        <p:spPr>
          <a:xfrm>
            <a:off x="6238875" y="2324100"/>
            <a:ext cx="1581150" cy="1524000"/>
          </a:xfrm>
          <a:prstGeom prst="rect">
            <a:avLst/>
          </a:prstGeom>
          <a:solidFill>
            <a:srgbClr val="EAF2FF"/>
          </a:solidFill>
          <a:ln w="14288">
            <a:solidFill>
              <a:srgbClr val="17365D"/>
            </a:solidFill>
            <a:prstDash val="solid"/>
          </a:ln>
        </p:spPr>
        <p:txBody>
          <a:bodyPr wrap="square" lIns="114300" tIns="114300" rIns="114300" bIns="114300" anchor="ctr">
            <a:noAutofit/>
          </a:bodyPr>
          <a:lstStyle>
            <a:defPPr algn="ctr">
              <a:defRPr sz="1725">
                <a:solidFill>
                  <a:srgbClr val="202D3D"/>
                </a:solidFill>
                <a:latin typeface="Times New Roman"/>
                <a:ea typeface="Times New Roman"/>
                <a:cs typeface="Times New Roman"/>
              </a:defRPr>
            </a:defPPr>
            <a:lvl1pPr algn="ctr">
              <a:defRPr sz="1725">
                <a:solidFill>
                  <a:srgbClr val="202D3D"/>
                </a:solidFill>
                <a:latin typeface="Times New Roman"/>
                <a:ea typeface="Times New Roman"/>
                <a:cs typeface="Times New Roman"/>
              </a:defRPr>
            </a:lvl1pPr>
            <a:lvl2pPr algn="ctr">
              <a:defRPr sz="1725">
                <a:solidFill>
                  <a:srgbClr val="202D3D"/>
                </a:solidFill>
                <a:latin typeface="Times New Roman"/>
                <a:ea typeface="Times New Roman"/>
                <a:cs typeface="Times New Roman"/>
              </a:defRPr>
            </a:lvl2pPr>
            <a:lvl3pPr algn="ctr">
              <a:defRPr sz="1725">
                <a:solidFill>
                  <a:srgbClr val="202D3D"/>
                </a:solidFill>
                <a:latin typeface="Times New Roman"/>
                <a:ea typeface="Times New Roman"/>
                <a:cs typeface="Times New Roman"/>
              </a:defRPr>
            </a:lvl3pPr>
            <a:lvl4pPr algn="ctr">
              <a:defRPr sz="1725">
                <a:solidFill>
                  <a:srgbClr val="202D3D"/>
                </a:solidFill>
                <a:latin typeface="Times New Roman"/>
                <a:ea typeface="Times New Roman"/>
                <a:cs typeface="Times New Roman"/>
              </a:defRPr>
            </a:lvl4pPr>
            <a:lvl5pPr algn="ctr">
              <a:defRPr sz="1725">
                <a:solidFill>
                  <a:srgbClr val="202D3D"/>
                </a:solidFill>
                <a:latin typeface="Times New Roman"/>
                <a:ea typeface="Times New Roman"/>
                <a:cs typeface="Times New Roman"/>
              </a:defRPr>
            </a:lvl5pPr>
            <a:lvl6pPr algn="ctr">
              <a:defRPr sz="1725">
                <a:solidFill>
                  <a:srgbClr val="202D3D"/>
                </a:solidFill>
                <a:latin typeface="Times New Roman"/>
                <a:ea typeface="Times New Roman"/>
                <a:cs typeface="Times New Roman"/>
              </a:defRPr>
            </a:lvl6pPr>
            <a:lvl7pPr algn="ctr">
              <a:defRPr sz="1725">
                <a:solidFill>
                  <a:srgbClr val="202D3D"/>
                </a:solidFill>
                <a:latin typeface="Times New Roman"/>
                <a:ea typeface="Times New Roman"/>
                <a:cs typeface="Times New Roman"/>
              </a:defRPr>
            </a:lvl7pPr>
            <a:lvl8pPr algn="ctr">
              <a:defRPr sz="1725">
                <a:solidFill>
                  <a:srgbClr val="202D3D"/>
                </a:solidFill>
                <a:latin typeface="Times New Roman"/>
                <a:ea typeface="Times New Roman"/>
                <a:cs typeface="Times New Roman"/>
              </a:defRPr>
            </a:lvl8pPr>
            <a:lvl9pPr algn="ctr">
              <a:defRPr sz="1725">
                <a:solidFill>
                  <a:srgbClr val="202D3D"/>
                </a:solidFill>
                <a:latin typeface="Times New Roman"/>
                <a:ea typeface="Times New Roman"/>
                <a:cs typeface="Times New Roman"/>
              </a:defRPr>
            </a:lvl9pPr>
          </a:lstStyle>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Dense</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64 units</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ReLU</a:t>
            </a:r>
          </a:p>
        </p:txBody>
      </p:sp>
      <p:sp>
        <p:nvSpPr>
          <p:cNvPr id="10" name="Dropout&#10;rate = 0.5&#10;training only">
            <a:extLst>
              <a:ext uri="{FF2B5EF4-FFF2-40B4-BE49-F238E27FC236}">
                <a16:creationId xmlns:a16="http://schemas.microsoft.com/office/drawing/2014/main" id="{00881268-090D-44C0-BBEE-A8C41D717249}"/>
              </a:ext>
            </a:extLst>
          </p:cNvPr>
          <p:cNvSpPr>
            <a:spLocks noGrp="1"/>
          </p:cNvSpPr>
          <p:nvPr/>
        </p:nvSpPr>
        <p:spPr>
          <a:xfrm>
            <a:off x="8115300" y="2324100"/>
            <a:ext cx="1581150" cy="1524000"/>
          </a:xfrm>
          <a:prstGeom prst="rect">
            <a:avLst/>
          </a:prstGeom>
          <a:solidFill>
            <a:srgbClr val="FFF0E0"/>
          </a:solidFill>
          <a:ln w="14288">
            <a:solidFill>
              <a:srgbClr val="17365D"/>
            </a:solidFill>
            <a:prstDash val="solid"/>
          </a:ln>
        </p:spPr>
        <p:txBody>
          <a:bodyPr wrap="square" lIns="114300" tIns="114300" rIns="114300" bIns="114300" anchor="ctr">
            <a:noAutofit/>
          </a:bodyPr>
          <a:lstStyle>
            <a:defPPr algn="ctr">
              <a:defRPr sz="1725">
                <a:solidFill>
                  <a:srgbClr val="202D3D"/>
                </a:solidFill>
                <a:latin typeface="Times New Roman"/>
                <a:ea typeface="Times New Roman"/>
                <a:cs typeface="Times New Roman"/>
              </a:defRPr>
            </a:defPPr>
            <a:lvl1pPr algn="ctr">
              <a:defRPr sz="1725">
                <a:solidFill>
                  <a:srgbClr val="202D3D"/>
                </a:solidFill>
                <a:latin typeface="Times New Roman"/>
                <a:ea typeface="Times New Roman"/>
                <a:cs typeface="Times New Roman"/>
              </a:defRPr>
            </a:lvl1pPr>
            <a:lvl2pPr algn="ctr">
              <a:defRPr sz="1725">
                <a:solidFill>
                  <a:srgbClr val="202D3D"/>
                </a:solidFill>
                <a:latin typeface="Times New Roman"/>
                <a:ea typeface="Times New Roman"/>
                <a:cs typeface="Times New Roman"/>
              </a:defRPr>
            </a:lvl2pPr>
            <a:lvl3pPr algn="ctr">
              <a:defRPr sz="1725">
                <a:solidFill>
                  <a:srgbClr val="202D3D"/>
                </a:solidFill>
                <a:latin typeface="Times New Roman"/>
                <a:ea typeface="Times New Roman"/>
                <a:cs typeface="Times New Roman"/>
              </a:defRPr>
            </a:lvl3pPr>
            <a:lvl4pPr algn="ctr">
              <a:defRPr sz="1725">
                <a:solidFill>
                  <a:srgbClr val="202D3D"/>
                </a:solidFill>
                <a:latin typeface="Times New Roman"/>
                <a:ea typeface="Times New Roman"/>
                <a:cs typeface="Times New Roman"/>
              </a:defRPr>
            </a:lvl4pPr>
            <a:lvl5pPr algn="ctr">
              <a:defRPr sz="1725">
                <a:solidFill>
                  <a:srgbClr val="202D3D"/>
                </a:solidFill>
                <a:latin typeface="Times New Roman"/>
                <a:ea typeface="Times New Roman"/>
                <a:cs typeface="Times New Roman"/>
              </a:defRPr>
            </a:lvl5pPr>
            <a:lvl6pPr algn="ctr">
              <a:defRPr sz="1725">
                <a:solidFill>
                  <a:srgbClr val="202D3D"/>
                </a:solidFill>
                <a:latin typeface="Times New Roman"/>
                <a:ea typeface="Times New Roman"/>
                <a:cs typeface="Times New Roman"/>
              </a:defRPr>
            </a:lvl6pPr>
            <a:lvl7pPr algn="ctr">
              <a:defRPr sz="1725">
                <a:solidFill>
                  <a:srgbClr val="202D3D"/>
                </a:solidFill>
                <a:latin typeface="Times New Roman"/>
                <a:ea typeface="Times New Roman"/>
                <a:cs typeface="Times New Roman"/>
              </a:defRPr>
            </a:lvl7pPr>
            <a:lvl8pPr algn="ctr">
              <a:defRPr sz="1725">
                <a:solidFill>
                  <a:srgbClr val="202D3D"/>
                </a:solidFill>
                <a:latin typeface="Times New Roman"/>
                <a:ea typeface="Times New Roman"/>
                <a:cs typeface="Times New Roman"/>
              </a:defRPr>
            </a:lvl8pPr>
            <a:lvl9pPr algn="ctr">
              <a:defRPr sz="1725">
                <a:solidFill>
                  <a:srgbClr val="202D3D"/>
                </a:solidFill>
                <a:latin typeface="Times New Roman"/>
                <a:ea typeface="Times New Roman"/>
                <a:cs typeface="Times New Roman"/>
              </a:defRPr>
            </a:lvl9pPr>
          </a:lstStyle>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Dropout</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rate = 0.5</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training only</a:t>
            </a:r>
          </a:p>
        </p:txBody>
      </p:sp>
      <p:sp>
        <p:nvSpPr>
          <p:cNvPr id="11" name="Dense&#10;1 sigmoid&#10;threshold 0.5">
            <a:extLst>
              <a:ext uri="{FF2B5EF4-FFF2-40B4-BE49-F238E27FC236}">
                <a16:creationId xmlns:a16="http://schemas.microsoft.com/office/drawing/2014/main" id="{18B11A07-84CF-4DF7-9D82-5082C14079F3}"/>
              </a:ext>
            </a:extLst>
          </p:cNvPr>
          <p:cNvSpPr>
            <a:spLocks noGrp="1"/>
          </p:cNvSpPr>
          <p:nvPr/>
        </p:nvSpPr>
        <p:spPr>
          <a:xfrm>
            <a:off x="9991725" y="2324100"/>
            <a:ext cx="1581150" cy="1524000"/>
          </a:xfrm>
          <a:prstGeom prst="rect">
            <a:avLst/>
          </a:prstGeom>
          <a:solidFill>
            <a:srgbClr val="E5F5F0"/>
          </a:solidFill>
          <a:ln w="14288">
            <a:solidFill>
              <a:srgbClr val="17365D"/>
            </a:solidFill>
            <a:prstDash val="solid"/>
          </a:ln>
        </p:spPr>
        <p:txBody>
          <a:bodyPr wrap="square" lIns="114300" tIns="114300" rIns="114300" bIns="114300" anchor="ctr">
            <a:noAutofit/>
          </a:bodyPr>
          <a:lstStyle>
            <a:defPPr algn="ctr">
              <a:defRPr sz="1725">
                <a:solidFill>
                  <a:srgbClr val="202D3D"/>
                </a:solidFill>
                <a:latin typeface="Times New Roman"/>
                <a:ea typeface="Times New Roman"/>
                <a:cs typeface="Times New Roman"/>
              </a:defRPr>
            </a:defPPr>
            <a:lvl1pPr algn="ctr">
              <a:defRPr sz="1725">
                <a:solidFill>
                  <a:srgbClr val="202D3D"/>
                </a:solidFill>
                <a:latin typeface="Times New Roman"/>
                <a:ea typeface="Times New Roman"/>
                <a:cs typeface="Times New Roman"/>
              </a:defRPr>
            </a:lvl1pPr>
            <a:lvl2pPr algn="ctr">
              <a:defRPr sz="1725">
                <a:solidFill>
                  <a:srgbClr val="202D3D"/>
                </a:solidFill>
                <a:latin typeface="Times New Roman"/>
                <a:ea typeface="Times New Roman"/>
                <a:cs typeface="Times New Roman"/>
              </a:defRPr>
            </a:lvl2pPr>
            <a:lvl3pPr algn="ctr">
              <a:defRPr sz="1725">
                <a:solidFill>
                  <a:srgbClr val="202D3D"/>
                </a:solidFill>
                <a:latin typeface="Times New Roman"/>
                <a:ea typeface="Times New Roman"/>
                <a:cs typeface="Times New Roman"/>
              </a:defRPr>
            </a:lvl3pPr>
            <a:lvl4pPr algn="ctr">
              <a:defRPr sz="1725">
                <a:solidFill>
                  <a:srgbClr val="202D3D"/>
                </a:solidFill>
                <a:latin typeface="Times New Roman"/>
                <a:ea typeface="Times New Roman"/>
                <a:cs typeface="Times New Roman"/>
              </a:defRPr>
            </a:lvl4pPr>
            <a:lvl5pPr algn="ctr">
              <a:defRPr sz="1725">
                <a:solidFill>
                  <a:srgbClr val="202D3D"/>
                </a:solidFill>
                <a:latin typeface="Times New Roman"/>
                <a:ea typeface="Times New Roman"/>
                <a:cs typeface="Times New Roman"/>
              </a:defRPr>
            </a:lvl5pPr>
            <a:lvl6pPr algn="ctr">
              <a:defRPr sz="1725">
                <a:solidFill>
                  <a:srgbClr val="202D3D"/>
                </a:solidFill>
                <a:latin typeface="Times New Roman"/>
                <a:ea typeface="Times New Roman"/>
                <a:cs typeface="Times New Roman"/>
              </a:defRPr>
            </a:lvl6pPr>
            <a:lvl7pPr algn="ctr">
              <a:defRPr sz="1725">
                <a:solidFill>
                  <a:srgbClr val="202D3D"/>
                </a:solidFill>
                <a:latin typeface="Times New Roman"/>
                <a:ea typeface="Times New Roman"/>
                <a:cs typeface="Times New Roman"/>
              </a:defRPr>
            </a:lvl7pPr>
            <a:lvl8pPr algn="ctr">
              <a:defRPr sz="1725">
                <a:solidFill>
                  <a:srgbClr val="202D3D"/>
                </a:solidFill>
                <a:latin typeface="Times New Roman"/>
                <a:ea typeface="Times New Roman"/>
                <a:cs typeface="Times New Roman"/>
              </a:defRPr>
            </a:lvl8pPr>
            <a:lvl9pPr algn="ctr">
              <a:defRPr sz="1725">
                <a:solidFill>
                  <a:srgbClr val="202D3D"/>
                </a:solidFill>
                <a:latin typeface="Times New Roman"/>
                <a:ea typeface="Times New Roman"/>
                <a:cs typeface="Times New Roman"/>
              </a:defRPr>
            </a:lvl9pPr>
          </a:lstStyle>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Dense</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1 sigmoid</a:t>
            </a:r>
          </a:p>
          <a:p>
            <a:pPr algn="ctr">
              <a:defRPr sz="1725">
                <a:solidFill>
                  <a:srgbClr val="202D3D"/>
                </a:solidFill>
                <a:latin typeface="Times New Roman"/>
                <a:ea typeface="Times New Roman"/>
                <a:cs typeface="Times New Roman"/>
              </a:defRPr>
            </a:pPr>
            <a:r>
              <a:rPr sz="1725">
                <a:solidFill>
                  <a:srgbClr val="202D3D"/>
                </a:solidFill>
                <a:latin typeface="Times New Roman"/>
                <a:ea typeface="Times New Roman"/>
                <a:cs typeface="Times New Roman"/>
              </a:rPr>
              <a:t>threshold 0.5</a:t>
            </a:r>
          </a:p>
        </p:txBody>
      </p:sp>
      <p:sp>
        <p:nvSpPr>
          <p:cNvPr id="17" name="72,449">
            <a:extLst>
              <a:ext uri="{FF2B5EF4-FFF2-40B4-BE49-F238E27FC236}">
                <a16:creationId xmlns:a16="http://schemas.microsoft.com/office/drawing/2014/main" id="{67815C3C-F6E9-4606-A307-02774D8DD869}"/>
              </a:ext>
            </a:extLst>
          </p:cNvPr>
          <p:cNvSpPr>
            <a:spLocks noGrp="1"/>
          </p:cNvSpPr>
          <p:nvPr/>
        </p:nvSpPr>
        <p:spPr>
          <a:xfrm>
            <a:off x="609600" y="4305300"/>
            <a:ext cx="4572000" cy="619125"/>
          </a:xfrm>
          <a:prstGeom prst="rect">
            <a:avLst/>
          </a:prstGeom>
          <a:noFill/>
          <a:ln w="0">
            <a:noFill/>
          </a:ln>
        </p:spPr>
        <p:txBody>
          <a:bodyPr wrap="square" lIns="0" tIns="0" rIns="0" bIns="0" anchor="t">
            <a:noAutofit/>
          </a:bodyPr>
          <a:lstStyle>
            <a:defPPr algn="l">
              <a:defRPr sz="3825" b="1">
                <a:solidFill>
                  <a:srgbClr val="D97706"/>
                </a:solidFill>
                <a:latin typeface="Times New Roman"/>
                <a:ea typeface="Times New Roman"/>
                <a:cs typeface="Times New Roman"/>
              </a:defRPr>
            </a:defPPr>
            <a:lvl1pPr algn="l">
              <a:defRPr sz="3825" b="1">
                <a:solidFill>
                  <a:srgbClr val="D97706"/>
                </a:solidFill>
                <a:latin typeface="Times New Roman"/>
                <a:ea typeface="Times New Roman"/>
                <a:cs typeface="Times New Roman"/>
              </a:defRPr>
            </a:lvl1pPr>
            <a:lvl2pPr algn="l">
              <a:defRPr sz="3825" b="1">
                <a:solidFill>
                  <a:srgbClr val="D97706"/>
                </a:solidFill>
                <a:latin typeface="Times New Roman"/>
                <a:ea typeface="Times New Roman"/>
                <a:cs typeface="Times New Roman"/>
              </a:defRPr>
            </a:lvl2pPr>
            <a:lvl3pPr algn="l">
              <a:defRPr sz="3825" b="1">
                <a:solidFill>
                  <a:srgbClr val="D97706"/>
                </a:solidFill>
                <a:latin typeface="Times New Roman"/>
                <a:ea typeface="Times New Roman"/>
                <a:cs typeface="Times New Roman"/>
              </a:defRPr>
            </a:lvl3pPr>
            <a:lvl4pPr algn="l">
              <a:defRPr sz="3825" b="1">
                <a:solidFill>
                  <a:srgbClr val="D97706"/>
                </a:solidFill>
                <a:latin typeface="Times New Roman"/>
                <a:ea typeface="Times New Roman"/>
                <a:cs typeface="Times New Roman"/>
              </a:defRPr>
            </a:lvl4pPr>
            <a:lvl5pPr algn="l">
              <a:defRPr sz="3825" b="1">
                <a:solidFill>
                  <a:srgbClr val="D97706"/>
                </a:solidFill>
                <a:latin typeface="Times New Roman"/>
                <a:ea typeface="Times New Roman"/>
                <a:cs typeface="Times New Roman"/>
              </a:defRPr>
            </a:lvl5pPr>
            <a:lvl6pPr algn="l">
              <a:defRPr sz="3825" b="1">
                <a:solidFill>
                  <a:srgbClr val="D97706"/>
                </a:solidFill>
                <a:latin typeface="Times New Roman"/>
                <a:ea typeface="Times New Roman"/>
                <a:cs typeface="Times New Roman"/>
              </a:defRPr>
            </a:lvl6pPr>
            <a:lvl7pPr algn="l">
              <a:defRPr sz="3825" b="1">
                <a:solidFill>
                  <a:srgbClr val="D97706"/>
                </a:solidFill>
                <a:latin typeface="Times New Roman"/>
                <a:ea typeface="Times New Roman"/>
                <a:cs typeface="Times New Roman"/>
              </a:defRPr>
            </a:lvl7pPr>
            <a:lvl8pPr algn="l">
              <a:defRPr sz="3825" b="1">
                <a:solidFill>
                  <a:srgbClr val="D97706"/>
                </a:solidFill>
                <a:latin typeface="Times New Roman"/>
                <a:ea typeface="Times New Roman"/>
                <a:cs typeface="Times New Roman"/>
              </a:defRPr>
            </a:lvl8pPr>
            <a:lvl9pPr algn="l">
              <a:defRPr sz="3825" b="1">
                <a:solidFill>
                  <a:srgbClr val="D97706"/>
                </a:solidFill>
                <a:latin typeface="Times New Roman"/>
                <a:ea typeface="Times New Roman"/>
                <a:cs typeface="Times New Roman"/>
              </a:defRPr>
            </a:lvl9pPr>
          </a:lstStyle>
          <a:p>
            <a:pPr algn="l">
              <a:defRPr sz="3825" b="1">
                <a:solidFill>
                  <a:srgbClr val="D97706"/>
                </a:solidFill>
                <a:latin typeface="Times New Roman"/>
                <a:ea typeface="Times New Roman"/>
                <a:cs typeface="Times New Roman"/>
              </a:defRPr>
            </a:pPr>
            <a:r>
              <a:rPr sz="3375" b="1">
                <a:solidFill>
                  <a:srgbClr val="D97706"/>
                </a:solidFill>
                <a:latin typeface="Times New Roman"/>
                <a:ea typeface="Times New Roman"/>
                <a:cs typeface="Times New Roman"/>
              </a:rPr>
              <a:t>Pattern detector</a:t>
            </a:r>
          </a:p>
        </p:txBody>
      </p:sp>
      <p:sp>
        <p:nvSpPr>
          <p:cNvPr id="18" name="trainable parameters&#10;2,000,000 frozen embedding values">
            <a:extLst>
              <a:ext uri="{FF2B5EF4-FFF2-40B4-BE49-F238E27FC236}">
                <a16:creationId xmlns:a16="http://schemas.microsoft.com/office/drawing/2014/main" id="{EB843EA8-8D96-4E6D-94F8-E7DE9B785CA4}"/>
              </a:ext>
            </a:extLst>
          </p:cNvPr>
          <p:cNvSpPr>
            <a:spLocks noGrp="1"/>
          </p:cNvSpPr>
          <p:nvPr/>
        </p:nvSpPr>
        <p:spPr>
          <a:xfrm>
            <a:off x="609600" y="5029200"/>
            <a:ext cx="5381625" cy="790575"/>
          </a:xfrm>
          <a:prstGeom prst="rect">
            <a:avLst/>
          </a:prstGeom>
          <a:noFill/>
          <a:ln w="0">
            <a:noFill/>
          </a:ln>
        </p:spPr>
        <p:txBody>
          <a:bodyPr wrap="square" lIns="0" tIns="0" rIns="0" bIns="0" anchor="t">
            <a:noAutofit/>
          </a:bodyPr>
          <a:lstStyle>
            <a:defPPr algn="l">
              <a:defRPr sz="1875" b="0">
                <a:solidFill>
                  <a:srgbClr val="202D3D"/>
                </a:solidFill>
                <a:latin typeface="Times New Roman"/>
                <a:ea typeface="Times New Roman"/>
                <a:cs typeface="Times New Roman"/>
              </a:defRPr>
            </a:defPPr>
            <a:lvl1pPr algn="l">
              <a:defRPr sz="1875" b="0">
                <a:solidFill>
                  <a:srgbClr val="202D3D"/>
                </a:solidFill>
                <a:latin typeface="Times New Roman"/>
                <a:ea typeface="Times New Roman"/>
                <a:cs typeface="Times New Roman"/>
              </a:defRPr>
            </a:lvl1pPr>
            <a:lvl2pPr algn="l">
              <a:defRPr sz="1875" b="0">
                <a:solidFill>
                  <a:srgbClr val="202D3D"/>
                </a:solidFill>
                <a:latin typeface="Times New Roman"/>
                <a:ea typeface="Times New Roman"/>
                <a:cs typeface="Times New Roman"/>
              </a:defRPr>
            </a:lvl2pPr>
            <a:lvl3pPr algn="l">
              <a:defRPr sz="1875" b="0">
                <a:solidFill>
                  <a:srgbClr val="202D3D"/>
                </a:solidFill>
                <a:latin typeface="Times New Roman"/>
                <a:ea typeface="Times New Roman"/>
                <a:cs typeface="Times New Roman"/>
              </a:defRPr>
            </a:lvl3pPr>
            <a:lvl4pPr algn="l">
              <a:defRPr sz="1875" b="0">
                <a:solidFill>
                  <a:srgbClr val="202D3D"/>
                </a:solidFill>
                <a:latin typeface="Times New Roman"/>
                <a:ea typeface="Times New Roman"/>
                <a:cs typeface="Times New Roman"/>
              </a:defRPr>
            </a:lvl4pPr>
            <a:lvl5pPr algn="l">
              <a:defRPr sz="1875" b="0">
                <a:solidFill>
                  <a:srgbClr val="202D3D"/>
                </a:solidFill>
                <a:latin typeface="Times New Roman"/>
                <a:ea typeface="Times New Roman"/>
                <a:cs typeface="Times New Roman"/>
              </a:defRPr>
            </a:lvl5pPr>
            <a:lvl6pPr algn="l">
              <a:defRPr sz="1875" b="0">
                <a:solidFill>
                  <a:srgbClr val="202D3D"/>
                </a:solidFill>
                <a:latin typeface="Times New Roman"/>
                <a:ea typeface="Times New Roman"/>
                <a:cs typeface="Times New Roman"/>
              </a:defRPr>
            </a:lvl6pPr>
            <a:lvl7pPr algn="l">
              <a:defRPr sz="1875" b="0">
                <a:solidFill>
                  <a:srgbClr val="202D3D"/>
                </a:solidFill>
                <a:latin typeface="Times New Roman"/>
                <a:ea typeface="Times New Roman"/>
                <a:cs typeface="Times New Roman"/>
              </a:defRPr>
            </a:lvl7pPr>
            <a:lvl8pPr algn="l">
              <a:defRPr sz="1875" b="0">
                <a:solidFill>
                  <a:srgbClr val="202D3D"/>
                </a:solidFill>
                <a:latin typeface="Times New Roman"/>
                <a:ea typeface="Times New Roman"/>
                <a:cs typeface="Times New Roman"/>
              </a:defRPr>
            </a:lvl8pPr>
            <a:lvl9pPr algn="l">
              <a:defRPr sz="1875" b="0">
                <a:solidFill>
                  <a:srgbClr val="202D3D"/>
                </a:solidFill>
                <a:latin typeface="Times New Roman"/>
                <a:ea typeface="Times New Roman"/>
                <a:cs typeface="Times New Roman"/>
              </a:defRPr>
            </a:lvl9pPr>
          </a:lstStyle>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Looks at five tokens at a time</a:t>
            </a:r>
          </a:p>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Combines patterns across the review</a:t>
            </a:r>
          </a:p>
        </p:txBody>
      </p:sp>
      <p:sp>
        <p:nvSpPr>
          <p:cNvPr id="19" name="Adam 0.001 + binary cross-entropy&#10;Batch 64, at most 10 epochs&#10;Ear">
            <a:extLst>
              <a:ext uri="{FF2B5EF4-FFF2-40B4-BE49-F238E27FC236}">
                <a16:creationId xmlns:a16="http://schemas.microsoft.com/office/drawing/2014/main" id="{EA5CAFD7-0DB9-4CC9-8F28-81E8E257F349}"/>
              </a:ext>
            </a:extLst>
          </p:cNvPr>
          <p:cNvSpPr>
            <a:spLocks noGrp="1"/>
          </p:cNvSpPr>
          <p:nvPr/>
        </p:nvSpPr>
        <p:spPr>
          <a:xfrm>
            <a:off x="6438900" y="4305300"/>
            <a:ext cx="5143500" cy="1466850"/>
          </a:xfrm>
          <a:prstGeom prst="rect">
            <a:avLst/>
          </a:prstGeom>
          <a:noFill/>
          <a:ln w="0">
            <a:noFill/>
          </a:ln>
        </p:spPr>
        <p:txBody>
          <a:bodyPr wrap="square" lIns="0" tIns="0" rIns="0" bIns="0" anchor="t">
            <a:noAutofit/>
          </a:bodyPr>
          <a:lstStyle>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Dropout: 0.5</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Early stopping on validation loss</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Frozen GloVe embeddings</a:t>
            </a:r>
          </a:p>
        </p:txBody>
      </p:sp>
    </p:spTree>
    <p:extLst>
      <p:ext uri="{BB962C8B-B14F-4D97-AF65-F5344CB8AC3E}">
        <p14:creationId xmlns:p14="http://schemas.microsoft.com/office/powerpoint/2010/main" val="525551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VM leads on the held-out test split">
            <a:extLst>
              <a:ext uri="{FF2B5EF4-FFF2-40B4-BE49-F238E27FC236}">
                <a16:creationId xmlns:a16="http://schemas.microsoft.com/office/drawing/2014/main" id="{02B51DDA-ADCC-445C-BDA8-E9BC1CAD4264}"/>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Test results</a:t>
            </a:r>
          </a:p>
        </p:txBody>
      </p:sp>
      <p:sp>
        <p:nvSpPr>
          <p:cNvPr id="2" name="Straight Connector 1">
            <a:extLst>
              <a:ext uri="{FF2B5EF4-FFF2-40B4-BE49-F238E27FC236}">
                <a16:creationId xmlns:a16="http://schemas.microsoft.com/office/drawing/2014/main" id="{89F74CF3-ED34-4D33-A09A-78D1E67F7BBC}"/>
              </a:ext>
            </a:extLst>
          </p:cNvPr>
          <p:cNvSpPr>
            <a:spLocks noGrp="1"/>
          </p:cNvSpPr>
          <p:nvPr/>
        </p:nvSpPr>
        <p:spPr>
          <a:xfrm>
            <a:off x="609600" y="1266825"/>
            <a:ext cx="10972800" cy="0"/>
          </a:xfrm>
          <a:prstGeom prst="line">
            <a:avLst/>
          </a:prstGeom>
          <a:ln w="28575">
            <a:solidFill>
              <a:srgbClr val="2563EB"/>
            </a:solidFill>
            <a:prstDash val="solid"/>
          </a:ln>
        </p:spPr>
      </p:sp>
      <p:sp>
        <p:nvSpPr>
          <p:cNvPr id="3" name="5. Evaluation and critical analysis">
            <a:extLst>
              <a:ext uri="{FF2B5EF4-FFF2-40B4-BE49-F238E27FC236}">
                <a16:creationId xmlns:a16="http://schemas.microsoft.com/office/drawing/2014/main" id="{346A314F-E262-4EFB-93E0-DCCCBD6B7AEB}"/>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5. Evaluation and critical analysis</a:t>
            </a:r>
          </a:p>
        </p:txBody>
      </p:sp>
      <p:sp>
        <p:nvSpPr>
          <p:cNvPr id="4" name="08 / 13">
            <a:extLst>
              <a:ext uri="{FF2B5EF4-FFF2-40B4-BE49-F238E27FC236}">
                <a16:creationId xmlns:a16="http://schemas.microsoft.com/office/drawing/2014/main" id="{DAA15E4D-7652-4022-9961-9AB523D10323}"/>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08 / 14</a:t>
            </a:r>
          </a:p>
        </p:txBody>
      </p:sp>
      <p:graphicFrame>
        <p:nvGraphicFramePr>
          <p:cNvPr id="5" name="Chart">
            <a:extLst>
              <a:ext uri="{FF2B5EF4-FFF2-40B4-BE49-F238E27FC236}">
                <a16:creationId xmlns:a16="http://schemas.microsoft.com/office/drawing/2014/main" id="{44004EA2-19AB-458B-BA39-1D22A53CCD24}"/>
              </a:ext>
            </a:extLst>
          </p:cNvPr>
          <p:cNvGraphicFramePr/>
          <p:nvPr/>
        </p:nvGraphicFramePr>
        <p:xfrm>
          <a:off x="457200" y="1838325"/>
          <a:ext cx="6572250" cy="3314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68403AB8-D81C-4CCA-A5E8-41D89107A954}"/>
              </a:ext>
            </a:extLst>
          </p:cNvPr>
          <p:cNvGraphicFramePr/>
          <p:nvPr/>
        </p:nvGraphicFramePr>
        <p:xfrm>
          <a:off x="7353300" y="1790700"/>
          <a:ext cx="4229100" cy="3371850"/>
        </p:xfrm>
        <a:graphic>
          <a:graphicData uri="http://schemas.openxmlformats.org/drawingml/2006/table">
            <a:tbl>
              <a:tblPr/>
              <a:tblGrid>
                <a:gridCol w="21336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tblGrid>
              <a:tr h="561975">
                <a:tc>
                  <a:txBody>
                    <a:bodyPr/>
                    <a:lstStyle/>
                    <a:p>
                      <a:pPr algn="l"/>
                      <a:r>
                        <a:rPr sz="1800" b="1">
                          <a:solidFill>
                            <a:srgbClr val="FFFFFF"/>
                          </a:solidFill>
                          <a:latin typeface="Times New Roman"/>
                          <a:ea typeface="Times New Roman"/>
                          <a:cs typeface="Times New Roman"/>
                        </a:rPr>
                        <a:t>Metric</a:t>
                      </a:r>
                    </a:p>
                  </a:txBody>
                  <a:tcPr anchor="ctr">
                    <a:lnL w="9525">
                      <a:solidFill>
                        <a:srgbClr val="AAB9CB"/>
                      </a:solidFill>
                      <a:prstDash val="soli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00" b="1">
                          <a:solidFill>
                            <a:srgbClr val="FFFFFF"/>
                          </a:solidFill>
                          <a:latin typeface="Times New Roman"/>
                          <a:ea typeface="Times New Roman"/>
                          <a:cs typeface="Times New Roman"/>
                        </a:rPr>
                        <a:t>SVM</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00" b="1">
                          <a:solidFill>
                            <a:srgbClr val="FFFFFF"/>
                          </a:solidFill>
                          <a:latin typeface="Times New Roman"/>
                          <a:ea typeface="Times New Roman"/>
                          <a:cs typeface="Times New Roman"/>
                        </a:rPr>
                        <a:t>CNN</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extLst>
                  <a:ext uri="{0D108BD9-81ED-4DB2-BD59-A6C34878D82A}">
                    <a16:rowId xmlns:a16="http://schemas.microsoft.com/office/drawing/2014/main" val="10000"/>
                  </a:ext>
                </a:extLst>
              </a:tr>
              <a:tr h="561975">
                <a:tc>
                  <a:txBody>
                    <a:bodyPr/>
                    <a:lstStyle/>
                    <a:p>
                      <a:pPr algn="l"/>
                      <a:r>
                        <a:rPr sz="1800" b="0">
                          <a:solidFill>
                            <a:srgbClr val="202D3D"/>
                          </a:solidFill>
                          <a:latin typeface="Times New Roman"/>
                          <a:ea typeface="Times New Roman"/>
                          <a:cs typeface="Times New Roman"/>
                        </a:rPr>
                        <a:t>Accuracy</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2563EB"/>
                          </a:solidFill>
                          <a:latin typeface="Times New Roman"/>
                          <a:ea typeface="Times New Roman"/>
                          <a:cs typeface="Times New Roman"/>
                        </a:rPr>
                        <a:t>0.9086</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D97706"/>
                          </a:solidFill>
                          <a:latin typeface="Times New Roman"/>
                          <a:ea typeface="Times New Roman"/>
                          <a:cs typeface="Times New Roman"/>
                        </a:rPr>
                        <a:t>0.8711</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1"/>
                  </a:ext>
                </a:extLst>
              </a:tr>
              <a:tr h="561975">
                <a:tc>
                  <a:txBody>
                    <a:bodyPr/>
                    <a:lstStyle/>
                    <a:p>
                      <a:pPr algn="l"/>
                      <a:r>
                        <a:rPr sz="1800" b="0">
                          <a:solidFill>
                            <a:srgbClr val="202D3D"/>
                          </a:solidFill>
                          <a:latin typeface="Times New Roman"/>
                          <a:ea typeface="Times New Roman"/>
                          <a:cs typeface="Times New Roman"/>
                        </a:rPr>
                        <a:t>Macro precision</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00" b="0">
                          <a:solidFill>
                            <a:srgbClr val="2563EB"/>
                          </a:solidFill>
                          <a:latin typeface="Times New Roman"/>
                          <a:ea typeface="Times New Roman"/>
                          <a:cs typeface="Times New Roman"/>
                        </a:rPr>
                        <a:t>0.9089</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00" b="0">
                          <a:solidFill>
                            <a:srgbClr val="D97706"/>
                          </a:solidFill>
                          <a:latin typeface="Times New Roman"/>
                          <a:ea typeface="Times New Roman"/>
                          <a:cs typeface="Times New Roman"/>
                        </a:rPr>
                        <a:t>0.8711</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2"/>
                  </a:ext>
                </a:extLst>
              </a:tr>
              <a:tr h="561975">
                <a:tc>
                  <a:txBody>
                    <a:bodyPr/>
                    <a:lstStyle/>
                    <a:p>
                      <a:pPr algn="l"/>
                      <a:r>
                        <a:rPr sz="1800" b="0">
                          <a:solidFill>
                            <a:srgbClr val="202D3D"/>
                          </a:solidFill>
                          <a:latin typeface="Times New Roman"/>
                          <a:ea typeface="Times New Roman"/>
                          <a:cs typeface="Times New Roman"/>
                        </a:rPr>
                        <a:t>Macro recall</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2563EB"/>
                          </a:solidFill>
                          <a:latin typeface="Times New Roman"/>
                          <a:ea typeface="Times New Roman"/>
                          <a:cs typeface="Times New Roman"/>
                        </a:rPr>
                        <a:t>0.9086</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D97706"/>
                          </a:solidFill>
                          <a:latin typeface="Times New Roman"/>
                          <a:ea typeface="Times New Roman"/>
                          <a:cs typeface="Times New Roman"/>
                        </a:rPr>
                        <a:t>0.8711</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3"/>
                  </a:ext>
                </a:extLst>
              </a:tr>
              <a:tr h="561975">
                <a:tc>
                  <a:txBody>
                    <a:bodyPr/>
                    <a:lstStyle/>
                    <a:p>
                      <a:pPr algn="l"/>
                      <a:r>
                        <a:rPr sz="1800" b="0">
                          <a:solidFill>
                            <a:srgbClr val="202D3D"/>
                          </a:solidFill>
                          <a:latin typeface="Times New Roman"/>
                          <a:ea typeface="Times New Roman"/>
                          <a:cs typeface="Times New Roman"/>
                        </a:rPr>
                        <a:t>Macro F1</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00" b="0">
                          <a:solidFill>
                            <a:srgbClr val="2563EB"/>
                          </a:solidFill>
                          <a:latin typeface="Times New Roman"/>
                          <a:ea typeface="Times New Roman"/>
                          <a:cs typeface="Times New Roman"/>
                        </a:rPr>
                        <a:t>0.9086</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00" b="0">
                          <a:solidFill>
                            <a:srgbClr val="D97706"/>
                          </a:solidFill>
                          <a:latin typeface="Times New Roman"/>
                          <a:ea typeface="Times New Roman"/>
                          <a:cs typeface="Times New Roman"/>
                        </a:rPr>
                        <a:t>0.8711</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4"/>
                  </a:ext>
                </a:extLst>
              </a:tr>
              <a:tr h="561975">
                <a:tc>
                  <a:txBody>
                    <a:bodyPr/>
                    <a:lstStyle/>
                    <a:p>
                      <a:pPr algn="l"/>
                      <a:r>
                        <a:rPr sz="1800" b="0">
                          <a:solidFill>
                            <a:srgbClr val="202D3D"/>
                          </a:solidFill>
                          <a:latin typeface="Times New Roman"/>
                          <a:ea typeface="Times New Roman"/>
                          <a:cs typeface="Times New Roman"/>
                        </a:rPr>
                        <a:t>ROC-AUC</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2563EB"/>
                          </a:solidFill>
                          <a:latin typeface="Times New Roman"/>
                          <a:ea typeface="Times New Roman"/>
                          <a:cs typeface="Times New Roman"/>
                        </a:rPr>
                        <a:t>0.9682</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D97706"/>
                          </a:solidFill>
                          <a:latin typeface="Times New Roman"/>
                          <a:ea typeface="Times New Roman"/>
                          <a:cs typeface="Times New Roman"/>
                        </a:rPr>
                        <a:t>0.9426</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5"/>
                  </a:ext>
                </a:extLst>
              </a:tr>
            </a:tbl>
          </a:graphicData>
        </a:graphic>
      </p:graphicFrame>
      <p:sp>
        <p:nvSpPr>
          <p:cNvPr id="7" name="90.86% vs 87.11% accuracy">
            <a:extLst>
              <a:ext uri="{FF2B5EF4-FFF2-40B4-BE49-F238E27FC236}">
                <a16:creationId xmlns:a16="http://schemas.microsoft.com/office/drawing/2014/main" id="{409D5E6C-F9CA-46F0-96D4-FF4B32DF7EC4}"/>
              </a:ext>
            </a:extLst>
          </p:cNvPr>
          <p:cNvSpPr>
            <a:spLocks noGrp="1"/>
          </p:cNvSpPr>
          <p:nvPr/>
        </p:nvSpPr>
        <p:spPr>
          <a:xfrm>
            <a:off x="609600" y="5467350"/>
            <a:ext cx="10972800" cy="419100"/>
          </a:xfrm>
          <a:prstGeom prst="rect">
            <a:avLst/>
          </a:prstGeom>
          <a:noFill/>
          <a:ln w="0">
            <a:noFill/>
          </a:ln>
        </p:spPr>
        <p:txBody>
          <a:bodyPr wrap="square" lIns="0" tIns="0" rIns="0" bIns="0" anchor="t">
            <a:noAutofit/>
          </a:bodyPr>
          <a:lstStyle>
            <a:defPPr algn="l">
              <a:defRPr sz="2625" b="1">
                <a:solidFill>
                  <a:srgbClr val="2563EB"/>
                </a:solidFill>
                <a:latin typeface="Times New Roman"/>
                <a:ea typeface="Times New Roman"/>
                <a:cs typeface="Times New Roman"/>
              </a:defRPr>
            </a:defPPr>
            <a:lvl1pPr algn="l">
              <a:defRPr sz="2625" b="1">
                <a:solidFill>
                  <a:srgbClr val="2563EB"/>
                </a:solidFill>
                <a:latin typeface="Times New Roman"/>
                <a:ea typeface="Times New Roman"/>
                <a:cs typeface="Times New Roman"/>
              </a:defRPr>
            </a:lvl1pPr>
            <a:lvl2pPr algn="l">
              <a:defRPr sz="2625" b="1">
                <a:solidFill>
                  <a:srgbClr val="2563EB"/>
                </a:solidFill>
                <a:latin typeface="Times New Roman"/>
                <a:ea typeface="Times New Roman"/>
                <a:cs typeface="Times New Roman"/>
              </a:defRPr>
            </a:lvl2pPr>
            <a:lvl3pPr algn="l">
              <a:defRPr sz="2625" b="1">
                <a:solidFill>
                  <a:srgbClr val="2563EB"/>
                </a:solidFill>
                <a:latin typeface="Times New Roman"/>
                <a:ea typeface="Times New Roman"/>
                <a:cs typeface="Times New Roman"/>
              </a:defRPr>
            </a:lvl3pPr>
            <a:lvl4pPr algn="l">
              <a:defRPr sz="2625" b="1">
                <a:solidFill>
                  <a:srgbClr val="2563EB"/>
                </a:solidFill>
                <a:latin typeface="Times New Roman"/>
                <a:ea typeface="Times New Roman"/>
                <a:cs typeface="Times New Roman"/>
              </a:defRPr>
            </a:lvl4pPr>
            <a:lvl5pPr algn="l">
              <a:defRPr sz="2625" b="1">
                <a:solidFill>
                  <a:srgbClr val="2563EB"/>
                </a:solidFill>
                <a:latin typeface="Times New Roman"/>
                <a:ea typeface="Times New Roman"/>
                <a:cs typeface="Times New Roman"/>
              </a:defRPr>
            </a:lvl5pPr>
            <a:lvl6pPr algn="l">
              <a:defRPr sz="2625" b="1">
                <a:solidFill>
                  <a:srgbClr val="2563EB"/>
                </a:solidFill>
                <a:latin typeface="Times New Roman"/>
                <a:ea typeface="Times New Roman"/>
                <a:cs typeface="Times New Roman"/>
              </a:defRPr>
            </a:lvl6pPr>
            <a:lvl7pPr algn="l">
              <a:defRPr sz="2625" b="1">
                <a:solidFill>
                  <a:srgbClr val="2563EB"/>
                </a:solidFill>
                <a:latin typeface="Times New Roman"/>
                <a:ea typeface="Times New Roman"/>
                <a:cs typeface="Times New Roman"/>
              </a:defRPr>
            </a:lvl7pPr>
            <a:lvl8pPr algn="l">
              <a:defRPr sz="2625" b="1">
                <a:solidFill>
                  <a:srgbClr val="2563EB"/>
                </a:solidFill>
                <a:latin typeface="Times New Roman"/>
                <a:ea typeface="Times New Roman"/>
                <a:cs typeface="Times New Roman"/>
              </a:defRPr>
            </a:lvl8pPr>
            <a:lvl9pPr algn="l">
              <a:defRPr sz="2625" b="1">
                <a:solidFill>
                  <a:srgbClr val="2563EB"/>
                </a:solidFill>
                <a:latin typeface="Times New Roman"/>
                <a:ea typeface="Times New Roman"/>
                <a:cs typeface="Times New Roman"/>
              </a:defRPr>
            </a:lvl9pPr>
          </a:lstStyle>
          <a:p>
            <a:pPr algn="l">
              <a:defRPr sz="2625" b="1">
                <a:solidFill>
                  <a:srgbClr val="2563EB"/>
                </a:solidFill>
                <a:latin typeface="Times New Roman"/>
                <a:ea typeface="Times New Roman"/>
                <a:cs typeface="Times New Roman"/>
              </a:defRPr>
            </a:pPr>
            <a:r>
              <a:rPr sz="2625" b="1">
                <a:solidFill>
                  <a:srgbClr val="2563EB"/>
                </a:solidFill>
                <a:latin typeface="Times New Roman"/>
                <a:ea typeface="Times New Roman"/>
                <a:cs typeface="Times New Roman"/>
              </a:rPr>
              <a:t>90.86% vs 87.11% accuracy</a:t>
            </a:r>
          </a:p>
        </p:txBody>
      </p:sp>
      <p:sp>
        <p:nvSpPr>
          <p:cNvPr id="8" name="4,958 test reviews. SVM leads by 3.75 percentage points for these">
            <a:extLst>
              <a:ext uri="{FF2B5EF4-FFF2-40B4-BE49-F238E27FC236}">
                <a16:creationId xmlns:a16="http://schemas.microsoft.com/office/drawing/2014/main" id="{0CD005F8-51BC-4909-B047-4D5831864393}"/>
              </a:ext>
            </a:extLst>
          </p:cNvPr>
          <p:cNvSpPr>
            <a:spLocks noGrp="1"/>
          </p:cNvSpPr>
          <p:nvPr/>
        </p:nvSpPr>
        <p:spPr>
          <a:xfrm>
            <a:off x="609600" y="5953125"/>
            <a:ext cx="10972800" cy="285750"/>
          </a:xfrm>
          <a:prstGeom prst="rect">
            <a:avLst/>
          </a:prstGeom>
          <a:noFill/>
          <a:ln w="0">
            <a:noFill/>
          </a:ln>
        </p:spPr>
        <p:txBody>
          <a:bodyPr wrap="square" lIns="0" tIns="0" rIns="0" bIns="0" anchor="t">
            <a:noAutofit/>
          </a:bodyPr>
          <a:lstStyle>
            <a:defPPr algn="l">
              <a:defRPr sz="1575" b="0">
                <a:solidFill>
                  <a:srgbClr val="202D3D"/>
                </a:solidFill>
                <a:latin typeface="Times New Roman"/>
                <a:ea typeface="Times New Roman"/>
                <a:cs typeface="Times New Roman"/>
              </a:defRPr>
            </a:defPPr>
            <a:lvl1pPr algn="l">
              <a:defRPr sz="1575" b="0">
                <a:solidFill>
                  <a:srgbClr val="202D3D"/>
                </a:solidFill>
                <a:latin typeface="Times New Roman"/>
                <a:ea typeface="Times New Roman"/>
                <a:cs typeface="Times New Roman"/>
              </a:defRPr>
            </a:lvl1pPr>
            <a:lvl2pPr algn="l">
              <a:defRPr sz="1575" b="0">
                <a:solidFill>
                  <a:srgbClr val="202D3D"/>
                </a:solidFill>
                <a:latin typeface="Times New Roman"/>
                <a:ea typeface="Times New Roman"/>
                <a:cs typeface="Times New Roman"/>
              </a:defRPr>
            </a:lvl2pPr>
            <a:lvl3pPr algn="l">
              <a:defRPr sz="1575" b="0">
                <a:solidFill>
                  <a:srgbClr val="202D3D"/>
                </a:solidFill>
                <a:latin typeface="Times New Roman"/>
                <a:ea typeface="Times New Roman"/>
                <a:cs typeface="Times New Roman"/>
              </a:defRPr>
            </a:lvl3pPr>
            <a:lvl4pPr algn="l">
              <a:defRPr sz="1575" b="0">
                <a:solidFill>
                  <a:srgbClr val="202D3D"/>
                </a:solidFill>
                <a:latin typeface="Times New Roman"/>
                <a:ea typeface="Times New Roman"/>
                <a:cs typeface="Times New Roman"/>
              </a:defRPr>
            </a:lvl4pPr>
            <a:lvl5pPr algn="l">
              <a:defRPr sz="1575" b="0">
                <a:solidFill>
                  <a:srgbClr val="202D3D"/>
                </a:solidFill>
                <a:latin typeface="Times New Roman"/>
                <a:ea typeface="Times New Roman"/>
                <a:cs typeface="Times New Roman"/>
              </a:defRPr>
            </a:lvl5pPr>
            <a:lvl6pPr algn="l">
              <a:defRPr sz="1575" b="0">
                <a:solidFill>
                  <a:srgbClr val="202D3D"/>
                </a:solidFill>
                <a:latin typeface="Times New Roman"/>
                <a:ea typeface="Times New Roman"/>
                <a:cs typeface="Times New Roman"/>
              </a:defRPr>
            </a:lvl6pPr>
            <a:lvl7pPr algn="l">
              <a:defRPr sz="1575" b="0">
                <a:solidFill>
                  <a:srgbClr val="202D3D"/>
                </a:solidFill>
                <a:latin typeface="Times New Roman"/>
                <a:ea typeface="Times New Roman"/>
                <a:cs typeface="Times New Roman"/>
              </a:defRPr>
            </a:lvl7pPr>
            <a:lvl8pPr algn="l">
              <a:defRPr sz="1575" b="0">
                <a:solidFill>
                  <a:srgbClr val="202D3D"/>
                </a:solidFill>
                <a:latin typeface="Times New Roman"/>
                <a:ea typeface="Times New Roman"/>
                <a:cs typeface="Times New Roman"/>
              </a:defRPr>
            </a:lvl8pPr>
            <a:lvl9pPr algn="l">
              <a:defRPr sz="1575" b="0">
                <a:solidFill>
                  <a:srgbClr val="202D3D"/>
                </a:solidFill>
                <a:latin typeface="Times New Roman"/>
                <a:ea typeface="Times New Roman"/>
                <a:cs typeface="Times New Roman"/>
              </a:defRPr>
            </a:lvl9pPr>
          </a:lstStyle>
          <a:p>
            <a:pPr algn="l">
              <a:defRPr sz="1575" b="0">
                <a:solidFill>
                  <a:srgbClr val="202D3D"/>
                </a:solidFill>
                <a:latin typeface="Times New Roman"/>
                <a:ea typeface="Times New Roman"/>
                <a:cs typeface="Times New Roman"/>
              </a:defRPr>
            </a:pPr>
            <a:r>
              <a:rPr sz="1575" b="0">
                <a:solidFill>
                  <a:srgbClr val="202D3D"/>
                </a:solidFill>
                <a:latin typeface="Times New Roman"/>
                <a:ea typeface="Times New Roman"/>
                <a:cs typeface="Times New Roman"/>
              </a:rPr>
              <a:t>4,958 test reviews. SVM leads by 3.75 percentage points for these configurations.</a:t>
            </a:r>
          </a:p>
        </p:txBody>
      </p:sp>
    </p:spTree>
    <p:extLst>
      <p:ext uri="{BB962C8B-B14F-4D97-AF65-F5344CB8AC3E}">
        <p14:creationId xmlns:p14="http://schemas.microsoft.com/office/powerpoint/2010/main" val="224459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Confusion matrices reveal the errors">
            <a:extLst>
              <a:ext uri="{FF2B5EF4-FFF2-40B4-BE49-F238E27FC236}">
                <a16:creationId xmlns:a16="http://schemas.microsoft.com/office/drawing/2014/main" id="{D46559AF-6CB9-4EAC-9EE3-94212445688D}"/>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Confusion matrices</a:t>
            </a:r>
          </a:p>
        </p:txBody>
      </p:sp>
      <p:sp>
        <p:nvSpPr>
          <p:cNvPr id="2" name="Straight Connector 1">
            <a:extLst>
              <a:ext uri="{FF2B5EF4-FFF2-40B4-BE49-F238E27FC236}">
                <a16:creationId xmlns:a16="http://schemas.microsoft.com/office/drawing/2014/main" id="{8EA43DE5-7E7B-41A3-A571-CF96F893434A}"/>
              </a:ext>
            </a:extLst>
          </p:cNvPr>
          <p:cNvSpPr>
            <a:spLocks noGrp="1"/>
          </p:cNvSpPr>
          <p:nvPr/>
        </p:nvSpPr>
        <p:spPr>
          <a:xfrm>
            <a:off x="609600" y="1266825"/>
            <a:ext cx="10972800" cy="0"/>
          </a:xfrm>
          <a:prstGeom prst="line">
            <a:avLst/>
          </a:prstGeom>
          <a:ln w="28575">
            <a:solidFill>
              <a:srgbClr val="2563EB"/>
            </a:solidFill>
            <a:prstDash val="solid"/>
          </a:ln>
        </p:spPr>
      </p:sp>
      <p:sp>
        <p:nvSpPr>
          <p:cNvPr id="3" name="5. Evaluation and critical analysis">
            <a:extLst>
              <a:ext uri="{FF2B5EF4-FFF2-40B4-BE49-F238E27FC236}">
                <a16:creationId xmlns:a16="http://schemas.microsoft.com/office/drawing/2014/main" id="{51FABB01-83EB-4514-B709-8BFFE9722A05}"/>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5. Evaluation and critical analysis</a:t>
            </a:r>
          </a:p>
        </p:txBody>
      </p:sp>
      <p:sp>
        <p:nvSpPr>
          <p:cNvPr id="4" name="09 / 13">
            <a:extLst>
              <a:ext uri="{FF2B5EF4-FFF2-40B4-BE49-F238E27FC236}">
                <a16:creationId xmlns:a16="http://schemas.microsoft.com/office/drawing/2014/main" id="{AED8980F-8AE7-4D94-B97F-3A60AF36D77E}"/>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09 / 14</a:t>
            </a:r>
          </a:p>
        </p:txBody>
      </p:sp>
      <p:sp>
        <p:nvSpPr>
          <p:cNvPr id="5" name="TF-IDF + SVM">
            <a:extLst>
              <a:ext uri="{FF2B5EF4-FFF2-40B4-BE49-F238E27FC236}">
                <a16:creationId xmlns:a16="http://schemas.microsoft.com/office/drawing/2014/main" id="{1B7F29F7-B65F-4A54-AA21-AE6F1C2422C4}"/>
              </a:ext>
            </a:extLst>
          </p:cNvPr>
          <p:cNvSpPr>
            <a:spLocks noGrp="1"/>
          </p:cNvSpPr>
          <p:nvPr/>
        </p:nvSpPr>
        <p:spPr>
          <a:xfrm>
            <a:off x="609600" y="1704975"/>
            <a:ext cx="5181600" cy="428625"/>
          </a:xfrm>
          <a:prstGeom prst="rect">
            <a:avLst/>
          </a:prstGeom>
          <a:noFill/>
          <a:ln w="0">
            <a:noFill/>
          </a:ln>
        </p:spPr>
        <p:txBody>
          <a:bodyPr wrap="square" lIns="0" tIns="0" rIns="0" bIns="0" anchor="t">
            <a:noAutofit/>
          </a:bodyPr>
          <a:lstStyle>
            <a:defPPr algn="l">
              <a:defRPr sz="2550" b="1">
                <a:solidFill>
                  <a:srgbClr val="2563EB"/>
                </a:solidFill>
                <a:latin typeface="Times New Roman"/>
                <a:ea typeface="Times New Roman"/>
                <a:cs typeface="Times New Roman"/>
              </a:defRPr>
            </a:defPPr>
            <a:lvl1pPr algn="l">
              <a:defRPr sz="2550" b="1">
                <a:solidFill>
                  <a:srgbClr val="2563EB"/>
                </a:solidFill>
                <a:latin typeface="Times New Roman"/>
                <a:ea typeface="Times New Roman"/>
                <a:cs typeface="Times New Roman"/>
              </a:defRPr>
            </a:lvl1pPr>
            <a:lvl2pPr algn="l">
              <a:defRPr sz="2550" b="1">
                <a:solidFill>
                  <a:srgbClr val="2563EB"/>
                </a:solidFill>
                <a:latin typeface="Times New Roman"/>
                <a:ea typeface="Times New Roman"/>
                <a:cs typeface="Times New Roman"/>
              </a:defRPr>
            </a:lvl2pPr>
            <a:lvl3pPr algn="l">
              <a:defRPr sz="2550" b="1">
                <a:solidFill>
                  <a:srgbClr val="2563EB"/>
                </a:solidFill>
                <a:latin typeface="Times New Roman"/>
                <a:ea typeface="Times New Roman"/>
                <a:cs typeface="Times New Roman"/>
              </a:defRPr>
            </a:lvl3pPr>
            <a:lvl4pPr algn="l">
              <a:defRPr sz="2550" b="1">
                <a:solidFill>
                  <a:srgbClr val="2563EB"/>
                </a:solidFill>
                <a:latin typeface="Times New Roman"/>
                <a:ea typeface="Times New Roman"/>
                <a:cs typeface="Times New Roman"/>
              </a:defRPr>
            </a:lvl4pPr>
            <a:lvl5pPr algn="l">
              <a:defRPr sz="2550" b="1">
                <a:solidFill>
                  <a:srgbClr val="2563EB"/>
                </a:solidFill>
                <a:latin typeface="Times New Roman"/>
                <a:ea typeface="Times New Roman"/>
                <a:cs typeface="Times New Roman"/>
              </a:defRPr>
            </a:lvl5pPr>
            <a:lvl6pPr algn="l">
              <a:defRPr sz="2550" b="1">
                <a:solidFill>
                  <a:srgbClr val="2563EB"/>
                </a:solidFill>
                <a:latin typeface="Times New Roman"/>
                <a:ea typeface="Times New Roman"/>
                <a:cs typeface="Times New Roman"/>
              </a:defRPr>
            </a:lvl6pPr>
            <a:lvl7pPr algn="l">
              <a:defRPr sz="2550" b="1">
                <a:solidFill>
                  <a:srgbClr val="2563EB"/>
                </a:solidFill>
                <a:latin typeface="Times New Roman"/>
                <a:ea typeface="Times New Roman"/>
                <a:cs typeface="Times New Roman"/>
              </a:defRPr>
            </a:lvl7pPr>
            <a:lvl8pPr algn="l">
              <a:defRPr sz="2550" b="1">
                <a:solidFill>
                  <a:srgbClr val="2563EB"/>
                </a:solidFill>
                <a:latin typeface="Times New Roman"/>
                <a:ea typeface="Times New Roman"/>
                <a:cs typeface="Times New Roman"/>
              </a:defRPr>
            </a:lvl8pPr>
            <a:lvl9pPr algn="l">
              <a:defRPr sz="2550" b="1">
                <a:solidFill>
                  <a:srgbClr val="2563EB"/>
                </a:solidFill>
                <a:latin typeface="Times New Roman"/>
                <a:ea typeface="Times New Roman"/>
                <a:cs typeface="Times New Roman"/>
              </a:defRPr>
            </a:lvl9pPr>
          </a:lstStyle>
          <a:p>
            <a:pPr algn="l">
              <a:defRPr sz="2550" b="1">
                <a:solidFill>
                  <a:srgbClr val="2563EB"/>
                </a:solidFill>
                <a:latin typeface="Times New Roman"/>
                <a:ea typeface="Times New Roman"/>
                <a:cs typeface="Times New Roman"/>
              </a:defRPr>
            </a:pPr>
            <a:r>
              <a:rPr sz="2550" b="1">
                <a:solidFill>
                  <a:srgbClr val="2563EB"/>
                </a:solidFill>
                <a:latin typeface="Times New Roman"/>
                <a:ea typeface="Times New Roman"/>
                <a:cs typeface="Times New Roman"/>
              </a:rPr>
              <a:t>TF-IDF + SVM</a:t>
            </a:r>
          </a:p>
        </p:txBody>
      </p:sp>
      <p:sp>
        <p:nvSpPr>
          <p:cNvPr id="6" name="Predicted label">
            <a:extLst>
              <a:ext uri="{FF2B5EF4-FFF2-40B4-BE49-F238E27FC236}">
                <a16:creationId xmlns:a16="http://schemas.microsoft.com/office/drawing/2014/main" id="{A0643695-3708-487E-A93A-1B754219C77F}"/>
              </a:ext>
            </a:extLst>
          </p:cNvPr>
          <p:cNvSpPr>
            <a:spLocks noGrp="1"/>
          </p:cNvSpPr>
          <p:nvPr/>
        </p:nvSpPr>
        <p:spPr>
          <a:xfrm>
            <a:off x="2085975" y="2247900"/>
            <a:ext cx="3705225" cy="295275"/>
          </a:xfrm>
          <a:prstGeom prst="rect">
            <a:avLst/>
          </a:prstGeom>
          <a:noFill/>
          <a:ln w="0">
            <a:noFill/>
          </a:ln>
        </p:spPr>
        <p:txBody>
          <a:bodyPr wrap="square" lIns="0" tIns="0" rIns="0" bIns="0" anchor="t">
            <a:noAutofit/>
          </a:bodyPr>
          <a:lstStyle>
            <a:defPPr algn="ctr">
              <a:defRPr sz="1575" b="0">
                <a:solidFill>
                  <a:srgbClr val="202D3D"/>
                </a:solidFill>
                <a:latin typeface="Times New Roman"/>
                <a:ea typeface="Times New Roman"/>
                <a:cs typeface="Times New Roman"/>
              </a:defRPr>
            </a:defPPr>
            <a:lvl1pPr algn="ctr">
              <a:defRPr sz="1575" b="0">
                <a:solidFill>
                  <a:srgbClr val="202D3D"/>
                </a:solidFill>
                <a:latin typeface="Times New Roman"/>
                <a:ea typeface="Times New Roman"/>
                <a:cs typeface="Times New Roman"/>
              </a:defRPr>
            </a:lvl1pPr>
            <a:lvl2pPr algn="ctr">
              <a:defRPr sz="1575" b="0">
                <a:solidFill>
                  <a:srgbClr val="202D3D"/>
                </a:solidFill>
                <a:latin typeface="Times New Roman"/>
                <a:ea typeface="Times New Roman"/>
                <a:cs typeface="Times New Roman"/>
              </a:defRPr>
            </a:lvl2pPr>
            <a:lvl3pPr algn="ctr">
              <a:defRPr sz="1575" b="0">
                <a:solidFill>
                  <a:srgbClr val="202D3D"/>
                </a:solidFill>
                <a:latin typeface="Times New Roman"/>
                <a:ea typeface="Times New Roman"/>
                <a:cs typeface="Times New Roman"/>
              </a:defRPr>
            </a:lvl3pPr>
            <a:lvl4pPr algn="ctr">
              <a:defRPr sz="1575" b="0">
                <a:solidFill>
                  <a:srgbClr val="202D3D"/>
                </a:solidFill>
                <a:latin typeface="Times New Roman"/>
                <a:ea typeface="Times New Roman"/>
                <a:cs typeface="Times New Roman"/>
              </a:defRPr>
            </a:lvl4pPr>
            <a:lvl5pPr algn="ctr">
              <a:defRPr sz="1575" b="0">
                <a:solidFill>
                  <a:srgbClr val="202D3D"/>
                </a:solidFill>
                <a:latin typeface="Times New Roman"/>
                <a:ea typeface="Times New Roman"/>
                <a:cs typeface="Times New Roman"/>
              </a:defRPr>
            </a:lvl5pPr>
            <a:lvl6pPr algn="ctr">
              <a:defRPr sz="1575" b="0">
                <a:solidFill>
                  <a:srgbClr val="202D3D"/>
                </a:solidFill>
                <a:latin typeface="Times New Roman"/>
                <a:ea typeface="Times New Roman"/>
                <a:cs typeface="Times New Roman"/>
              </a:defRPr>
            </a:lvl6pPr>
            <a:lvl7pPr algn="ctr">
              <a:defRPr sz="1575" b="0">
                <a:solidFill>
                  <a:srgbClr val="202D3D"/>
                </a:solidFill>
                <a:latin typeface="Times New Roman"/>
                <a:ea typeface="Times New Roman"/>
                <a:cs typeface="Times New Roman"/>
              </a:defRPr>
            </a:lvl7pPr>
            <a:lvl8pPr algn="ctr">
              <a:defRPr sz="1575" b="0">
                <a:solidFill>
                  <a:srgbClr val="202D3D"/>
                </a:solidFill>
                <a:latin typeface="Times New Roman"/>
                <a:ea typeface="Times New Roman"/>
                <a:cs typeface="Times New Roman"/>
              </a:defRPr>
            </a:lvl8pPr>
            <a:lvl9pPr algn="ctr">
              <a:defRPr sz="1575" b="0">
                <a:solidFill>
                  <a:srgbClr val="202D3D"/>
                </a:solidFill>
                <a:latin typeface="Times New Roman"/>
                <a:ea typeface="Times New Roman"/>
                <a:cs typeface="Times New Roman"/>
              </a:defRPr>
            </a:lvl9pPr>
          </a:lstStyle>
          <a:p>
            <a:pPr algn="ctr">
              <a:defRPr sz="1575" b="0">
                <a:solidFill>
                  <a:srgbClr val="202D3D"/>
                </a:solidFill>
                <a:latin typeface="Times New Roman"/>
                <a:ea typeface="Times New Roman"/>
                <a:cs typeface="Times New Roman"/>
              </a:defRPr>
            </a:pPr>
            <a:r>
              <a:rPr sz="1575" b="0">
                <a:solidFill>
                  <a:srgbClr val="202D3D"/>
                </a:solidFill>
                <a:latin typeface="Times New Roman"/>
                <a:ea typeface="Times New Roman"/>
                <a:cs typeface="Times New Roman"/>
              </a:rPr>
              <a:t>Predicted label</a:t>
            </a:r>
          </a:p>
        </p:txBody>
      </p:sp>
      <p:graphicFrame>
        <p:nvGraphicFramePr>
          <p:cNvPr id="7" name="Table 6">
            <a:extLst>
              <a:ext uri="{FF2B5EF4-FFF2-40B4-BE49-F238E27FC236}">
                <a16:creationId xmlns:a16="http://schemas.microsoft.com/office/drawing/2014/main" id="{14E810D4-26BE-47DF-BB00-55FA8D20388D}"/>
              </a:ext>
            </a:extLst>
          </p:cNvPr>
          <p:cNvGraphicFramePr/>
          <p:nvPr/>
        </p:nvGraphicFramePr>
        <p:xfrm>
          <a:off x="609600" y="2676525"/>
          <a:ext cx="5181600" cy="2152650"/>
        </p:xfrm>
        <a:graphic>
          <a:graphicData uri="http://schemas.openxmlformats.org/drawingml/2006/table">
            <a:tbl>
              <a:tblPr/>
              <a:tblGrid>
                <a:gridCol w="20002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590675">
                  <a:extLst>
                    <a:ext uri="{9D8B030D-6E8A-4147-A177-3AD203B41FA5}">
                      <a16:colId xmlns:a16="http://schemas.microsoft.com/office/drawing/2014/main" val="20002"/>
                    </a:ext>
                  </a:extLst>
                </a:gridCol>
              </a:tblGrid>
              <a:tr h="717550">
                <a:tc>
                  <a:txBody>
                    <a:bodyPr/>
                    <a:lstStyle/>
                    <a:p>
                      <a:pPr algn="l"/>
                      <a:r>
                        <a:rPr sz="1875" b="1">
                          <a:solidFill>
                            <a:srgbClr val="FFFFFF"/>
                          </a:solidFill>
                          <a:latin typeface="Times New Roman"/>
                          <a:ea typeface="Times New Roman"/>
                          <a:cs typeface="Times New Roman"/>
                        </a:rPr>
                        <a:t>Actual label</a:t>
                      </a:r>
                    </a:p>
                  </a:txBody>
                  <a:tcPr anchor="ctr">
                    <a:lnL w="9525">
                      <a:solidFill>
                        <a:srgbClr val="AAB9CB"/>
                      </a:solidFill>
                      <a:prstDash val="soli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75" b="1">
                          <a:solidFill>
                            <a:srgbClr val="FFFFFF"/>
                          </a:solidFill>
                          <a:latin typeface="Times New Roman"/>
                          <a:ea typeface="Times New Roman"/>
                          <a:cs typeface="Times New Roman"/>
                        </a:rPr>
                        <a:t>Negative</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75" b="1">
                          <a:solidFill>
                            <a:srgbClr val="FFFFFF"/>
                          </a:solidFill>
                          <a:latin typeface="Times New Roman"/>
                          <a:ea typeface="Times New Roman"/>
                          <a:cs typeface="Times New Roman"/>
                        </a:rPr>
                        <a:t>Positive</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extLst>
                  <a:ext uri="{0D108BD9-81ED-4DB2-BD59-A6C34878D82A}">
                    <a16:rowId xmlns:a16="http://schemas.microsoft.com/office/drawing/2014/main" val="10000"/>
                  </a:ext>
                </a:extLst>
              </a:tr>
              <a:tr h="717550">
                <a:tc>
                  <a:txBody>
                    <a:bodyPr/>
                    <a:lstStyle/>
                    <a:p>
                      <a:pPr algn="l"/>
                      <a:r>
                        <a:rPr sz="1875" b="0">
                          <a:solidFill>
                            <a:srgbClr val="202D3D"/>
                          </a:solidFill>
                          <a:latin typeface="Times New Roman"/>
                          <a:ea typeface="Times New Roman"/>
                          <a:cs typeface="Times New Roman"/>
                        </a:rPr>
                        <a:t>Negative</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2325" b="1">
                          <a:solidFill>
                            <a:srgbClr val="17365D"/>
                          </a:solidFill>
                          <a:latin typeface="Times New Roman"/>
                          <a:ea typeface="Times New Roman"/>
                          <a:cs typeface="Times New Roman"/>
                        </a:rPr>
                        <a:t>2211</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D9E8FF"/>
                    </a:solidFill>
                  </a:tcPr>
                </a:tc>
                <a:tc>
                  <a:txBody>
                    <a:bodyPr/>
                    <a:lstStyle/>
                    <a:p>
                      <a:pPr algn="ctr"/>
                      <a:r>
                        <a:rPr sz="2325" b="1">
                          <a:solidFill>
                            <a:srgbClr val="A83B25"/>
                          </a:solidFill>
                          <a:latin typeface="Times New Roman"/>
                          <a:ea typeface="Times New Roman"/>
                          <a:cs typeface="Times New Roman"/>
                        </a:rPr>
                        <a:t>259</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4F1"/>
                    </a:solidFill>
                  </a:tcPr>
                </a:tc>
                <a:extLst>
                  <a:ext uri="{0D108BD9-81ED-4DB2-BD59-A6C34878D82A}">
                    <a16:rowId xmlns:a16="http://schemas.microsoft.com/office/drawing/2014/main" val="10001"/>
                  </a:ext>
                </a:extLst>
              </a:tr>
              <a:tr h="717550">
                <a:tc>
                  <a:txBody>
                    <a:bodyPr/>
                    <a:lstStyle/>
                    <a:p>
                      <a:pPr algn="l"/>
                      <a:r>
                        <a:rPr sz="1875" b="0">
                          <a:solidFill>
                            <a:srgbClr val="202D3D"/>
                          </a:solidFill>
                          <a:latin typeface="Times New Roman"/>
                          <a:ea typeface="Times New Roman"/>
                          <a:cs typeface="Times New Roman"/>
                        </a:rPr>
                        <a:t>Positive</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2325" b="1">
                          <a:solidFill>
                            <a:srgbClr val="A83B25"/>
                          </a:solidFill>
                          <a:latin typeface="Times New Roman"/>
                          <a:ea typeface="Times New Roman"/>
                          <a:cs typeface="Times New Roman"/>
                        </a:rPr>
                        <a:t>194</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4F1"/>
                    </a:solidFill>
                  </a:tcPr>
                </a:tc>
                <a:tc>
                  <a:txBody>
                    <a:bodyPr/>
                    <a:lstStyle/>
                    <a:p>
                      <a:pPr algn="ctr"/>
                      <a:r>
                        <a:rPr sz="2325" b="1">
                          <a:solidFill>
                            <a:srgbClr val="17365D"/>
                          </a:solidFill>
                          <a:latin typeface="Times New Roman"/>
                          <a:ea typeface="Times New Roman"/>
                          <a:cs typeface="Times New Roman"/>
                        </a:rPr>
                        <a:t>2294</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D9E8FF"/>
                    </a:solidFill>
                  </a:tcPr>
                </a:tc>
                <a:extLst>
                  <a:ext uri="{0D108BD9-81ED-4DB2-BD59-A6C34878D82A}">
                    <a16:rowId xmlns:a16="http://schemas.microsoft.com/office/drawing/2014/main" val="10002"/>
                  </a:ext>
                </a:extLst>
              </a:tr>
            </a:tbl>
          </a:graphicData>
        </a:graphic>
      </p:graphicFrame>
      <p:sp>
        <p:nvSpPr>
          <p:cNvPr id="8" name="GloVe + CNN">
            <a:extLst>
              <a:ext uri="{FF2B5EF4-FFF2-40B4-BE49-F238E27FC236}">
                <a16:creationId xmlns:a16="http://schemas.microsoft.com/office/drawing/2014/main" id="{3A8E644A-E54E-4E5B-A3F5-6F00B89681C6}"/>
              </a:ext>
            </a:extLst>
          </p:cNvPr>
          <p:cNvSpPr>
            <a:spLocks noGrp="1"/>
          </p:cNvSpPr>
          <p:nvPr/>
        </p:nvSpPr>
        <p:spPr>
          <a:xfrm>
            <a:off x="6400800" y="1704975"/>
            <a:ext cx="5181600" cy="428625"/>
          </a:xfrm>
          <a:prstGeom prst="rect">
            <a:avLst/>
          </a:prstGeom>
          <a:noFill/>
          <a:ln w="0">
            <a:noFill/>
          </a:ln>
        </p:spPr>
        <p:txBody>
          <a:bodyPr wrap="square" lIns="0" tIns="0" rIns="0" bIns="0" anchor="t">
            <a:noAutofit/>
          </a:bodyPr>
          <a:lstStyle>
            <a:defPPr algn="l">
              <a:defRPr sz="2550" b="1">
                <a:solidFill>
                  <a:srgbClr val="D97706"/>
                </a:solidFill>
                <a:latin typeface="Times New Roman"/>
                <a:ea typeface="Times New Roman"/>
                <a:cs typeface="Times New Roman"/>
              </a:defRPr>
            </a:defPPr>
            <a:lvl1pPr algn="l">
              <a:defRPr sz="2550" b="1">
                <a:solidFill>
                  <a:srgbClr val="D97706"/>
                </a:solidFill>
                <a:latin typeface="Times New Roman"/>
                <a:ea typeface="Times New Roman"/>
                <a:cs typeface="Times New Roman"/>
              </a:defRPr>
            </a:lvl1pPr>
            <a:lvl2pPr algn="l">
              <a:defRPr sz="2550" b="1">
                <a:solidFill>
                  <a:srgbClr val="D97706"/>
                </a:solidFill>
                <a:latin typeface="Times New Roman"/>
                <a:ea typeface="Times New Roman"/>
                <a:cs typeface="Times New Roman"/>
              </a:defRPr>
            </a:lvl2pPr>
            <a:lvl3pPr algn="l">
              <a:defRPr sz="2550" b="1">
                <a:solidFill>
                  <a:srgbClr val="D97706"/>
                </a:solidFill>
                <a:latin typeface="Times New Roman"/>
                <a:ea typeface="Times New Roman"/>
                <a:cs typeface="Times New Roman"/>
              </a:defRPr>
            </a:lvl3pPr>
            <a:lvl4pPr algn="l">
              <a:defRPr sz="2550" b="1">
                <a:solidFill>
                  <a:srgbClr val="D97706"/>
                </a:solidFill>
                <a:latin typeface="Times New Roman"/>
                <a:ea typeface="Times New Roman"/>
                <a:cs typeface="Times New Roman"/>
              </a:defRPr>
            </a:lvl4pPr>
            <a:lvl5pPr algn="l">
              <a:defRPr sz="2550" b="1">
                <a:solidFill>
                  <a:srgbClr val="D97706"/>
                </a:solidFill>
                <a:latin typeface="Times New Roman"/>
                <a:ea typeface="Times New Roman"/>
                <a:cs typeface="Times New Roman"/>
              </a:defRPr>
            </a:lvl5pPr>
            <a:lvl6pPr algn="l">
              <a:defRPr sz="2550" b="1">
                <a:solidFill>
                  <a:srgbClr val="D97706"/>
                </a:solidFill>
                <a:latin typeface="Times New Roman"/>
                <a:ea typeface="Times New Roman"/>
                <a:cs typeface="Times New Roman"/>
              </a:defRPr>
            </a:lvl6pPr>
            <a:lvl7pPr algn="l">
              <a:defRPr sz="2550" b="1">
                <a:solidFill>
                  <a:srgbClr val="D97706"/>
                </a:solidFill>
                <a:latin typeface="Times New Roman"/>
                <a:ea typeface="Times New Roman"/>
                <a:cs typeface="Times New Roman"/>
              </a:defRPr>
            </a:lvl7pPr>
            <a:lvl8pPr algn="l">
              <a:defRPr sz="2550" b="1">
                <a:solidFill>
                  <a:srgbClr val="D97706"/>
                </a:solidFill>
                <a:latin typeface="Times New Roman"/>
                <a:ea typeface="Times New Roman"/>
                <a:cs typeface="Times New Roman"/>
              </a:defRPr>
            </a:lvl8pPr>
            <a:lvl9pPr algn="l">
              <a:defRPr sz="2550" b="1">
                <a:solidFill>
                  <a:srgbClr val="D97706"/>
                </a:solidFill>
                <a:latin typeface="Times New Roman"/>
                <a:ea typeface="Times New Roman"/>
                <a:cs typeface="Times New Roman"/>
              </a:defRPr>
            </a:lvl9pPr>
          </a:lstStyle>
          <a:p>
            <a:pPr algn="l">
              <a:defRPr sz="2550" b="1">
                <a:solidFill>
                  <a:srgbClr val="D97706"/>
                </a:solidFill>
                <a:latin typeface="Times New Roman"/>
                <a:ea typeface="Times New Roman"/>
                <a:cs typeface="Times New Roman"/>
              </a:defRPr>
            </a:pPr>
            <a:r>
              <a:rPr sz="2550" b="1">
                <a:solidFill>
                  <a:srgbClr val="D97706"/>
                </a:solidFill>
                <a:latin typeface="Times New Roman"/>
                <a:ea typeface="Times New Roman"/>
                <a:cs typeface="Times New Roman"/>
              </a:rPr>
              <a:t>GloVe + CNN</a:t>
            </a:r>
          </a:p>
        </p:txBody>
      </p:sp>
      <p:sp>
        <p:nvSpPr>
          <p:cNvPr id="9" name="Predicted label">
            <a:extLst>
              <a:ext uri="{FF2B5EF4-FFF2-40B4-BE49-F238E27FC236}">
                <a16:creationId xmlns:a16="http://schemas.microsoft.com/office/drawing/2014/main" id="{A3F3158B-4F2E-444C-9DFE-8257762ABF18}"/>
              </a:ext>
            </a:extLst>
          </p:cNvPr>
          <p:cNvSpPr>
            <a:spLocks noGrp="1"/>
          </p:cNvSpPr>
          <p:nvPr/>
        </p:nvSpPr>
        <p:spPr>
          <a:xfrm>
            <a:off x="7877175" y="2247900"/>
            <a:ext cx="3705225" cy="295275"/>
          </a:xfrm>
          <a:prstGeom prst="rect">
            <a:avLst/>
          </a:prstGeom>
          <a:noFill/>
          <a:ln w="0">
            <a:noFill/>
          </a:ln>
        </p:spPr>
        <p:txBody>
          <a:bodyPr wrap="square" lIns="0" tIns="0" rIns="0" bIns="0" anchor="t">
            <a:noAutofit/>
          </a:bodyPr>
          <a:lstStyle>
            <a:defPPr algn="ctr">
              <a:defRPr sz="1575" b="0">
                <a:solidFill>
                  <a:srgbClr val="202D3D"/>
                </a:solidFill>
                <a:latin typeface="Times New Roman"/>
                <a:ea typeface="Times New Roman"/>
                <a:cs typeface="Times New Roman"/>
              </a:defRPr>
            </a:defPPr>
            <a:lvl1pPr algn="ctr">
              <a:defRPr sz="1575" b="0">
                <a:solidFill>
                  <a:srgbClr val="202D3D"/>
                </a:solidFill>
                <a:latin typeface="Times New Roman"/>
                <a:ea typeface="Times New Roman"/>
                <a:cs typeface="Times New Roman"/>
              </a:defRPr>
            </a:lvl1pPr>
            <a:lvl2pPr algn="ctr">
              <a:defRPr sz="1575" b="0">
                <a:solidFill>
                  <a:srgbClr val="202D3D"/>
                </a:solidFill>
                <a:latin typeface="Times New Roman"/>
                <a:ea typeface="Times New Roman"/>
                <a:cs typeface="Times New Roman"/>
              </a:defRPr>
            </a:lvl2pPr>
            <a:lvl3pPr algn="ctr">
              <a:defRPr sz="1575" b="0">
                <a:solidFill>
                  <a:srgbClr val="202D3D"/>
                </a:solidFill>
                <a:latin typeface="Times New Roman"/>
                <a:ea typeface="Times New Roman"/>
                <a:cs typeface="Times New Roman"/>
              </a:defRPr>
            </a:lvl3pPr>
            <a:lvl4pPr algn="ctr">
              <a:defRPr sz="1575" b="0">
                <a:solidFill>
                  <a:srgbClr val="202D3D"/>
                </a:solidFill>
                <a:latin typeface="Times New Roman"/>
                <a:ea typeface="Times New Roman"/>
                <a:cs typeface="Times New Roman"/>
              </a:defRPr>
            </a:lvl4pPr>
            <a:lvl5pPr algn="ctr">
              <a:defRPr sz="1575" b="0">
                <a:solidFill>
                  <a:srgbClr val="202D3D"/>
                </a:solidFill>
                <a:latin typeface="Times New Roman"/>
                <a:ea typeface="Times New Roman"/>
                <a:cs typeface="Times New Roman"/>
              </a:defRPr>
            </a:lvl5pPr>
            <a:lvl6pPr algn="ctr">
              <a:defRPr sz="1575" b="0">
                <a:solidFill>
                  <a:srgbClr val="202D3D"/>
                </a:solidFill>
                <a:latin typeface="Times New Roman"/>
                <a:ea typeface="Times New Roman"/>
                <a:cs typeface="Times New Roman"/>
              </a:defRPr>
            </a:lvl6pPr>
            <a:lvl7pPr algn="ctr">
              <a:defRPr sz="1575" b="0">
                <a:solidFill>
                  <a:srgbClr val="202D3D"/>
                </a:solidFill>
                <a:latin typeface="Times New Roman"/>
                <a:ea typeface="Times New Roman"/>
                <a:cs typeface="Times New Roman"/>
              </a:defRPr>
            </a:lvl7pPr>
            <a:lvl8pPr algn="ctr">
              <a:defRPr sz="1575" b="0">
                <a:solidFill>
                  <a:srgbClr val="202D3D"/>
                </a:solidFill>
                <a:latin typeface="Times New Roman"/>
                <a:ea typeface="Times New Roman"/>
                <a:cs typeface="Times New Roman"/>
              </a:defRPr>
            </a:lvl8pPr>
            <a:lvl9pPr algn="ctr">
              <a:defRPr sz="1575" b="0">
                <a:solidFill>
                  <a:srgbClr val="202D3D"/>
                </a:solidFill>
                <a:latin typeface="Times New Roman"/>
                <a:ea typeface="Times New Roman"/>
                <a:cs typeface="Times New Roman"/>
              </a:defRPr>
            </a:lvl9pPr>
          </a:lstStyle>
          <a:p>
            <a:pPr algn="ctr">
              <a:defRPr sz="1575" b="0">
                <a:solidFill>
                  <a:srgbClr val="202D3D"/>
                </a:solidFill>
                <a:latin typeface="Times New Roman"/>
                <a:ea typeface="Times New Roman"/>
                <a:cs typeface="Times New Roman"/>
              </a:defRPr>
            </a:pPr>
            <a:r>
              <a:rPr sz="1575" b="0">
                <a:solidFill>
                  <a:srgbClr val="202D3D"/>
                </a:solidFill>
                <a:latin typeface="Times New Roman"/>
                <a:ea typeface="Times New Roman"/>
                <a:cs typeface="Times New Roman"/>
              </a:rPr>
              <a:t>Predicted label</a:t>
            </a:r>
          </a:p>
        </p:txBody>
      </p:sp>
      <p:graphicFrame>
        <p:nvGraphicFramePr>
          <p:cNvPr id="10" name="Table 9">
            <a:extLst>
              <a:ext uri="{FF2B5EF4-FFF2-40B4-BE49-F238E27FC236}">
                <a16:creationId xmlns:a16="http://schemas.microsoft.com/office/drawing/2014/main" id="{05212715-392E-46DC-BEF7-2D9159932E1F}"/>
              </a:ext>
            </a:extLst>
          </p:cNvPr>
          <p:cNvGraphicFramePr/>
          <p:nvPr/>
        </p:nvGraphicFramePr>
        <p:xfrm>
          <a:off x="6400800" y="2676525"/>
          <a:ext cx="5181600" cy="2152650"/>
        </p:xfrm>
        <a:graphic>
          <a:graphicData uri="http://schemas.openxmlformats.org/drawingml/2006/table">
            <a:tbl>
              <a:tblPr/>
              <a:tblGrid>
                <a:gridCol w="20002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590675">
                  <a:extLst>
                    <a:ext uri="{9D8B030D-6E8A-4147-A177-3AD203B41FA5}">
                      <a16:colId xmlns:a16="http://schemas.microsoft.com/office/drawing/2014/main" val="20002"/>
                    </a:ext>
                  </a:extLst>
                </a:gridCol>
              </a:tblGrid>
              <a:tr h="717550">
                <a:tc>
                  <a:txBody>
                    <a:bodyPr/>
                    <a:lstStyle/>
                    <a:p>
                      <a:pPr algn="l"/>
                      <a:r>
                        <a:rPr sz="1875" b="1">
                          <a:solidFill>
                            <a:srgbClr val="FFFFFF"/>
                          </a:solidFill>
                          <a:latin typeface="Times New Roman"/>
                          <a:ea typeface="Times New Roman"/>
                          <a:cs typeface="Times New Roman"/>
                        </a:rPr>
                        <a:t>Actual label</a:t>
                      </a:r>
                    </a:p>
                  </a:txBody>
                  <a:tcPr anchor="ctr">
                    <a:lnL w="9525">
                      <a:solidFill>
                        <a:srgbClr val="AAB9CB"/>
                      </a:solidFill>
                      <a:prstDash val="soli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75" b="1">
                          <a:solidFill>
                            <a:srgbClr val="FFFFFF"/>
                          </a:solidFill>
                          <a:latin typeface="Times New Roman"/>
                          <a:ea typeface="Times New Roman"/>
                          <a:cs typeface="Times New Roman"/>
                        </a:rPr>
                        <a:t>Negative</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75" b="1">
                          <a:solidFill>
                            <a:srgbClr val="FFFFFF"/>
                          </a:solidFill>
                          <a:latin typeface="Times New Roman"/>
                          <a:ea typeface="Times New Roman"/>
                          <a:cs typeface="Times New Roman"/>
                        </a:rPr>
                        <a:t>Positive</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extLst>
                  <a:ext uri="{0D108BD9-81ED-4DB2-BD59-A6C34878D82A}">
                    <a16:rowId xmlns:a16="http://schemas.microsoft.com/office/drawing/2014/main" val="10000"/>
                  </a:ext>
                </a:extLst>
              </a:tr>
              <a:tr h="717550">
                <a:tc>
                  <a:txBody>
                    <a:bodyPr/>
                    <a:lstStyle/>
                    <a:p>
                      <a:pPr algn="l"/>
                      <a:r>
                        <a:rPr sz="1875" b="0">
                          <a:solidFill>
                            <a:srgbClr val="202D3D"/>
                          </a:solidFill>
                          <a:latin typeface="Times New Roman"/>
                          <a:ea typeface="Times New Roman"/>
                          <a:cs typeface="Times New Roman"/>
                        </a:rPr>
                        <a:t>Negative</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2325" b="1">
                          <a:solidFill>
                            <a:srgbClr val="17365D"/>
                          </a:solidFill>
                          <a:latin typeface="Times New Roman"/>
                          <a:ea typeface="Times New Roman"/>
                          <a:cs typeface="Times New Roman"/>
                        </a:rPr>
                        <a:t>2142</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E5C2"/>
                    </a:solidFill>
                  </a:tcPr>
                </a:tc>
                <a:tc>
                  <a:txBody>
                    <a:bodyPr/>
                    <a:lstStyle/>
                    <a:p>
                      <a:pPr algn="ctr"/>
                      <a:r>
                        <a:rPr sz="2325" b="1">
                          <a:solidFill>
                            <a:srgbClr val="A83B25"/>
                          </a:solidFill>
                          <a:latin typeface="Times New Roman"/>
                          <a:ea typeface="Times New Roman"/>
                          <a:cs typeface="Times New Roman"/>
                        </a:rPr>
                        <a:t>328</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4F1"/>
                    </a:solidFill>
                  </a:tcPr>
                </a:tc>
                <a:extLst>
                  <a:ext uri="{0D108BD9-81ED-4DB2-BD59-A6C34878D82A}">
                    <a16:rowId xmlns:a16="http://schemas.microsoft.com/office/drawing/2014/main" val="10001"/>
                  </a:ext>
                </a:extLst>
              </a:tr>
              <a:tr h="717550">
                <a:tc>
                  <a:txBody>
                    <a:bodyPr/>
                    <a:lstStyle/>
                    <a:p>
                      <a:pPr algn="l"/>
                      <a:r>
                        <a:rPr sz="1875" b="0">
                          <a:solidFill>
                            <a:srgbClr val="202D3D"/>
                          </a:solidFill>
                          <a:latin typeface="Times New Roman"/>
                          <a:ea typeface="Times New Roman"/>
                          <a:cs typeface="Times New Roman"/>
                        </a:rPr>
                        <a:t>Positive</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2325" b="1">
                          <a:solidFill>
                            <a:srgbClr val="A83B25"/>
                          </a:solidFill>
                          <a:latin typeface="Times New Roman"/>
                          <a:ea typeface="Times New Roman"/>
                          <a:cs typeface="Times New Roman"/>
                        </a:rPr>
                        <a:t>311</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4F1"/>
                    </a:solidFill>
                  </a:tcPr>
                </a:tc>
                <a:tc>
                  <a:txBody>
                    <a:bodyPr/>
                    <a:lstStyle/>
                    <a:p>
                      <a:pPr algn="ctr"/>
                      <a:r>
                        <a:rPr sz="2325" b="1">
                          <a:solidFill>
                            <a:srgbClr val="17365D"/>
                          </a:solidFill>
                          <a:latin typeface="Times New Roman"/>
                          <a:ea typeface="Times New Roman"/>
                          <a:cs typeface="Times New Roman"/>
                        </a:rPr>
                        <a:t>2177</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E5C2"/>
                    </a:solidFill>
                  </a:tcPr>
                </a:tc>
                <a:extLst>
                  <a:ext uri="{0D108BD9-81ED-4DB2-BD59-A6C34878D82A}">
                    <a16:rowId xmlns:a16="http://schemas.microsoft.com/office/drawing/2014/main" val="10002"/>
                  </a:ext>
                </a:extLst>
              </a:tr>
            </a:tbl>
          </a:graphicData>
        </a:graphic>
      </p:graphicFrame>
      <p:sp>
        <p:nvSpPr>
          <p:cNvPr id="11" name="453 errors">
            <a:extLst>
              <a:ext uri="{FF2B5EF4-FFF2-40B4-BE49-F238E27FC236}">
                <a16:creationId xmlns:a16="http://schemas.microsoft.com/office/drawing/2014/main" id="{9B5DE370-7B93-4D54-9FC3-2CF01B8F4DE8}"/>
              </a:ext>
            </a:extLst>
          </p:cNvPr>
          <p:cNvSpPr>
            <a:spLocks noGrp="1"/>
          </p:cNvSpPr>
          <p:nvPr/>
        </p:nvSpPr>
        <p:spPr>
          <a:xfrm>
            <a:off x="609600" y="5095875"/>
            <a:ext cx="5181600" cy="409575"/>
          </a:xfrm>
          <a:prstGeom prst="rect">
            <a:avLst/>
          </a:prstGeom>
          <a:noFill/>
          <a:ln w="0">
            <a:noFill/>
          </a:ln>
        </p:spPr>
        <p:txBody>
          <a:bodyPr wrap="square" lIns="0" tIns="0" rIns="0" bIns="0" anchor="t">
            <a:noAutofit/>
          </a:bodyPr>
          <a:lstStyle>
            <a:defPPr algn="l">
              <a:defRPr sz="2475" b="1">
                <a:solidFill>
                  <a:srgbClr val="2563EB"/>
                </a:solidFill>
                <a:latin typeface="Times New Roman"/>
                <a:ea typeface="Times New Roman"/>
                <a:cs typeface="Times New Roman"/>
              </a:defRPr>
            </a:defPPr>
            <a:lvl1pPr algn="l">
              <a:defRPr sz="2475" b="1">
                <a:solidFill>
                  <a:srgbClr val="2563EB"/>
                </a:solidFill>
                <a:latin typeface="Times New Roman"/>
                <a:ea typeface="Times New Roman"/>
                <a:cs typeface="Times New Roman"/>
              </a:defRPr>
            </a:lvl1pPr>
            <a:lvl2pPr algn="l">
              <a:defRPr sz="2475" b="1">
                <a:solidFill>
                  <a:srgbClr val="2563EB"/>
                </a:solidFill>
                <a:latin typeface="Times New Roman"/>
                <a:ea typeface="Times New Roman"/>
                <a:cs typeface="Times New Roman"/>
              </a:defRPr>
            </a:lvl2pPr>
            <a:lvl3pPr algn="l">
              <a:defRPr sz="2475" b="1">
                <a:solidFill>
                  <a:srgbClr val="2563EB"/>
                </a:solidFill>
                <a:latin typeface="Times New Roman"/>
                <a:ea typeface="Times New Roman"/>
                <a:cs typeface="Times New Roman"/>
              </a:defRPr>
            </a:lvl3pPr>
            <a:lvl4pPr algn="l">
              <a:defRPr sz="2475" b="1">
                <a:solidFill>
                  <a:srgbClr val="2563EB"/>
                </a:solidFill>
                <a:latin typeface="Times New Roman"/>
                <a:ea typeface="Times New Roman"/>
                <a:cs typeface="Times New Roman"/>
              </a:defRPr>
            </a:lvl4pPr>
            <a:lvl5pPr algn="l">
              <a:defRPr sz="2475" b="1">
                <a:solidFill>
                  <a:srgbClr val="2563EB"/>
                </a:solidFill>
                <a:latin typeface="Times New Roman"/>
                <a:ea typeface="Times New Roman"/>
                <a:cs typeface="Times New Roman"/>
              </a:defRPr>
            </a:lvl5pPr>
            <a:lvl6pPr algn="l">
              <a:defRPr sz="2475" b="1">
                <a:solidFill>
                  <a:srgbClr val="2563EB"/>
                </a:solidFill>
                <a:latin typeface="Times New Roman"/>
                <a:ea typeface="Times New Roman"/>
                <a:cs typeface="Times New Roman"/>
              </a:defRPr>
            </a:lvl6pPr>
            <a:lvl7pPr algn="l">
              <a:defRPr sz="2475" b="1">
                <a:solidFill>
                  <a:srgbClr val="2563EB"/>
                </a:solidFill>
                <a:latin typeface="Times New Roman"/>
                <a:ea typeface="Times New Roman"/>
                <a:cs typeface="Times New Roman"/>
              </a:defRPr>
            </a:lvl7pPr>
            <a:lvl8pPr algn="l">
              <a:defRPr sz="2475" b="1">
                <a:solidFill>
                  <a:srgbClr val="2563EB"/>
                </a:solidFill>
                <a:latin typeface="Times New Roman"/>
                <a:ea typeface="Times New Roman"/>
                <a:cs typeface="Times New Roman"/>
              </a:defRPr>
            </a:lvl8pPr>
            <a:lvl9pPr algn="l">
              <a:defRPr sz="2475" b="1">
                <a:solidFill>
                  <a:srgbClr val="2563EB"/>
                </a:solidFill>
                <a:latin typeface="Times New Roman"/>
                <a:ea typeface="Times New Roman"/>
                <a:cs typeface="Times New Roman"/>
              </a:defRPr>
            </a:lvl9pPr>
          </a:lstStyle>
          <a:p>
            <a:pPr algn="l">
              <a:defRPr sz="2475" b="1">
                <a:solidFill>
                  <a:srgbClr val="2563EB"/>
                </a:solidFill>
                <a:latin typeface="Times New Roman"/>
                <a:ea typeface="Times New Roman"/>
                <a:cs typeface="Times New Roman"/>
              </a:defRPr>
            </a:pPr>
            <a:r>
              <a:rPr sz="2475" b="1">
                <a:solidFill>
                  <a:srgbClr val="2563EB"/>
                </a:solidFill>
                <a:latin typeface="Times New Roman"/>
                <a:ea typeface="Times New Roman"/>
                <a:cs typeface="Times New Roman"/>
              </a:rPr>
              <a:t>453 errors</a:t>
            </a:r>
          </a:p>
        </p:txBody>
      </p:sp>
      <p:sp>
        <p:nvSpPr>
          <p:cNvPr id="12" name="639 errors">
            <a:extLst>
              <a:ext uri="{FF2B5EF4-FFF2-40B4-BE49-F238E27FC236}">
                <a16:creationId xmlns:a16="http://schemas.microsoft.com/office/drawing/2014/main" id="{66013F52-C894-4FF9-AC71-F7DA3DFE6B26}"/>
              </a:ext>
            </a:extLst>
          </p:cNvPr>
          <p:cNvSpPr>
            <a:spLocks noGrp="1"/>
          </p:cNvSpPr>
          <p:nvPr/>
        </p:nvSpPr>
        <p:spPr>
          <a:xfrm>
            <a:off x="6400800" y="5095875"/>
            <a:ext cx="5181600" cy="409575"/>
          </a:xfrm>
          <a:prstGeom prst="rect">
            <a:avLst/>
          </a:prstGeom>
          <a:noFill/>
          <a:ln w="0">
            <a:noFill/>
          </a:ln>
        </p:spPr>
        <p:txBody>
          <a:bodyPr wrap="square" lIns="0" tIns="0" rIns="0" bIns="0" anchor="t">
            <a:noAutofit/>
          </a:bodyPr>
          <a:lstStyle>
            <a:defPPr algn="l">
              <a:defRPr sz="2475" b="1">
                <a:solidFill>
                  <a:srgbClr val="D97706"/>
                </a:solidFill>
                <a:latin typeface="Times New Roman"/>
                <a:ea typeface="Times New Roman"/>
                <a:cs typeface="Times New Roman"/>
              </a:defRPr>
            </a:defPPr>
            <a:lvl1pPr algn="l">
              <a:defRPr sz="2475" b="1">
                <a:solidFill>
                  <a:srgbClr val="D97706"/>
                </a:solidFill>
                <a:latin typeface="Times New Roman"/>
                <a:ea typeface="Times New Roman"/>
                <a:cs typeface="Times New Roman"/>
              </a:defRPr>
            </a:lvl1pPr>
            <a:lvl2pPr algn="l">
              <a:defRPr sz="2475" b="1">
                <a:solidFill>
                  <a:srgbClr val="D97706"/>
                </a:solidFill>
                <a:latin typeface="Times New Roman"/>
                <a:ea typeface="Times New Roman"/>
                <a:cs typeface="Times New Roman"/>
              </a:defRPr>
            </a:lvl2pPr>
            <a:lvl3pPr algn="l">
              <a:defRPr sz="2475" b="1">
                <a:solidFill>
                  <a:srgbClr val="D97706"/>
                </a:solidFill>
                <a:latin typeface="Times New Roman"/>
                <a:ea typeface="Times New Roman"/>
                <a:cs typeface="Times New Roman"/>
              </a:defRPr>
            </a:lvl3pPr>
            <a:lvl4pPr algn="l">
              <a:defRPr sz="2475" b="1">
                <a:solidFill>
                  <a:srgbClr val="D97706"/>
                </a:solidFill>
                <a:latin typeface="Times New Roman"/>
                <a:ea typeface="Times New Roman"/>
                <a:cs typeface="Times New Roman"/>
              </a:defRPr>
            </a:lvl4pPr>
            <a:lvl5pPr algn="l">
              <a:defRPr sz="2475" b="1">
                <a:solidFill>
                  <a:srgbClr val="D97706"/>
                </a:solidFill>
                <a:latin typeface="Times New Roman"/>
                <a:ea typeface="Times New Roman"/>
                <a:cs typeface="Times New Roman"/>
              </a:defRPr>
            </a:lvl5pPr>
            <a:lvl6pPr algn="l">
              <a:defRPr sz="2475" b="1">
                <a:solidFill>
                  <a:srgbClr val="D97706"/>
                </a:solidFill>
                <a:latin typeface="Times New Roman"/>
                <a:ea typeface="Times New Roman"/>
                <a:cs typeface="Times New Roman"/>
              </a:defRPr>
            </a:lvl6pPr>
            <a:lvl7pPr algn="l">
              <a:defRPr sz="2475" b="1">
                <a:solidFill>
                  <a:srgbClr val="D97706"/>
                </a:solidFill>
                <a:latin typeface="Times New Roman"/>
                <a:ea typeface="Times New Roman"/>
                <a:cs typeface="Times New Roman"/>
              </a:defRPr>
            </a:lvl7pPr>
            <a:lvl8pPr algn="l">
              <a:defRPr sz="2475" b="1">
                <a:solidFill>
                  <a:srgbClr val="D97706"/>
                </a:solidFill>
                <a:latin typeface="Times New Roman"/>
                <a:ea typeface="Times New Roman"/>
                <a:cs typeface="Times New Roman"/>
              </a:defRPr>
            </a:lvl8pPr>
            <a:lvl9pPr algn="l">
              <a:defRPr sz="2475" b="1">
                <a:solidFill>
                  <a:srgbClr val="D97706"/>
                </a:solidFill>
                <a:latin typeface="Times New Roman"/>
                <a:ea typeface="Times New Roman"/>
                <a:cs typeface="Times New Roman"/>
              </a:defRPr>
            </a:lvl9pPr>
          </a:lstStyle>
          <a:p>
            <a:pPr algn="l">
              <a:defRPr sz="2475" b="1">
                <a:solidFill>
                  <a:srgbClr val="D97706"/>
                </a:solidFill>
                <a:latin typeface="Times New Roman"/>
                <a:ea typeface="Times New Roman"/>
                <a:cs typeface="Times New Roman"/>
              </a:defRPr>
            </a:pPr>
            <a:r>
              <a:rPr sz="2475" b="1">
                <a:solidFill>
                  <a:srgbClr val="D97706"/>
                </a:solidFill>
                <a:latin typeface="Times New Roman"/>
                <a:ea typeface="Times New Roman"/>
                <a:cs typeface="Times New Roman"/>
              </a:rPr>
              <a:t>639 errors</a:t>
            </a:r>
          </a:p>
        </p:txBody>
      </p:sp>
      <p:sp>
        <p:nvSpPr>
          <p:cNvPr id="13" name="Positive sentiment is the positive class. CNN makes more false po">
            <a:extLst>
              <a:ext uri="{FF2B5EF4-FFF2-40B4-BE49-F238E27FC236}">
                <a16:creationId xmlns:a16="http://schemas.microsoft.com/office/drawing/2014/main" id="{941F04D4-5EF5-4594-82CC-96B6857A8286}"/>
              </a:ext>
            </a:extLst>
          </p:cNvPr>
          <p:cNvSpPr>
            <a:spLocks noGrp="1"/>
          </p:cNvSpPr>
          <p:nvPr/>
        </p:nvSpPr>
        <p:spPr>
          <a:xfrm>
            <a:off x="609600" y="5762625"/>
            <a:ext cx="10972800" cy="504825"/>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False positive: negative predicted as positive. False negative: positive predicted as negative.</a:t>
            </a:r>
          </a:p>
        </p:txBody>
      </p:sp>
    </p:spTree>
    <p:extLst>
      <p:ext uri="{BB962C8B-B14F-4D97-AF65-F5344CB8AC3E}">
        <p14:creationId xmlns:p14="http://schemas.microsoft.com/office/powerpoint/2010/main" val="208769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CNN training shows overfitting">
            <a:extLst>
              <a:ext uri="{FF2B5EF4-FFF2-40B4-BE49-F238E27FC236}">
                <a16:creationId xmlns:a16="http://schemas.microsoft.com/office/drawing/2014/main" id="{267491E7-46E0-41BE-B389-9AD45C49A121}"/>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CNN overfitting</a:t>
            </a:r>
          </a:p>
        </p:txBody>
      </p:sp>
      <p:sp>
        <p:nvSpPr>
          <p:cNvPr id="2" name="Straight Connector 1">
            <a:extLst>
              <a:ext uri="{FF2B5EF4-FFF2-40B4-BE49-F238E27FC236}">
                <a16:creationId xmlns:a16="http://schemas.microsoft.com/office/drawing/2014/main" id="{BD856BE9-BFFD-4AA8-AA5F-4D9B3B7D0C91}"/>
              </a:ext>
            </a:extLst>
          </p:cNvPr>
          <p:cNvSpPr>
            <a:spLocks noGrp="1"/>
          </p:cNvSpPr>
          <p:nvPr/>
        </p:nvSpPr>
        <p:spPr>
          <a:xfrm>
            <a:off x="609600" y="1266825"/>
            <a:ext cx="10972800" cy="0"/>
          </a:xfrm>
          <a:prstGeom prst="line">
            <a:avLst/>
          </a:prstGeom>
          <a:ln w="28575">
            <a:solidFill>
              <a:srgbClr val="2563EB"/>
            </a:solidFill>
            <a:prstDash val="solid"/>
          </a:ln>
        </p:spPr>
      </p:sp>
      <p:sp>
        <p:nvSpPr>
          <p:cNvPr id="3" name="5. Evaluation and critical analysis">
            <a:extLst>
              <a:ext uri="{FF2B5EF4-FFF2-40B4-BE49-F238E27FC236}">
                <a16:creationId xmlns:a16="http://schemas.microsoft.com/office/drawing/2014/main" id="{5618FFA3-DFDA-490E-AFE6-F7BED6C91CB8}"/>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5. Evaluation and critical analysis</a:t>
            </a:r>
          </a:p>
        </p:txBody>
      </p:sp>
      <p:sp>
        <p:nvSpPr>
          <p:cNvPr id="4" name="10 / 13">
            <a:extLst>
              <a:ext uri="{FF2B5EF4-FFF2-40B4-BE49-F238E27FC236}">
                <a16:creationId xmlns:a16="http://schemas.microsoft.com/office/drawing/2014/main" id="{EB95F32F-6F95-45FF-9B23-737EAD3E6CC8}"/>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10 / 14</a:t>
            </a:r>
          </a:p>
        </p:txBody>
      </p:sp>
      <p:sp>
        <p:nvSpPr>
          <p:cNvPr id="5" name="Accuracy">
            <a:extLst>
              <a:ext uri="{FF2B5EF4-FFF2-40B4-BE49-F238E27FC236}">
                <a16:creationId xmlns:a16="http://schemas.microsoft.com/office/drawing/2014/main" id="{DD4CBAB2-DFF8-404A-A225-73D5194C288F}"/>
              </a:ext>
            </a:extLst>
          </p:cNvPr>
          <p:cNvSpPr>
            <a:spLocks noGrp="1"/>
          </p:cNvSpPr>
          <p:nvPr/>
        </p:nvSpPr>
        <p:spPr>
          <a:xfrm>
            <a:off x="609600" y="1676400"/>
            <a:ext cx="5219700" cy="381000"/>
          </a:xfrm>
          <a:prstGeom prst="rect">
            <a:avLst/>
          </a:prstGeom>
          <a:noFill/>
          <a:ln w="0">
            <a:noFill/>
          </a:ln>
        </p:spPr>
        <p:txBody>
          <a:bodyPr wrap="square" lIns="0" tIns="0" rIns="0" bIns="0" anchor="t">
            <a:noAutofit/>
          </a:bodyPr>
          <a:lstStyle>
            <a:defPPr algn="l">
              <a:defRPr sz="2250" b="1">
                <a:solidFill>
                  <a:srgbClr val="202D3D"/>
                </a:solidFill>
                <a:latin typeface="Times New Roman"/>
                <a:ea typeface="Times New Roman"/>
                <a:cs typeface="Times New Roman"/>
              </a:defRPr>
            </a:defPPr>
            <a:lvl1pPr algn="l">
              <a:defRPr sz="2250" b="1">
                <a:solidFill>
                  <a:srgbClr val="202D3D"/>
                </a:solidFill>
                <a:latin typeface="Times New Roman"/>
                <a:ea typeface="Times New Roman"/>
                <a:cs typeface="Times New Roman"/>
              </a:defRPr>
            </a:lvl1pPr>
            <a:lvl2pPr algn="l">
              <a:defRPr sz="2250" b="1">
                <a:solidFill>
                  <a:srgbClr val="202D3D"/>
                </a:solidFill>
                <a:latin typeface="Times New Roman"/>
                <a:ea typeface="Times New Roman"/>
                <a:cs typeface="Times New Roman"/>
              </a:defRPr>
            </a:lvl2pPr>
            <a:lvl3pPr algn="l">
              <a:defRPr sz="2250" b="1">
                <a:solidFill>
                  <a:srgbClr val="202D3D"/>
                </a:solidFill>
                <a:latin typeface="Times New Roman"/>
                <a:ea typeface="Times New Roman"/>
                <a:cs typeface="Times New Roman"/>
              </a:defRPr>
            </a:lvl3pPr>
            <a:lvl4pPr algn="l">
              <a:defRPr sz="2250" b="1">
                <a:solidFill>
                  <a:srgbClr val="202D3D"/>
                </a:solidFill>
                <a:latin typeface="Times New Roman"/>
                <a:ea typeface="Times New Roman"/>
                <a:cs typeface="Times New Roman"/>
              </a:defRPr>
            </a:lvl4pPr>
            <a:lvl5pPr algn="l">
              <a:defRPr sz="2250" b="1">
                <a:solidFill>
                  <a:srgbClr val="202D3D"/>
                </a:solidFill>
                <a:latin typeface="Times New Roman"/>
                <a:ea typeface="Times New Roman"/>
                <a:cs typeface="Times New Roman"/>
              </a:defRPr>
            </a:lvl5pPr>
            <a:lvl6pPr algn="l">
              <a:defRPr sz="2250" b="1">
                <a:solidFill>
                  <a:srgbClr val="202D3D"/>
                </a:solidFill>
                <a:latin typeface="Times New Roman"/>
                <a:ea typeface="Times New Roman"/>
                <a:cs typeface="Times New Roman"/>
              </a:defRPr>
            </a:lvl6pPr>
            <a:lvl7pPr algn="l">
              <a:defRPr sz="2250" b="1">
                <a:solidFill>
                  <a:srgbClr val="202D3D"/>
                </a:solidFill>
                <a:latin typeface="Times New Roman"/>
                <a:ea typeface="Times New Roman"/>
                <a:cs typeface="Times New Roman"/>
              </a:defRPr>
            </a:lvl7pPr>
            <a:lvl8pPr algn="l">
              <a:defRPr sz="2250" b="1">
                <a:solidFill>
                  <a:srgbClr val="202D3D"/>
                </a:solidFill>
                <a:latin typeface="Times New Roman"/>
                <a:ea typeface="Times New Roman"/>
                <a:cs typeface="Times New Roman"/>
              </a:defRPr>
            </a:lvl8pPr>
            <a:lvl9pPr algn="l">
              <a:defRPr sz="2250" b="1">
                <a:solidFill>
                  <a:srgbClr val="202D3D"/>
                </a:solidFill>
                <a:latin typeface="Times New Roman"/>
                <a:ea typeface="Times New Roman"/>
                <a:cs typeface="Times New Roman"/>
              </a:defRPr>
            </a:lvl9pPr>
          </a:lstStyle>
          <a:p>
            <a:pPr algn="l">
              <a:defRPr sz="2250" b="1">
                <a:solidFill>
                  <a:srgbClr val="202D3D"/>
                </a:solidFill>
                <a:latin typeface="Times New Roman"/>
                <a:ea typeface="Times New Roman"/>
                <a:cs typeface="Times New Roman"/>
              </a:defRPr>
            </a:pPr>
            <a:r>
              <a:rPr sz="2250" b="1">
                <a:solidFill>
                  <a:srgbClr val="202D3D"/>
                </a:solidFill>
                <a:latin typeface="Times New Roman"/>
                <a:ea typeface="Times New Roman"/>
                <a:cs typeface="Times New Roman"/>
              </a:rPr>
              <a:t>Accuracy</a:t>
            </a:r>
          </a:p>
        </p:txBody>
      </p:sp>
      <p:graphicFrame>
        <p:nvGraphicFramePr>
          <p:cNvPr id="6" name="Chart">
            <a:extLst>
              <a:ext uri="{FF2B5EF4-FFF2-40B4-BE49-F238E27FC236}">
                <a16:creationId xmlns:a16="http://schemas.microsoft.com/office/drawing/2014/main" id="{F26E0558-A8B3-4FFB-8AFB-B27253354315}"/>
              </a:ext>
            </a:extLst>
          </p:cNvPr>
          <p:cNvGraphicFramePr/>
          <p:nvPr/>
        </p:nvGraphicFramePr>
        <p:xfrm>
          <a:off x="476250" y="2219325"/>
          <a:ext cx="5410200" cy="2886075"/>
        </p:xfrm>
        <a:graphic>
          <a:graphicData uri="http://schemas.openxmlformats.org/drawingml/2006/chart">
            <c:chart xmlns:c="http://schemas.openxmlformats.org/drawingml/2006/chart" xmlns:r="http://schemas.openxmlformats.org/officeDocument/2006/relationships" r:id="rId3"/>
          </a:graphicData>
        </a:graphic>
      </p:graphicFrame>
      <p:sp>
        <p:nvSpPr>
          <p:cNvPr id="7" name="Binary cross-entropy loss">
            <a:extLst>
              <a:ext uri="{FF2B5EF4-FFF2-40B4-BE49-F238E27FC236}">
                <a16:creationId xmlns:a16="http://schemas.microsoft.com/office/drawing/2014/main" id="{9A7E4054-84FD-440E-B6BC-439BAD3A1011}"/>
              </a:ext>
            </a:extLst>
          </p:cNvPr>
          <p:cNvSpPr>
            <a:spLocks noGrp="1"/>
          </p:cNvSpPr>
          <p:nvPr/>
        </p:nvSpPr>
        <p:spPr>
          <a:xfrm>
            <a:off x="6362700" y="1676400"/>
            <a:ext cx="5219700" cy="381000"/>
          </a:xfrm>
          <a:prstGeom prst="rect">
            <a:avLst/>
          </a:prstGeom>
          <a:noFill/>
          <a:ln w="0">
            <a:noFill/>
          </a:ln>
        </p:spPr>
        <p:txBody>
          <a:bodyPr wrap="square" lIns="0" tIns="0" rIns="0" bIns="0" anchor="t">
            <a:noAutofit/>
          </a:bodyPr>
          <a:lstStyle>
            <a:defPPr algn="l">
              <a:defRPr sz="2250" b="1">
                <a:solidFill>
                  <a:srgbClr val="202D3D"/>
                </a:solidFill>
                <a:latin typeface="Times New Roman"/>
                <a:ea typeface="Times New Roman"/>
                <a:cs typeface="Times New Roman"/>
              </a:defRPr>
            </a:defPPr>
            <a:lvl1pPr algn="l">
              <a:defRPr sz="2250" b="1">
                <a:solidFill>
                  <a:srgbClr val="202D3D"/>
                </a:solidFill>
                <a:latin typeface="Times New Roman"/>
                <a:ea typeface="Times New Roman"/>
                <a:cs typeface="Times New Roman"/>
              </a:defRPr>
            </a:lvl1pPr>
            <a:lvl2pPr algn="l">
              <a:defRPr sz="2250" b="1">
                <a:solidFill>
                  <a:srgbClr val="202D3D"/>
                </a:solidFill>
                <a:latin typeface="Times New Roman"/>
                <a:ea typeface="Times New Roman"/>
                <a:cs typeface="Times New Roman"/>
              </a:defRPr>
            </a:lvl2pPr>
            <a:lvl3pPr algn="l">
              <a:defRPr sz="2250" b="1">
                <a:solidFill>
                  <a:srgbClr val="202D3D"/>
                </a:solidFill>
                <a:latin typeface="Times New Roman"/>
                <a:ea typeface="Times New Roman"/>
                <a:cs typeface="Times New Roman"/>
              </a:defRPr>
            </a:lvl3pPr>
            <a:lvl4pPr algn="l">
              <a:defRPr sz="2250" b="1">
                <a:solidFill>
                  <a:srgbClr val="202D3D"/>
                </a:solidFill>
                <a:latin typeface="Times New Roman"/>
                <a:ea typeface="Times New Roman"/>
                <a:cs typeface="Times New Roman"/>
              </a:defRPr>
            </a:lvl4pPr>
            <a:lvl5pPr algn="l">
              <a:defRPr sz="2250" b="1">
                <a:solidFill>
                  <a:srgbClr val="202D3D"/>
                </a:solidFill>
                <a:latin typeface="Times New Roman"/>
                <a:ea typeface="Times New Roman"/>
                <a:cs typeface="Times New Roman"/>
              </a:defRPr>
            </a:lvl5pPr>
            <a:lvl6pPr algn="l">
              <a:defRPr sz="2250" b="1">
                <a:solidFill>
                  <a:srgbClr val="202D3D"/>
                </a:solidFill>
                <a:latin typeface="Times New Roman"/>
                <a:ea typeface="Times New Roman"/>
                <a:cs typeface="Times New Roman"/>
              </a:defRPr>
            </a:lvl6pPr>
            <a:lvl7pPr algn="l">
              <a:defRPr sz="2250" b="1">
                <a:solidFill>
                  <a:srgbClr val="202D3D"/>
                </a:solidFill>
                <a:latin typeface="Times New Roman"/>
                <a:ea typeface="Times New Roman"/>
                <a:cs typeface="Times New Roman"/>
              </a:defRPr>
            </a:lvl7pPr>
            <a:lvl8pPr algn="l">
              <a:defRPr sz="2250" b="1">
                <a:solidFill>
                  <a:srgbClr val="202D3D"/>
                </a:solidFill>
                <a:latin typeface="Times New Roman"/>
                <a:ea typeface="Times New Roman"/>
                <a:cs typeface="Times New Roman"/>
              </a:defRPr>
            </a:lvl8pPr>
            <a:lvl9pPr algn="l">
              <a:defRPr sz="2250" b="1">
                <a:solidFill>
                  <a:srgbClr val="202D3D"/>
                </a:solidFill>
                <a:latin typeface="Times New Roman"/>
                <a:ea typeface="Times New Roman"/>
                <a:cs typeface="Times New Roman"/>
              </a:defRPr>
            </a:lvl9pPr>
          </a:lstStyle>
          <a:p>
            <a:pPr algn="l">
              <a:defRPr sz="2250" b="1">
                <a:solidFill>
                  <a:srgbClr val="202D3D"/>
                </a:solidFill>
                <a:latin typeface="Times New Roman"/>
                <a:ea typeface="Times New Roman"/>
                <a:cs typeface="Times New Roman"/>
              </a:defRPr>
            </a:pPr>
            <a:r>
              <a:rPr sz="2250" b="1">
                <a:solidFill>
                  <a:srgbClr val="202D3D"/>
                </a:solidFill>
                <a:latin typeface="Times New Roman"/>
                <a:ea typeface="Times New Roman"/>
                <a:cs typeface="Times New Roman"/>
              </a:rPr>
              <a:t>Binary cross-entropy loss</a:t>
            </a:r>
          </a:p>
        </p:txBody>
      </p:sp>
      <p:graphicFrame>
        <p:nvGraphicFramePr>
          <p:cNvPr id="8" name="Chart">
            <a:extLst>
              <a:ext uri="{FF2B5EF4-FFF2-40B4-BE49-F238E27FC236}">
                <a16:creationId xmlns:a16="http://schemas.microsoft.com/office/drawing/2014/main" id="{40BCA843-8086-43C1-98C6-C99DA78F35D2}"/>
              </a:ext>
            </a:extLst>
          </p:cNvPr>
          <p:cNvGraphicFramePr/>
          <p:nvPr/>
        </p:nvGraphicFramePr>
        <p:xfrm>
          <a:off x="6229350" y="2219325"/>
          <a:ext cx="5410200" cy="2886075"/>
        </p:xfrm>
        <a:graphic>
          <a:graphicData uri="http://schemas.openxmlformats.org/drawingml/2006/chart">
            <c:chart xmlns:c="http://schemas.openxmlformats.org/drawingml/2006/chart" xmlns:r="http://schemas.openxmlformats.org/officeDocument/2006/relationships" r:id="rId4"/>
          </a:graphicData>
        </a:graphic>
      </p:graphicFrame>
      <p:sp>
        <p:nvSpPr>
          <p:cNvPr id="9" name="Selected checkpoint: epoch 4">
            <a:extLst>
              <a:ext uri="{FF2B5EF4-FFF2-40B4-BE49-F238E27FC236}">
                <a16:creationId xmlns:a16="http://schemas.microsoft.com/office/drawing/2014/main" id="{03847031-5680-48FA-BD24-FF948487E156}"/>
              </a:ext>
            </a:extLst>
          </p:cNvPr>
          <p:cNvSpPr>
            <a:spLocks noGrp="1"/>
          </p:cNvSpPr>
          <p:nvPr/>
        </p:nvSpPr>
        <p:spPr>
          <a:xfrm>
            <a:off x="609600" y="5343525"/>
            <a:ext cx="10972800" cy="400050"/>
          </a:xfrm>
          <a:prstGeom prst="rect">
            <a:avLst/>
          </a:prstGeom>
          <a:noFill/>
          <a:ln w="0">
            <a:noFill/>
          </a:ln>
        </p:spPr>
        <p:txBody>
          <a:bodyPr wrap="square" lIns="0" tIns="0" rIns="0" bIns="0" anchor="t">
            <a:noAutofit/>
          </a:bodyPr>
          <a:lstStyle>
            <a:defPPr algn="l">
              <a:defRPr sz="2475" b="1">
                <a:solidFill>
                  <a:srgbClr val="202D3D"/>
                </a:solidFill>
                <a:latin typeface="Times New Roman"/>
                <a:ea typeface="Times New Roman"/>
                <a:cs typeface="Times New Roman"/>
              </a:defRPr>
            </a:defPPr>
            <a:lvl1pPr algn="l">
              <a:defRPr sz="2475" b="1">
                <a:solidFill>
                  <a:srgbClr val="202D3D"/>
                </a:solidFill>
                <a:latin typeface="Times New Roman"/>
                <a:ea typeface="Times New Roman"/>
                <a:cs typeface="Times New Roman"/>
              </a:defRPr>
            </a:lvl1pPr>
            <a:lvl2pPr algn="l">
              <a:defRPr sz="2475" b="1">
                <a:solidFill>
                  <a:srgbClr val="202D3D"/>
                </a:solidFill>
                <a:latin typeface="Times New Roman"/>
                <a:ea typeface="Times New Roman"/>
                <a:cs typeface="Times New Roman"/>
              </a:defRPr>
            </a:lvl2pPr>
            <a:lvl3pPr algn="l">
              <a:defRPr sz="2475" b="1">
                <a:solidFill>
                  <a:srgbClr val="202D3D"/>
                </a:solidFill>
                <a:latin typeface="Times New Roman"/>
                <a:ea typeface="Times New Roman"/>
                <a:cs typeface="Times New Roman"/>
              </a:defRPr>
            </a:lvl3pPr>
            <a:lvl4pPr algn="l">
              <a:defRPr sz="2475" b="1">
                <a:solidFill>
                  <a:srgbClr val="202D3D"/>
                </a:solidFill>
                <a:latin typeface="Times New Roman"/>
                <a:ea typeface="Times New Roman"/>
                <a:cs typeface="Times New Roman"/>
              </a:defRPr>
            </a:lvl4pPr>
            <a:lvl5pPr algn="l">
              <a:defRPr sz="2475" b="1">
                <a:solidFill>
                  <a:srgbClr val="202D3D"/>
                </a:solidFill>
                <a:latin typeface="Times New Roman"/>
                <a:ea typeface="Times New Roman"/>
                <a:cs typeface="Times New Roman"/>
              </a:defRPr>
            </a:lvl5pPr>
            <a:lvl6pPr algn="l">
              <a:defRPr sz="2475" b="1">
                <a:solidFill>
                  <a:srgbClr val="202D3D"/>
                </a:solidFill>
                <a:latin typeface="Times New Roman"/>
                <a:ea typeface="Times New Roman"/>
                <a:cs typeface="Times New Roman"/>
              </a:defRPr>
            </a:lvl6pPr>
            <a:lvl7pPr algn="l">
              <a:defRPr sz="2475" b="1">
                <a:solidFill>
                  <a:srgbClr val="202D3D"/>
                </a:solidFill>
                <a:latin typeface="Times New Roman"/>
                <a:ea typeface="Times New Roman"/>
                <a:cs typeface="Times New Roman"/>
              </a:defRPr>
            </a:lvl7pPr>
            <a:lvl8pPr algn="l">
              <a:defRPr sz="2475" b="1">
                <a:solidFill>
                  <a:srgbClr val="202D3D"/>
                </a:solidFill>
                <a:latin typeface="Times New Roman"/>
                <a:ea typeface="Times New Roman"/>
                <a:cs typeface="Times New Roman"/>
              </a:defRPr>
            </a:lvl8pPr>
            <a:lvl9pPr algn="l">
              <a:defRPr sz="2475" b="1">
                <a:solidFill>
                  <a:srgbClr val="202D3D"/>
                </a:solidFill>
                <a:latin typeface="Times New Roman"/>
                <a:ea typeface="Times New Roman"/>
                <a:cs typeface="Times New Roman"/>
              </a:defRPr>
            </a:lvl9pPr>
          </a:lstStyle>
          <a:p>
            <a:pPr algn="l">
              <a:defRPr sz="2475" b="1">
                <a:solidFill>
                  <a:srgbClr val="202D3D"/>
                </a:solidFill>
                <a:latin typeface="Times New Roman"/>
                <a:ea typeface="Times New Roman"/>
                <a:cs typeface="Times New Roman"/>
              </a:defRPr>
            </a:pPr>
            <a:r>
              <a:rPr sz="2475" b="1">
                <a:solidFill>
                  <a:srgbClr val="202D3D"/>
                </a:solidFill>
                <a:latin typeface="Times New Roman"/>
                <a:ea typeface="Times New Roman"/>
                <a:cs typeface="Times New Roman"/>
              </a:rPr>
              <a:t>Selected checkpoint: epoch 4</a:t>
            </a:r>
          </a:p>
        </p:txBody>
      </p:sp>
      <p:sp>
        <p:nvSpPr>
          <p:cNvPr id="10" name="Minimum validation loss = 0.3040. Training stops at epoch 6 and r">
            <a:extLst>
              <a:ext uri="{FF2B5EF4-FFF2-40B4-BE49-F238E27FC236}">
                <a16:creationId xmlns:a16="http://schemas.microsoft.com/office/drawing/2014/main" id="{2EBBF8DA-2DBD-4716-A36E-F647C663B766}"/>
              </a:ext>
            </a:extLst>
          </p:cNvPr>
          <p:cNvSpPr>
            <a:spLocks noGrp="1"/>
          </p:cNvSpPr>
          <p:nvPr/>
        </p:nvSpPr>
        <p:spPr>
          <a:xfrm>
            <a:off x="609600" y="5829300"/>
            <a:ext cx="10972800" cy="476250"/>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Minimum validation loss = 0.3040. Training stops at epoch 6 and restores the best weights.</a:t>
            </a:r>
          </a:p>
        </p:txBody>
      </p:sp>
    </p:spTree>
    <p:extLst>
      <p:ext uri="{BB962C8B-B14F-4D97-AF65-F5344CB8AC3E}">
        <p14:creationId xmlns:p14="http://schemas.microsoft.com/office/powerpoint/2010/main" val="1183697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Mixed opinions expose model limits">
            <a:extLst>
              <a:ext uri="{FF2B5EF4-FFF2-40B4-BE49-F238E27FC236}">
                <a16:creationId xmlns:a16="http://schemas.microsoft.com/office/drawing/2014/main" id="{60E4FBA0-7646-4DD7-9A28-213135010A79}"/>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Error analysis and limitations</a:t>
            </a:r>
          </a:p>
        </p:txBody>
      </p:sp>
      <p:sp>
        <p:nvSpPr>
          <p:cNvPr id="2" name="Straight Connector 1">
            <a:extLst>
              <a:ext uri="{FF2B5EF4-FFF2-40B4-BE49-F238E27FC236}">
                <a16:creationId xmlns:a16="http://schemas.microsoft.com/office/drawing/2014/main" id="{126402AB-1F87-4637-9FB1-61CB2AEFD287}"/>
              </a:ext>
            </a:extLst>
          </p:cNvPr>
          <p:cNvSpPr>
            <a:spLocks noGrp="1"/>
          </p:cNvSpPr>
          <p:nvPr/>
        </p:nvSpPr>
        <p:spPr>
          <a:xfrm>
            <a:off x="609600" y="1266825"/>
            <a:ext cx="10972800" cy="0"/>
          </a:xfrm>
          <a:prstGeom prst="line">
            <a:avLst/>
          </a:prstGeom>
          <a:ln w="28575">
            <a:solidFill>
              <a:srgbClr val="2563EB"/>
            </a:solidFill>
            <a:prstDash val="solid"/>
          </a:ln>
        </p:spPr>
      </p:sp>
      <p:sp>
        <p:nvSpPr>
          <p:cNvPr id="3" name="5. Evaluation and critical analysis">
            <a:extLst>
              <a:ext uri="{FF2B5EF4-FFF2-40B4-BE49-F238E27FC236}">
                <a16:creationId xmlns:a16="http://schemas.microsoft.com/office/drawing/2014/main" id="{478D9EE7-80C7-40BF-A7D2-460E2BBEBF6F}"/>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5. Evaluation and critical analysis</a:t>
            </a:r>
          </a:p>
        </p:txBody>
      </p:sp>
      <p:sp>
        <p:nvSpPr>
          <p:cNvPr id="4" name="11 / 13">
            <a:extLst>
              <a:ext uri="{FF2B5EF4-FFF2-40B4-BE49-F238E27FC236}">
                <a16:creationId xmlns:a16="http://schemas.microsoft.com/office/drawing/2014/main" id="{6C793D54-9210-4111-A7CE-8359E0A521CB}"/>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11 / 14</a:t>
            </a:r>
          </a:p>
        </p:txBody>
      </p:sp>
      <p:sp>
        <p:nvSpPr>
          <p:cNvPr id="5" name="“The film was decent, but I didn’t like the way it ended;&#10;I belie">
            <a:extLst>
              <a:ext uri="{FF2B5EF4-FFF2-40B4-BE49-F238E27FC236}">
                <a16:creationId xmlns:a16="http://schemas.microsoft.com/office/drawing/2014/main" id="{27C981EC-9757-43D7-8151-26B826B2A4CB}"/>
              </a:ext>
            </a:extLst>
          </p:cNvPr>
          <p:cNvSpPr>
            <a:spLocks noGrp="1"/>
          </p:cNvSpPr>
          <p:nvPr/>
        </p:nvSpPr>
        <p:spPr>
          <a:xfrm>
            <a:off x="609600" y="1714500"/>
            <a:ext cx="10972800" cy="1095375"/>
          </a:xfrm>
          <a:prstGeom prst="rect">
            <a:avLst/>
          </a:prstGeom>
          <a:noFill/>
          <a:ln w="0">
            <a:noFill/>
          </a:ln>
        </p:spPr>
        <p:txBody>
          <a:bodyPr wrap="square" lIns="0" tIns="0" rIns="0" bIns="0" anchor="t">
            <a:noAutofit/>
          </a:bodyPr>
          <a:lstStyle>
            <a:defPPr algn="l">
              <a:defRPr sz="2325" b="0">
                <a:solidFill>
                  <a:srgbClr val="202D3D"/>
                </a:solidFill>
                <a:latin typeface="Times New Roman"/>
                <a:ea typeface="Times New Roman"/>
                <a:cs typeface="Times New Roman"/>
              </a:defRPr>
            </a:defPPr>
            <a:lvl1pPr algn="l">
              <a:defRPr sz="2325" b="0">
                <a:solidFill>
                  <a:srgbClr val="202D3D"/>
                </a:solidFill>
                <a:latin typeface="Times New Roman"/>
                <a:ea typeface="Times New Roman"/>
                <a:cs typeface="Times New Roman"/>
              </a:defRPr>
            </a:lvl1pPr>
            <a:lvl2pPr algn="l">
              <a:defRPr sz="2325" b="0">
                <a:solidFill>
                  <a:srgbClr val="202D3D"/>
                </a:solidFill>
                <a:latin typeface="Times New Roman"/>
                <a:ea typeface="Times New Roman"/>
                <a:cs typeface="Times New Roman"/>
              </a:defRPr>
            </a:lvl2pPr>
            <a:lvl3pPr algn="l">
              <a:defRPr sz="2325" b="0">
                <a:solidFill>
                  <a:srgbClr val="202D3D"/>
                </a:solidFill>
                <a:latin typeface="Times New Roman"/>
                <a:ea typeface="Times New Roman"/>
                <a:cs typeface="Times New Roman"/>
              </a:defRPr>
            </a:lvl3pPr>
            <a:lvl4pPr algn="l">
              <a:defRPr sz="2325" b="0">
                <a:solidFill>
                  <a:srgbClr val="202D3D"/>
                </a:solidFill>
                <a:latin typeface="Times New Roman"/>
                <a:ea typeface="Times New Roman"/>
                <a:cs typeface="Times New Roman"/>
              </a:defRPr>
            </a:lvl4pPr>
            <a:lvl5pPr algn="l">
              <a:defRPr sz="2325" b="0">
                <a:solidFill>
                  <a:srgbClr val="202D3D"/>
                </a:solidFill>
                <a:latin typeface="Times New Roman"/>
                <a:ea typeface="Times New Roman"/>
                <a:cs typeface="Times New Roman"/>
              </a:defRPr>
            </a:lvl5pPr>
            <a:lvl6pPr algn="l">
              <a:defRPr sz="2325" b="0">
                <a:solidFill>
                  <a:srgbClr val="202D3D"/>
                </a:solidFill>
                <a:latin typeface="Times New Roman"/>
                <a:ea typeface="Times New Roman"/>
                <a:cs typeface="Times New Roman"/>
              </a:defRPr>
            </a:lvl6pPr>
            <a:lvl7pPr algn="l">
              <a:defRPr sz="2325" b="0">
                <a:solidFill>
                  <a:srgbClr val="202D3D"/>
                </a:solidFill>
                <a:latin typeface="Times New Roman"/>
                <a:ea typeface="Times New Roman"/>
                <a:cs typeface="Times New Roman"/>
              </a:defRPr>
            </a:lvl7pPr>
            <a:lvl8pPr algn="l">
              <a:defRPr sz="2325" b="0">
                <a:solidFill>
                  <a:srgbClr val="202D3D"/>
                </a:solidFill>
                <a:latin typeface="Times New Roman"/>
                <a:ea typeface="Times New Roman"/>
                <a:cs typeface="Times New Roman"/>
              </a:defRPr>
            </a:lvl8pPr>
            <a:lvl9pPr algn="l">
              <a:defRPr sz="2325" b="0">
                <a:solidFill>
                  <a:srgbClr val="202D3D"/>
                </a:solidFill>
                <a:latin typeface="Times New Roman"/>
                <a:ea typeface="Times New Roman"/>
                <a:cs typeface="Times New Roman"/>
              </a:defRPr>
            </a:lvl9pPr>
          </a:lstStyle>
          <a:p>
            <a:pPr algn="l">
              <a:defRPr sz="2325" b="0">
                <a:solidFill>
                  <a:srgbClr val="202D3D"/>
                </a:solidFill>
                <a:latin typeface="Times New Roman"/>
                <a:ea typeface="Times New Roman"/>
                <a:cs typeface="Times New Roman"/>
              </a:defRPr>
            </a:pPr>
            <a:r>
              <a:rPr sz="2325" b="0">
                <a:solidFill>
                  <a:srgbClr val="202D3D"/>
                </a:solidFill>
                <a:latin typeface="Times New Roman"/>
                <a:ea typeface="Times New Roman"/>
                <a:cs typeface="Times New Roman"/>
              </a:rPr>
              <a:t>“The film was decent, but I didn’t like the way it ended;</a:t>
            </a:r>
          </a:p>
          <a:p>
            <a:pPr algn="l">
              <a:defRPr sz="2325" b="0">
                <a:solidFill>
                  <a:srgbClr val="202D3D"/>
                </a:solidFill>
                <a:latin typeface="Times New Roman"/>
                <a:ea typeface="Times New Roman"/>
                <a:cs typeface="Times New Roman"/>
              </a:defRPr>
            </a:pPr>
            <a:r>
              <a:rPr sz="2325" b="0">
                <a:solidFill>
                  <a:srgbClr val="202D3D"/>
                </a:solidFill>
                <a:latin typeface="Times New Roman"/>
                <a:ea typeface="Times New Roman"/>
                <a:cs typeface="Times New Roman"/>
              </a:rPr>
              <a:t>I believe there should have been a different, more logical conclusion.”</a:t>
            </a:r>
          </a:p>
        </p:txBody>
      </p:sp>
      <p:sp>
        <p:nvSpPr>
          <p:cNvPr id="6" name="SVM: Positive">
            <a:extLst>
              <a:ext uri="{FF2B5EF4-FFF2-40B4-BE49-F238E27FC236}">
                <a16:creationId xmlns:a16="http://schemas.microsoft.com/office/drawing/2014/main" id="{466D0434-52D3-46DF-99E5-B2439A85AE70}"/>
              </a:ext>
            </a:extLst>
          </p:cNvPr>
          <p:cNvSpPr>
            <a:spLocks noGrp="1"/>
          </p:cNvSpPr>
          <p:nvPr/>
        </p:nvSpPr>
        <p:spPr>
          <a:xfrm>
            <a:off x="609600" y="3190875"/>
            <a:ext cx="5181600" cy="457200"/>
          </a:xfrm>
          <a:prstGeom prst="rect">
            <a:avLst/>
          </a:prstGeom>
          <a:noFill/>
          <a:ln w="0">
            <a:noFill/>
          </a:ln>
        </p:spPr>
        <p:txBody>
          <a:bodyPr wrap="square" lIns="0" tIns="0" rIns="0" bIns="0" anchor="t">
            <a:noAutofit/>
          </a:bodyPr>
          <a:lstStyle>
            <a:defPPr algn="l">
              <a:defRPr sz="2700" b="1">
                <a:solidFill>
                  <a:srgbClr val="2563EB"/>
                </a:solidFill>
                <a:latin typeface="Times New Roman"/>
                <a:ea typeface="Times New Roman"/>
                <a:cs typeface="Times New Roman"/>
              </a:defRPr>
            </a:defPPr>
            <a:lvl1pPr algn="l">
              <a:defRPr sz="2700" b="1">
                <a:solidFill>
                  <a:srgbClr val="2563EB"/>
                </a:solidFill>
                <a:latin typeface="Times New Roman"/>
                <a:ea typeface="Times New Roman"/>
                <a:cs typeface="Times New Roman"/>
              </a:defRPr>
            </a:lvl1pPr>
            <a:lvl2pPr algn="l">
              <a:defRPr sz="2700" b="1">
                <a:solidFill>
                  <a:srgbClr val="2563EB"/>
                </a:solidFill>
                <a:latin typeface="Times New Roman"/>
                <a:ea typeface="Times New Roman"/>
                <a:cs typeface="Times New Roman"/>
              </a:defRPr>
            </a:lvl2pPr>
            <a:lvl3pPr algn="l">
              <a:defRPr sz="2700" b="1">
                <a:solidFill>
                  <a:srgbClr val="2563EB"/>
                </a:solidFill>
                <a:latin typeface="Times New Roman"/>
                <a:ea typeface="Times New Roman"/>
                <a:cs typeface="Times New Roman"/>
              </a:defRPr>
            </a:lvl3pPr>
            <a:lvl4pPr algn="l">
              <a:defRPr sz="2700" b="1">
                <a:solidFill>
                  <a:srgbClr val="2563EB"/>
                </a:solidFill>
                <a:latin typeface="Times New Roman"/>
                <a:ea typeface="Times New Roman"/>
                <a:cs typeface="Times New Roman"/>
              </a:defRPr>
            </a:lvl4pPr>
            <a:lvl5pPr algn="l">
              <a:defRPr sz="2700" b="1">
                <a:solidFill>
                  <a:srgbClr val="2563EB"/>
                </a:solidFill>
                <a:latin typeface="Times New Roman"/>
                <a:ea typeface="Times New Roman"/>
                <a:cs typeface="Times New Roman"/>
              </a:defRPr>
            </a:lvl5pPr>
            <a:lvl6pPr algn="l">
              <a:defRPr sz="2700" b="1">
                <a:solidFill>
                  <a:srgbClr val="2563EB"/>
                </a:solidFill>
                <a:latin typeface="Times New Roman"/>
                <a:ea typeface="Times New Roman"/>
                <a:cs typeface="Times New Roman"/>
              </a:defRPr>
            </a:lvl6pPr>
            <a:lvl7pPr algn="l">
              <a:defRPr sz="2700" b="1">
                <a:solidFill>
                  <a:srgbClr val="2563EB"/>
                </a:solidFill>
                <a:latin typeface="Times New Roman"/>
                <a:ea typeface="Times New Roman"/>
                <a:cs typeface="Times New Roman"/>
              </a:defRPr>
            </a:lvl7pPr>
            <a:lvl8pPr algn="l">
              <a:defRPr sz="2700" b="1">
                <a:solidFill>
                  <a:srgbClr val="2563EB"/>
                </a:solidFill>
                <a:latin typeface="Times New Roman"/>
                <a:ea typeface="Times New Roman"/>
                <a:cs typeface="Times New Roman"/>
              </a:defRPr>
            </a:lvl8pPr>
            <a:lvl9pPr algn="l">
              <a:defRPr sz="2700" b="1">
                <a:solidFill>
                  <a:srgbClr val="2563EB"/>
                </a:solidFill>
                <a:latin typeface="Times New Roman"/>
                <a:ea typeface="Times New Roman"/>
                <a:cs typeface="Times New Roman"/>
              </a:defRPr>
            </a:lvl9pPr>
          </a:lstStyle>
          <a:p>
            <a:pPr algn="l">
              <a:defRPr sz="2700" b="1">
                <a:solidFill>
                  <a:srgbClr val="2563EB"/>
                </a:solidFill>
                <a:latin typeface="Times New Roman"/>
                <a:ea typeface="Times New Roman"/>
                <a:cs typeface="Times New Roman"/>
              </a:defRPr>
            </a:pPr>
            <a:r>
              <a:rPr sz="2700" b="1">
                <a:solidFill>
                  <a:srgbClr val="2563EB"/>
                </a:solidFill>
                <a:latin typeface="Times New Roman"/>
                <a:ea typeface="Times New Roman"/>
                <a:cs typeface="Times New Roman"/>
              </a:rPr>
              <a:t>SVM: Positive</a:t>
            </a:r>
          </a:p>
        </p:txBody>
      </p:sp>
      <p:sp>
        <p:nvSpPr>
          <p:cNvPr id="7" name="CNN: Negative">
            <a:extLst>
              <a:ext uri="{FF2B5EF4-FFF2-40B4-BE49-F238E27FC236}">
                <a16:creationId xmlns:a16="http://schemas.microsoft.com/office/drawing/2014/main" id="{5ECBE871-79CF-4379-A25A-EF37087A76D4}"/>
              </a:ext>
            </a:extLst>
          </p:cNvPr>
          <p:cNvSpPr>
            <a:spLocks noGrp="1"/>
          </p:cNvSpPr>
          <p:nvPr/>
        </p:nvSpPr>
        <p:spPr>
          <a:xfrm>
            <a:off x="6400800" y="3190875"/>
            <a:ext cx="5181600" cy="457200"/>
          </a:xfrm>
          <a:prstGeom prst="rect">
            <a:avLst/>
          </a:prstGeom>
          <a:noFill/>
          <a:ln w="0">
            <a:noFill/>
          </a:ln>
        </p:spPr>
        <p:txBody>
          <a:bodyPr wrap="square" lIns="0" tIns="0" rIns="0" bIns="0" anchor="t">
            <a:noAutofit/>
          </a:bodyPr>
          <a:lstStyle>
            <a:defPPr algn="l">
              <a:defRPr sz="2700" b="1">
                <a:solidFill>
                  <a:srgbClr val="D97706"/>
                </a:solidFill>
                <a:latin typeface="Times New Roman"/>
                <a:ea typeface="Times New Roman"/>
                <a:cs typeface="Times New Roman"/>
              </a:defRPr>
            </a:defPPr>
            <a:lvl1pPr algn="l">
              <a:defRPr sz="2700" b="1">
                <a:solidFill>
                  <a:srgbClr val="D97706"/>
                </a:solidFill>
                <a:latin typeface="Times New Roman"/>
                <a:ea typeface="Times New Roman"/>
                <a:cs typeface="Times New Roman"/>
              </a:defRPr>
            </a:lvl1pPr>
            <a:lvl2pPr algn="l">
              <a:defRPr sz="2700" b="1">
                <a:solidFill>
                  <a:srgbClr val="D97706"/>
                </a:solidFill>
                <a:latin typeface="Times New Roman"/>
                <a:ea typeface="Times New Roman"/>
                <a:cs typeface="Times New Roman"/>
              </a:defRPr>
            </a:lvl2pPr>
            <a:lvl3pPr algn="l">
              <a:defRPr sz="2700" b="1">
                <a:solidFill>
                  <a:srgbClr val="D97706"/>
                </a:solidFill>
                <a:latin typeface="Times New Roman"/>
                <a:ea typeface="Times New Roman"/>
                <a:cs typeface="Times New Roman"/>
              </a:defRPr>
            </a:lvl3pPr>
            <a:lvl4pPr algn="l">
              <a:defRPr sz="2700" b="1">
                <a:solidFill>
                  <a:srgbClr val="D97706"/>
                </a:solidFill>
                <a:latin typeface="Times New Roman"/>
                <a:ea typeface="Times New Roman"/>
                <a:cs typeface="Times New Roman"/>
              </a:defRPr>
            </a:lvl4pPr>
            <a:lvl5pPr algn="l">
              <a:defRPr sz="2700" b="1">
                <a:solidFill>
                  <a:srgbClr val="D97706"/>
                </a:solidFill>
                <a:latin typeface="Times New Roman"/>
                <a:ea typeface="Times New Roman"/>
                <a:cs typeface="Times New Roman"/>
              </a:defRPr>
            </a:lvl5pPr>
            <a:lvl6pPr algn="l">
              <a:defRPr sz="2700" b="1">
                <a:solidFill>
                  <a:srgbClr val="D97706"/>
                </a:solidFill>
                <a:latin typeface="Times New Roman"/>
                <a:ea typeface="Times New Roman"/>
                <a:cs typeface="Times New Roman"/>
              </a:defRPr>
            </a:lvl6pPr>
            <a:lvl7pPr algn="l">
              <a:defRPr sz="2700" b="1">
                <a:solidFill>
                  <a:srgbClr val="D97706"/>
                </a:solidFill>
                <a:latin typeface="Times New Roman"/>
                <a:ea typeface="Times New Roman"/>
                <a:cs typeface="Times New Roman"/>
              </a:defRPr>
            </a:lvl7pPr>
            <a:lvl8pPr algn="l">
              <a:defRPr sz="2700" b="1">
                <a:solidFill>
                  <a:srgbClr val="D97706"/>
                </a:solidFill>
                <a:latin typeface="Times New Roman"/>
                <a:ea typeface="Times New Roman"/>
                <a:cs typeface="Times New Roman"/>
              </a:defRPr>
            </a:lvl8pPr>
            <a:lvl9pPr algn="l">
              <a:defRPr sz="2700" b="1">
                <a:solidFill>
                  <a:srgbClr val="D97706"/>
                </a:solidFill>
                <a:latin typeface="Times New Roman"/>
                <a:ea typeface="Times New Roman"/>
                <a:cs typeface="Times New Roman"/>
              </a:defRPr>
            </a:lvl9pPr>
          </a:lstStyle>
          <a:p>
            <a:pPr algn="l">
              <a:defRPr sz="2700" b="1">
                <a:solidFill>
                  <a:srgbClr val="D97706"/>
                </a:solidFill>
                <a:latin typeface="Times New Roman"/>
                <a:ea typeface="Times New Roman"/>
                <a:cs typeface="Times New Roman"/>
              </a:defRPr>
            </a:pPr>
            <a:r>
              <a:rPr sz="2700" b="1">
                <a:solidFill>
                  <a:srgbClr val="D97706"/>
                </a:solidFill>
                <a:latin typeface="Times New Roman"/>
                <a:ea typeface="Times New Roman"/>
                <a:cs typeface="Times New Roman"/>
              </a:rPr>
              <a:t>CNN: Negative</a:t>
            </a:r>
          </a:p>
        </p:txBody>
      </p:sp>
      <p:sp>
        <p:nvSpPr>
          <p:cNvPr id="8" name="SVM contributions">
            <a:extLst>
              <a:ext uri="{FF2B5EF4-FFF2-40B4-BE49-F238E27FC236}">
                <a16:creationId xmlns:a16="http://schemas.microsoft.com/office/drawing/2014/main" id="{ADDF2A1C-FAC4-4D69-A0D2-C9490C4AFDF1}"/>
              </a:ext>
            </a:extLst>
          </p:cNvPr>
          <p:cNvSpPr>
            <a:spLocks noGrp="1"/>
          </p:cNvSpPr>
          <p:nvPr/>
        </p:nvSpPr>
        <p:spPr>
          <a:xfrm>
            <a:off x="609600" y="3952875"/>
            <a:ext cx="5181600" cy="342900"/>
          </a:xfrm>
          <a:prstGeom prst="rect">
            <a:avLst/>
          </a:prstGeom>
          <a:noFill/>
          <a:ln w="0">
            <a:noFill/>
          </a:ln>
        </p:spPr>
        <p:txBody>
          <a:bodyPr wrap="square" lIns="0" tIns="0" rIns="0" bIns="0" anchor="t">
            <a:noAutofit/>
          </a:bodyPr>
          <a:lstStyle>
            <a:defPPr algn="l">
              <a:defRPr sz="2025" b="1">
                <a:solidFill>
                  <a:srgbClr val="202D3D"/>
                </a:solidFill>
                <a:latin typeface="Times New Roman"/>
                <a:ea typeface="Times New Roman"/>
                <a:cs typeface="Times New Roman"/>
              </a:defRPr>
            </a:defPPr>
            <a:lvl1pPr algn="l">
              <a:defRPr sz="2025" b="1">
                <a:solidFill>
                  <a:srgbClr val="202D3D"/>
                </a:solidFill>
                <a:latin typeface="Times New Roman"/>
                <a:ea typeface="Times New Roman"/>
                <a:cs typeface="Times New Roman"/>
              </a:defRPr>
            </a:lvl1pPr>
            <a:lvl2pPr algn="l">
              <a:defRPr sz="2025" b="1">
                <a:solidFill>
                  <a:srgbClr val="202D3D"/>
                </a:solidFill>
                <a:latin typeface="Times New Roman"/>
                <a:ea typeface="Times New Roman"/>
                <a:cs typeface="Times New Roman"/>
              </a:defRPr>
            </a:lvl2pPr>
            <a:lvl3pPr algn="l">
              <a:defRPr sz="2025" b="1">
                <a:solidFill>
                  <a:srgbClr val="202D3D"/>
                </a:solidFill>
                <a:latin typeface="Times New Roman"/>
                <a:ea typeface="Times New Roman"/>
                <a:cs typeface="Times New Roman"/>
              </a:defRPr>
            </a:lvl3pPr>
            <a:lvl4pPr algn="l">
              <a:defRPr sz="2025" b="1">
                <a:solidFill>
                  <a:srgbClr val="202D3D"/>
                </a:solidFill>
                <a:latin typeface="Times New Roman"/>
                <a:ea typeface="Times New Roman"/>
                <a:cs typeface="Times New Roman"/>
              </a:defRPr>
            </a:lvl4pPr>
            <a:lvl5pPr algn="l">
              <a:defRPr sz="2025" b="1">
                <a:solidFill>
                  <a:srgbClr val="202D3D"/>
                </a:solidFill>
                <a:latin typeface="Times New Roman"/>
                <a:ea typeface="Times New Roman"/>
                <a:cs typeface="Times New Roman"/>
              </a:defRPr>
            </a:lvl5pPr>
            <a:lvl6pPr algn="l">
              <a:defRPr sz="2025" b="1">
                <a:solidFill>
                  <a:srgbClr val="202D3D"/>
                </a:solidFill>
                <a:latin typeface="Times New Roman"/>
                <a:ea typeface="Times New Roman"/>
                <a:cs typeface="Times New Roman"/>
              </a:defRPr>
            </a:lvl6pPr>
            <a:lvl7pPr algn="l">
              <a:defRPr sz="2025" b="1">
                <a:solidFill>
                  <a:srgbClr val="202D3D"/>
                </a:solidFill>
                <a:latin typeface="Times New Roman"/>
                <a:ea typeface="Times New Roman"/>
                <a:cs typeface="Times New Roman"/>
              </a:defRPr>
            </a:lvl7pPr>
            <a:lvl8pPr algn="l">
              <a:defRPr sz="2025" b="1">
                <a:solidFill>
                  <a:srgbClr val="202D3D"/>
                </a:solidFill>
                <a:latin typeface="Times New Roman"/>
                <a:ea typeface="Times New Roman"/>
                <a:cs typeface="Times New Roman"/>
              </a:defRPr>
            </a:lvl8pPr>
            <a:lvl9pPr algn="l">
              <a:defRPr sz="2025" b="1">
                <a:solidFill>
                  <a:srgbClr val="202D3D"/>
                </a:solidFill>
                <a:latin typeface="Times New Roman"/>
                <a:ea typeface="Times New Roman"/>
                <a:cs typeface="Times New Roman"/>
              </a:defRPr>
            </a:lvl9pPr>
          </a:lstStyle>
          <a:p>
            <a:pPr algn="l">
              <a:defRPr sz="2025" b="1">
                <a:solidFill>
                  <a:srgbClr val="202D3D"/>
                </a:solidFill>
                <a:latin typeface="Times New Roman"/>
                <a:ea typeface="Times New Roman"/>
                <a:cs typeface="Times New Roman"/>
              </a:defRPr>
            </a:pPr>
            <a:r>
              <a:rPr sz="2025" b="1">
                <a:solidFill>
                  <a:srgbClr val="202D3D"/>
                </a:solidFill>
                <a:latin typeface="Times New Roman"/>
                <a:ea typeface="Times New Roman"/>
                <a:cs typeface="Times New Roman"/>
              </a:rPr>
              <a:t>Mixed opinions</a:t>
            </a:r>
          </a:p>
        </p:txBody>
      </p:sp>
      <p:sp>
        <p:nvSpPr>
          <p:cNvPr id="9" name="&quot;i believe&quot;  +0.238&#10;&quot;not like&quot;  +0.141&#10;Final margin  +0.154">
            <a:extLst>
              <a:ext uri="{FF2B5EF4-FFF2-40B4-BE49-F238E27FC236}">
                <a16:creationId xmlns:a16="http://schemas.microsoft.com/office/drawing/2014/main" id="{FB59BAD6-F8A1-43BB-B593-6FC45581C406}"/>
              </a:ext>
            </a:extLst>
          </p:cNvPr>
          <p:cNvSpPr>
            <a:spLocks noGrp="1"/>
          </p:cNvSpPr>
          <p:nvPr/>
        </p:nvSpPr>
        <p:spPr>
          <a:xfrm>
            <a:off x="609600" y="4429125"/>
            <a:ext cx="5181600" cy="1209675"/>
          </a:xfrm>
          <a:prstGeom prst="rect">
            <a:avLst/>
          </a:prstGeom>
          <a:noFill/>
          <a:ln w="0">
            <a:noFill/>
          </a:ln>
        </p:spPr>
        <p:txBody>
          <a:bodyPr wrap="square" lIns="0" tIns="0" rIns="0" bIns="0" anchor="t">
            <a:noAutofit/>
          </a:bodyPr>
          <a:lstStyle>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Praise: "The film was decent"</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Criticism: "I didn't like the way it ended"</a:t>
            </a:r>
          </a:p>
        </p:txBody>
      </p:sp>
      <p:sp>
        <p:nvSpPr>
          <p:cNvPr id="10" name="Limits of the experiment">
            <a:extLst>
              <a:ext uri="{FF2B5EF4-FFF2-40B4-BE49-F238E27FC236}">
                <a16:creationId xmlns:a16="http://schemas.microsoft.com/office/drawing/2014/main" id="{F0F0EF58-7921-4D21-836F-745EAF80C066}"/>
              </a:ext>
            </a:extLst>
          </p:cNvPr>
          <p:cNvSpPr>
            <a:spLocks noGrp="1"/>
          </p:cNvSpPr>
          <p:nvPr/>
        </p:nvSpPr>
        <p:spPr>
          <a:xfrm>
            <a:off x="6400800" y="3952875"/>
            <a:ext cx="5181600" cy="342900"/>
          </a:xfrm>
          <a:prstGeom prst="rect">
            <a:avLst/>
          </a:prstGeom>
          <a:noFill/>
          <a:ln w="0">
            <a:noFill/>
          </a:ln>
        </p:spPr>
        <p:txBody>
          <a:bodyPr wrap="square" lIns="0" tIns="0" rIns="0" bIns="0" anchor="t">
            <a:noAutofit/>
          </a:bodyPr>
          <a:lstStyle>
            <a:defPPr algn="l">
              <a:defRPr sz="2025" b="1">
                <a:solidFill>
                  <a:srgbClr val="202D3D"/>
                </a:solidFill>
                <a:latin typeface="Times New Roman"/>
                <a:ea typeface="Times New Roman"/>
                <a:cs typeface="Times New Roman"/>
              </a:defRPr>
            </a:defPPr>
            <a:lvl1pPr algn="l">
              <a:defRPr sz="2025" b="1">
                <a:solidFill>
                  <a:srgbClr val="202D3D"/>
                </a:solidFill>
                <a:latin typeface="Times New Roman"/>
                <a:ea typeface="Times New Roman"/>
                <a:cs typeface="Times New Roman"/>
              </a:defRPr>
            </a:lvl1pPr>
            <a:lvl2pPr algn="l">
              <a:defRPr sz="2025" b="1">
                <a:solidFill>
                  <a:srgbClr val="202D3D"/>
                </a:solidFill>
                <a:latin typeface="Times New Roman"/>
                <a:ea typeface="Times New Roman"/>
                <a:cs typeface="Times New Roman"/>
              </a:defRPr>
            </a:lvl2pPr>
            <a:lvl3pPr algn="l">
              <a:defRPr sz="2025" b="1">
                <a:solidFill>
                  <a:srgbClr val="202D3D"/>
                </a:solidFill>
                <a:latin typeface="Times New Roman"/>
                <a:ea typeface="Times New Roman"/>
                <a:cs typeface="Times New Roman"/>
              </a:defRPr>
            </a:lvl3pPr>
            <a:lvl4pPr algn="l">
              <a:defRPr sz="2025" b="1">
                <a:solidFill>
                  <a:srgbClr val="202D3D"/>
                </a:solidFill>
                <a:latin typeface="Times New Roman"/>
                <a:ea typeface="Times New Roman"/>
                <a:cs typeface="Times New Roman"/>
              </a:defRPr>
            </a:lvl4pPr>
            <a:lvl5pPr algn="l">
              <a:defRPr sz="2025" b="1">
                <a:solidFill>
                  <a:srgbClr val="202D3D"/>
                </a:solidFill>
                <a:latin typeface="Times New Roman"/>
                <a:ea typeface="Times New Roman"/>
                <a:cs typeface="Times New Roman"/>
              </a:defRPr>
            </a:lvl5pPr>
            <a:lvl6pPr algn="l">
              <a:defRPr sz="2025" b="1">
                <a:solidFill>
                  <a:srgbClr val="202D3D"/>
                </a:solidFill>
                <a:latin typeface="Times New Roman"/>
                <a:ea typeface="Times New Roman"/>
                <a:cs typeface="Times New Roman"/>
              </a:defRPr>
            </a:lvl6pPr>
            <a:lvl7pPr algn="l">
              <a:defRPr sz="2025" b="1">
                <a:solidFill>
                  <a:srgbClr val="202D3D"/>
                </a:solidFill>
                <a:latin typeface="Times New Roman"/>
                <a:ea typeface="Times New Roman"/>
                <a:cs typeface="Times New Roman"/>
              </a:defRPr>
            </a:lvl7pPr>
            <a:lvl8pPr algn="l">
              <a:defRPr sz="2025" b="1">
                <a:solidFill>
                  <a:srgbClr val="202D3D"/>
                </a:solidFill>
                <a:latin typeface="Times New Roman"/>
                <a:ea typeface="Times New Roman"/>
                <a:cs typeface="Times New Roman"/>
              </a:defRPr>
            </a:lvl8pPr>
            <a:lvl9pPr algn="l">
              <a:defRPr sz="2025" b="1">
                <a:solidFill>
                  <a:srgbClr val="202D3D"/>
                </a:solidFill>
                <a:latin typeface="Times New Roman"/>
                <a:ea typeface="Times New Roman"/>
                <a:cs typeface="Times New Roman"/>
              </a:defRPr>
            </a:lvl9pPr>
          </a:lstStyle>
          <a:p>
            <a:pPr algn="l">
              <a:defRPr sz="2025" b="1">
                <a:solidFill>
                  <a:srgbClr val="202D3D"/>
                </a:solidFill>
                <a:latin typeface="Times New Roman"/>
                <a:ea typeface="Times New Roman"/>
                <a:cs typeface="Times New Roman"/>
              </a:defRPr>
            </a:pPr>
            <a:r>
              <a:rPr sz="2025" b="1">
                <a:solidFill>
                  <a:srgbClr val="202D3D"/>
                </a:solidFill>
                <a:latin typeface="Times New Roman"/>
                <a:ea typeface="Times New Roman"/>
                <a:cs typeface="Times New Roman"/>
              </a:rPr>
              <a:t>Limits of the experiment</a:t>
            </a:r>
          </a:p>
        </p:txBody>
      </p:sp>
      <p:sp>
        <p:nvSpPr>
          <p:cNvPr id="11" name="English movie reviews, binary labels&#10;One split and one CNN run&#10;No">
            <a:extLst>
              <a:ext uri="{FF2B5EF4-FFF2-40B4-BE49-F238E27FC236}">
                <a16:creationId xmlns:a16="http://schemas.microsoft.com/office/drawing/2014/main" id="{F5748E28-F979-4D5F-8090-94DF3DCF6880}"/>
              </a:ext>
            </a:extLst>
          </p:cNvPr>
          <p:cNvSpPr>
            <a:spLocks noGrp="1"/>
          </p:cNvSpPr>
          <p:nvPr/>
        </p:nvSpPr>
        <p:spPr>
          <a:xfrm>
            <a:off x="6400800" y="4429125"/>
            <a:ext cx="5181600" cy="1209675"/>
          </a:xfrm>
          <a:prstGeom prst="rect">
            <a:avLst/>
          </a:prstGeom>
          <a:noFill/>
          <a:ln w="0">
            <a:noFill/>
          </a:ln>
        </p:spPr>
        <p:txBody>
          <a:bodyPr wrap="square" lIns="0" tIns="0" rIns="0" bIns="0" anchor="t">
            <a:noAutofit/>
          </a:bodyPr>
          <a:lstStyle>
            <a:defPPr algn="l">
              <a:defRPr sz="1875" b="0">
                <a:solidFill>
                  <a:srgbClr val="202D3D"/>
                </a:solidFill>
                <a:latin typeface="Times New Roman"/>
                <a:ea typeface="Times New Roman"/>
                <a:cs typeface="Times New Roman"/>
              </a:defRPr>
            </a:defPPr>
            <a:lvl1pPr algn="l">
              <a:defRPr sz="1875" b="0">
                <a:solidFill>
                  <a:srgbClr val="202D3D"/>
                </a:solidFill>
                <a:latin typeface="Times New Roman"/>
                <a:ea typeface="Times New Roman"/>
                <a:cs typeface="Times New Roman"/>
              </a:defRPr>
            </a:lvl1pPr>
            <a:lvl2pPr algn="l">
              <a:defRPr sz="1875" b="0">
                <a:solidFill>
                  <a:srgbClr val="202D3D"/>
                </a:solidFill>
                <a:latin typeface="Times New Roman"/>
                <a:ea typeface="Times New Roman"/>
                <a:cs typeface="Times New Roman"/>
              </a:defRPr>
            </a:lvl2pPr>
            <a:lvl3pPr algn="l">
              <a:defRPr sz="1875" b="0">
                <a:solidFill>
                  <a:srgbClr val="202D3D"/>
                </a:solidFill>
                <a:latin typeface="Times New Roman"/>
                <a:ea typeface="Times New Roman"/>
                <a:cs typeface="Times New Roman"/>
              </a:defRPr>
            </a:lvl3pPr>
            <a:lvl4pPr algn="l">
              <a:defRPr sz="1875" b="0">
                <a:solidFill>
                  <a:srgbClr val="202D3D"/>
                </a:solidFill>
                <a:latin typeface="Times New Roman"/>
                <a:ea typeface="Times New Roman"/>
                <a:cs typeface="Times New Roman"/>
              </a:defRPr>
            </a:lvl4pPr>
            <a:lvl5pPr algn="l">
              <a:defRPr sz="1875" b="0">
                <a:solidFill>
                  <a:srgbClr val="202D3D"/>
                </a:solidFill>
                <a:latin typeface="Times New Roman"/>
                <a:ea typeface="Times New Roman"/>
                <a:cs typeface="Times New Roman"/>
              </a:defRPr>
            </a:lvl5pPr>
            <a:lvl6pPr algn="l">
              <a:defRPr sz="1875" b="0">
                <a:solidFill>
                  <a:srgbClr val="202D3D"/>
                </a:solidFill>
                <a:latin typeface="Times New Roman"/>
                <a:ea typeface="Times New Roman"/>
                <a:cs typeface="Times New Roman"/>
              </a:defRPr>
            </a:lvl6pPr>
            <a:lvl7pPr algn="l">
              <a:defRPr sz="1875" b="0">
                <a:solidFill>
                  <a:srgbClr val="202D3D"/>
                </a:solidFill>
                <a:latin typeface="Times New Roman"/>
                <a:ea typeface="Times New Roman"/>
                <a:cs typeface="Times New Roman"/>
              </a:defRPr>
            </a:lvl7pPr>
            <a:lvl8pPr algn="l">
              <a:defRPr sz="1875" b="0">
                <a:solidFill>
                  <a:srgbClr val="202D3D"/>
                </a:solidFill>
                <a:latin typeface="Times New Roman"/>
                <a:ea typeface="Times New Roman"/>
                <a:cs typeface="Times New Roman"/>
              </a:defRPr>
            </a:lvl8pPr>
            <a:lvl9pPr algn="l">
              <a:defRPr sz="1875" b="0">
                <a:solidFill>
                  <a:srgbClr val="202D3D"/>
                </a:solidFill>
                <a:latin typeface="Times New Roman"/>
                <a:ea typeface="Times New Roman"/>
                <a:cs typeface="Times New Roman"/>
              </a:defRPr>
            </a:lvl9pPr>
          </a:lstStyle>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English movie reviews only</a:t>
            </a:r>
          </a:p>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Two sentiment classes</a:t>
            </a:r>
          </a:p>
          <a:p>
            <a:pPr algn="l">
              <a:defRPr sz="1875" b="0">
                <a:solidFill>
                  <a:srgbClr val="202D3D"/>
                </a:solidFill>
                <a:latin typeface="Times New Roman"/>
                <a:ea typeface="Times New Roman"/>
                <a:cs typeface="Times New Roman"/>
              </a:defRPr>
            </a:pPr>
            <a:r>
              <a:rPr sz="1875" b="0">
                <a:solidFill>
                  <a:srgbClr val="202D3D"/>
                </a:solidFill>
                <a:latin typeface="Times New Roman"/>
                <a:ea typeface="Times New Roman"/>
                <a:cs typeface="Times New Roman"/>
              </a:rPr>
              <a:t>More testing needed for generalization</a:t>
            </a:r>
          </a:p>
        </p:txBody>
      </p:sp>
      <p:sp>
        <p:nvSpPr>
          <p:cNvPr id="12" name="Illustrative input has no dataset gold label. Disagreement alone ">
            <a:extLst>
              <a:ext uri="{FF2B5EF4-FFF2-40B4-BE49-F238E27FC236}">
                <a16:creationId xmlns:a16="http://schemas.microsoft.com/office/drawing/2014/main" id="{5FAF2F8F-1DE3-40BC-9CE9-A782B9E2F8A2}"/>
              </a:ext>
            </a:extLst>
          </p:cNvPr>
          <p:cNvSpPr>
            <a:spLocks noGrp="1"/>
          </p:cNvSpPr>
          <p:nvPr/>
        </p:nvSpPr>
        <p:spPr>
          <a:xfrm>
            <a:off x="609600" y="5905500"/>
            <a:ext cx="10972800" cy="333375"/>
          </a:xfrm>
          <a:prstGeom prst="rect">
            <a:avLst/>
          </a:prstGeom>
          <a:noFill/>
          <a:ln w="0">
            <a:noFill/>
          </a:ln>
        </p:spPr>
        <p:txBody>
          <a:bodyPr wrap="square" lIns="0" tIns="0" rIns="0" bIns="0" anchor="t">
            <a:noAutofit/>
          </a:bodyPr>
          <a:lstStyle>
            <a:defPPr algn="l">
              <a:defRPr sz="1575" b="0">
                <a:solidFill>
                  <a:srgbClr val="202D3D"/>
                </a:solidFill>
                <a:latin typeface="Times New Roman"/>
                <a:ea typeface="Times New Roman"/>
                <a:cs typeface="Times New Roman"/>
              </a:defRPr>
            </a:defPPr>
            <a:lvl1pPr algn="l">
              <a:defRPr sz="1575" b="0">
                <a:solidFill>
                  <a:srgbClr val="202D3D"/>
                </a:solidFill>
                <a:latin typeface="Times New Roman"/>
                <a:ea typeface="Times New Roman"/>
                <a:cs typeface="Times New Roman"/>
              </a:defRPr>
            </a:lvl1pPr>
            <a:lvl2pPr algn="l">
              <a:defRPr sz="1575" b="0">
                <a:solidFill>
                  <a:srgbClr val="202D3D"/>
                </a:solidFill>
                <a:latin typeface="Times New Roman"/>
                <a:ea typeface="Times New Roman"/>
                <a:cs typeface="Times New Roman"/>
              </a:defRPr>
            </a:lvl2pPr>
            <a:lvl3pPr algn="l">
              <a:defRPr sz="1575" b="0">
                <a:solidFill>
                  <a:srgbClr val="202D3D"/>
                </a:solidFill>
                <a:latin typeface="Times New Roman"/>
                <a:ea typeface="Times New Roman"/>
                <a:cs typeface="Times New Roman"/>
              </a:defRPr>
            </a:lvl3pPr>
            <a:lvl4pPr algn="l">
              <a:defRPr sz="1575" b="0">
                <a:solidFill>
                  <a:srgbClr val="202D3D"/>
                </a:solidFill>
                <a:latin typeface="Times New Roman"/>
                <a:ea typeface="Times New Roman"/>
                <a:cs typeface="Times New Roman"/>
              </a:defRPr>
            </a:lvl4pPr>
            <a:lvl5pPr algn="l">
              <a:defRPr sz="1575" b="0">
                <a:solidFill>
                  <a:srgbClr val="202D3D"/>
                </a:solidFill>
                <a:latin typeface="Times New Roman"/>
                <a:ea typeface="Times New Roman"/>
                <a:cs typeface="Times New Roman"/>
              </a:defRPr>
            </a:lvl5pPr>
            <a:lvl6pPr algn="l">
              <a:defRPr sz="1575" b="0">
                <a:solidFill>
                  <a:srgbClr val="202D3D"/>
                </a:solidFill>
                <a:latin typeface="Times New Roman"/>
                <a:ea typeface="Times New Roman"/>
                <a:cs typeface="Times New Roman"/>
              </a:defRPr>
            </a:lvl6pPr>
            <a:lvl7pPr algn="l">
              <a:defRPr sz="1575" b="0">
                <a:solidFill>
                  <a:srgbClr val="202D3D"/>
                </a:solidFill>
                <a:latin typeface="Times New Roman"/>
                <a:ea typeface="Times New Roman"/>
                <a:cs typeface="Times New Roman"/>
              </a:defRPr>
            </a:lvl7pPr>
            <a:lvl8pPr algn="l">
              <a:defRPr sz="1575" b="0">
                <a:solidFill>
                  <a:srgbClr val="202D3D"/>
                </a:solidFill>
                <a:latin typeface="Times New Roman"/>
                <a:ea typeface="Times New Roman"/>
                <a:cs typeface="Times New Roman"/>
              </a:defRPr>
            </a:lvl8pPr>
            <a:lvl9pPr algn="l">
              <a:defRPr sz="1575" b="0">
                <a:solidFill>
                  <a:srgbClr val="202D3D"/>
                </a:solidFill>
                <a:latin typeface="Times New Roman"/>
                <a:ea typeface="Times New Roman"/>
                <a:cs typeface="Times New Roman"/>
              </a:defRPr>
            </a:lvl9pPr>
          </a:lstStyle>
          <a:p>
            <a:pPr algn="l">
              <a:defRPr sz="1575" b="0">
                <a:solidFill>
                  <a:srgbClr val="202D3D"/>
                </a:solidFill>
                <a:latin typeface="Times New Roman"/>
                <a:ea typeface="Times New Roman"/>
                <a:cs typeface="Times New Roman"/>
              </a:defRPr>
            </a:pPr>
            <a:r>
              <a:rPr sz="1575" b="0">
                <a:solidFill>
                  <a:srgbClr val="202D3D"/>
                </a:solidFill>
                <a:latin typeface="Times New Roman"/>
                <a:ea typeface="Times New Roman"/>
                <a:cs typeface="Times New Roman"/>
              </a:rPr>
              <a:t>No official label for this example. Disagreement alone does not tell us which model is correct.</a:t>
            </a:r>
          </a:p>
        </p:txBody>
      </p:sp>
    </p:spTree>
    <p:extLst>
      <p:ext uri="{BB962C8B-B14F-4D97-AF65-F5344CB8AC3E}">
        <p14:creationId xmlns:p14="http://schemas.microsoft.com/office/powerpoint/2010/main" val="42610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A local interface compares both models">
            <a:extLst>
              <a:ext uri="{FF2B5EF4-FFF2-40B4-BE49-F238E27FC236}">
                <a16:creationId xmlns:a16="http://schemas.microsoft.com/office/drawing/2014/main" id="{898B08F0-FBDC-4356-A571-0A42EF2F3027}"/>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Application demonstration</a:t>
            </a:r>
          </a:p>
        </p:txBody>
      </p:sp>
      <p:sp>
        <p:nvSpPr>
          <p:cNvPr id="2" name="Straight Connector 1">
            <a:extLst>
              <a:ext uri="{FF2B5EF4-FFF2-40B4-BE49-F238E27FC236}">
                <a16:creationId xmlns:a16="http://schemas.microsoft.com/office/drawing/2014/main" id="{69349DB9-77C2-4830-9CEA-70D613955E96}"/>
              </a:ext>
            </a:extLst>
          </p:cNvPr>
          <p:cNvSpPr>
            <a:spLocks noGrp="1"/>
          </p:cNvSpPr>
          <p:nvPr/>
        </p:nvSpPr>
        <p:spPr>
          <a:xfrm>
            <a:off x="609600" y="1266825"/>
            <a:ext cx="10972800" cy="0"/>
          </a:xfrm>
          <a:prstGeom prst="line">
            <a:avLst/>
          </a:prstGeom>
          <a:ln w="28575">
            <a:solidFill>
              <a:srgbClr val="2563EB"/>
            </a:solidFill>
            <a:prstDash val="solid"/>
          </a:ln>
        </p:spPr>
      </p:sp>
      <p:sp>
        <p:nvSpPr>
          <p:cNvPr id="3" name="6. Application and demonstration">
            <a:extLst>
              <a:ext uri="{FF2B5EF4-FFF2-40B4-BE49-F238E27FC236}">
                <a16:creationId xmlns:a16="http://schemas.microsoft.com/office/drawing/2014/main" id="{700B931C-F7A6-4DBF-9A6B-1545CF40EED4}"/>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6. Application and demonstration</a:t>
            </a:r>
          </a:p>
        </p:txBody>
      </p:sp>
      <p:sp>
        <p:nvSpPr>
          <p:cNvPr id="4" name="12 / 13">
            <a:extLst>
              <a:ext uri="{FF2B5EF4-FFF2-40B4-BE49-F238E27FC236}">
                <a16:creationId xmlns:a16="http://schemas.microsoft.com/office/drawing/2014/main" id="{DCCFD82F-6717-4D08-9F8E-FCD9A3CB4802}"/>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12 / 14</a:t>
            </a:r>
          </a:p>
        </p:txBody>
      </p:sp>
      <p:pic>
        <p:nvPicPr>
          <p:cNvPr id="5" name="Picture 4">
            <a:extLst>
              <a:ext uri="{FF2B5EF4-FFF2-40B4-BE49-F238E27FC236}">
                <a16:creationId xmlns:a16="http://schemas.microsoft.com/office/drawing/2014/main" id="{E7B1C3C3-5F18-447F-9707-DB9CC581F2FB}"/>
              </a:ext>
            </a:extLst>
          </p:cNvPr>
          <p:cNvPicPr>
            <a:picLocks noChangeAspect="1"/>
          </p:cNvPicPr>
          <p:nvPr/>
        </p:nvPicPr>
        <p:blipFill>
          <a:blip r:embed="rId3"/>
          <a:stretch/>
        </p:blipFill>
        <p:spPr>
          <a:xfrm>
            <a:off x="1083823" y="1666875"/>
            <a:ext cx="4823705" cy="4181475"/>
          </a:xfrm>
          <a:prstGeom prst="rect">
            <a:avLst/>
          </a:prstGeom>
        </p:spPr>
      </p:pic>
      <p:sp>
        <p:nvSpPr>
          <p:cNvPr id="6" name="Live demo">
            <a:extLst>
              <a:ext uri="{FF2B5EF4-FFF2-40B4-BE49-F238E27FC236}">
                <a16:creationId xmlns:a16="http://schemas.microsoft.com/office/drawing/2014/main" id="{44CA0FC5-509C-4DBE-BCFD-412FC9AE933D}"/>
              </a:ext>
            </a:extLst>
          </p:cNvPr>
          <p:cNvSpPr>
            <a:spLocks noGrp="1"/>
          </p:cNvSpPr>
          <p:nvPr/>
        </p:nvSpPr>
        <p:spPr>
          <a:xfrm>
            <a:off x="7010400" y="1781175"/>
            <a:ext cx="4572000" cy="428625"/>
          </a:xfrm>
          <a:prstGeom prst="rect">
            <a:avLst/>
          </a:prstGeom>
          <a:noFill/>
          <a:ln w="0">
            <a:noFill/>
          </a:ln>
        </p:spPr>
        <p:txBody>
          <a:bodyPr wrap="square" lIns="0" tIns="0" rIns="0" bIns="0" anchor="t">
            <a:noAutofit/>
          </a:bodyPr>
          <a:lstStyle>
            <a:defPPr algn="l">
              <a:defRPr sz="2550" b="1">
                <a:solidFill>
                  <a:srgbClr val="202D3D"/>
                </a:solidFill>
                <a:latin typeface="Times New Roman"/>
                <a:ea typeface="Times New Roman"/>
                <a:cs typeface="Times New Roman"/>
              </a:defRPr>
            </a:defPPr>
            <a:lvl1pPr algn="l">
              <a:defRPr sz="2550" b="1">
                <a:solidFill>
                  <a:srgbClr val="202D3D"/>
                </a:solidFill>
                <a:latin typeface="Times New Roman"/>
                <a:ea typeface="Times New Roman"/>
                <a:cs typeface="Times New Roman"/>
              </a:defRPr>
            </a:lvl1pPr>
            <a:lvl2pPr algn="l">
              <a:defRPr sz="2550" b="1">
                <a:solidFill>
                  <a:srgbClr val="202D3D"/>
                </a:solidFill>
                <a:latin typeface="Times New Roman"/>
                <a:ea typeface="Times New Roman"/>
                <a:cs typeface="Times New Roman"/>
              </a:defRPr>
            </a:lvl2pPr>
            <a:lvl3pPr algn="l">
              <a:defRPr sz="2550" b="1">
                <a:solidFill>
                  <a:srgbClr val="202D3D"/>
                </a:solidFill>
                <a:latin typeface="Times New Roman"/>
                <a:ea typeface="Times New Roman"/>
                <a:cs typeface="Times New Roman"/>
              </a:defRPr>
            </a:lvl3pPr>
            <a:lvl4pPr algn="l">
              <a:defRPr sz="2550" b="1">
                <a:solidFill>
                  <a:srgbClr val="202D3D"/>
                </a:solidFill>
                <a:latin typeface="Times New Roman"/>
                <a:ea typeface="Times New Roman"/>
                <a:cs typeface="Times New Roman"/>
              </a:defRPr>
            </a:lvl4pPr>
            <a:lvl5pPr algn="l">
              <a:defRPr sz="2550" b="1">
                <a:solidFill>
                  <a:srgbClr val="202D3D"/>
                </a:solidFill>
                <a:latin typeface="Times New Roman"/>
                <a:ea typeface="Times New Roman"/>
                <a:cs typeface="Times New Roman"/>
              </a:defRPr>
            </a:lvl5pPr>
            <a:lvl6pPr algn="l">
              <a:defRPr sz="2550" b="1">
                <a:solidFill>
                  <a:srgbClr val="202D3D"/>
                </a:solidFill>
                <a:latin typeface="Times New Roman"/>
                <a:ea typeface="Times New Roman"/>
                <a:cs typeface="Times New Roman"/>
              </a:defRPr>
            </a:lvl6pPr>
            <a:lvl7pPr algn="l">
              <a:defRPr sz="2550" b="1">
                <a:solidFill>
                  <a:srgbClr val="202D3D"/>
                </a:solidFill>
                <a:latin typeface="Times New Roman"/>
                <a:ea typeface="Times New Roman"/>
                <a:cs typeface="Times New Roman"/>
              </a:defRPr>
            </a:lvl7pPr>
            <a:lvl8pPr algn="l">
              <a:defRPr sz="2550" b="1">
                <a:solidFill>
                  <a:srgbClr val="202D3D"/>
                </a:solidFill>
                <a:latin typeface="Times New Roman"/>
                <a:ea typeface="Times New Roman"/>
                <a:cs typeface="Times New Roman"/>
              </a:defRPr>
            </a:lvl8pPr>
            <a:lvl9pPr algn="l">
              <a:defRPr sz="2550" b="1">
                <a:solidFill>
                  <a:srgbClr val="202D3D"/>
                </a:solidFill>
                <a:latin typeface="Times New Roman"/>
                <a:ea typeface="Times New Roman"/>
                <a:cs typeface="Times New Roman"/>
              </a:defRPr>
            </a:lvl9pPr>
          </a:lstStyle>
          <a:p>
            <a:pPr algn="l">
              <a:defRPr sz="2550" b="1">
                <a:solidFill>
                  <a:srgbClr val="202D3D"/>
                </a:solidFill>
                <a:latin typeface="Times New Roman"/>
                <a:ea typeface="Times New Roman"/>
                <a:cs typeface="Times New Roman"/>
              </a:defRPr>
            </a:pPr>
            <a:r>
              <a:rPr sz="2550" b="1">
                <a:solidFill>
                  <a:srgbClr val="202D3D"/>
                </a:solidFill>
                <a:latin typeface="Times New Roman"/>
                <a:ea typeface="Times New Roman"/>
                <a:cs typeface="Times New Roman"/>
              </a:rPr>
              <a:t>Live demo</a:t>
            </a:r>
          </a:p>
        </p:txBody>
      </p:sp>
      <p:sp>
        <p:nvSpPr>
          <p:cNvPr id="7" name="1  Enter an English review&#10;2  Click Analyze Sentiment&#10;3  Compare ">
            <a:extLst>
              <a:ext uri="{FF2B5EF4-FFF2-40B4-BE49-F238E27FC236}">
                <a16:creationId xmlns:a16="http://schemas.microsoft.com/office/drawing/2014/main" id="{FE2DAFEA-3B1E-403C-9823-6DEB9B83304A}"/>
              </a:ext>
            </a:extLst>
          </p:cNvPr>
          <p:cNvSpPr>
            <a:spLocks noGrp="1"/>
          </p:cNvSpPr>
          <p:nvPr/>
        </p:nvSpPr>
        <p:spPr>
          <a:xfrm>
            <a:off x="7010400" y="2457450"/>
            <a:ext cx="4572000" cy="1390650"/>
          </a:xfrm>
          <a:prstGeom prst="rect">
            <a:avLst/>
          </a:prstGeom>
          <a:noFill/>
          <a:ln w="0">
            <a:noFill/>
          </a:ln>
        </p:spPr>
        <p:txBody>
          <a:bodyPr wrap="square" lIns="0" tIns="0" rIns="0" bIns="0" anchor="t">
            <a:noAutofit/>
          </a:bodyPr>
          <a:lstStyle>
            <a:defPPr algn="l">
              <a:defRPr sz="1950" b="0">
                <a:solidFill>
                  <a:srgbClr val="202D3D"/>
                </a:solidFill>
                <a:latin typeface="Times New Roman"/>
                <a:ea typeface="Times New Roman"/>
                <a:cs typeface="Times New Roman"/>
              </a:defRPr>
            </a:defPPr>
            <a:lvl1pPr algn="l">
              <a:defRPr sz="1950" b="0">
                <a:solidFill>
                  <a:srgbClr val="202D3D"/>
                </a:solidFill>
                <a:latin typeface="Times New Roman"/>
                <a:ea typeface="Times New Roman"/>
                <a:cs typeface="Times New Roman"/>
              </a:defRPr>
            </a:lvl1pPr>
            <a:lvl2pPr algn="l">
              <a:defRPr sz="1950" b="0">
                <a:solidFill>
                  <a:srgbClr val="202D3D"/>
                </a:solidFill>
                <a:latin typeface="Times New Roman"/>
                <a:ea typeface="Times New Roman"/>
                <a:cs typeface="Times New Roman"/>
              </a:defRPr>
            </a:lvl2pPr>
            <a:lvl3pPr algn="l">
              <a:defRPr sz="1950" b="0">
                <a:solidFill>
                  <a:srgbClr val="202D3D"/>
                </a:solidFill>
                <a:latin typeface="Times New Roman"/>
                <a:ea typeface="Times New Roman"/>
                <a:cs typeface="Times New Roman"/>
              </a:defRPr>
            </a:lvl3pPr>
            <a:lvl4pPr algn="l">
              <a:defRPr sz="1950" b="0">
                <a:solidFill>
                  <a:srgbClr val="202D3D"/>
                </a:solidFill>
                <a:latin typeface="Times New Roman"/>
                <a:ea typeface="Times New Roman"/>
                <a:cs typeface="Times New Roman"/>
              </a:defRPr>
            </a:lvl4pPr>
            <a:lvl5pPr algn="l">
              <a:defRPr sz="1950" b="0">
                <a:solidFill>
                  <a:srgbClr val="202D3D"/>
                </a:solidFill>
                <a:latin typeface="Times New Roman"/>
                <a:ea typeface="Times New Roman"/>
                <a:cs typeface="Times New Roman"/>
              </a:defRPr>
            </a:lvl5pPr>
            <a:lvl6pPr algn="l">
              <a:defRPr sz="1950" b="0">
                <a:solidFill>
                  <a:srgbClr val="202D3D"/>
                </a:solidFill>
                <a:latin typeface="Times New Roman"/>
                <a:ea typeface="Times New Roman"/>
                <a:cs typeface="Times New Roman"/>
              </a:defRPr>
            </a:lvl6pPr>
            <a:lvl7pPr algn="l">
              <a:defRPr sz="1950" b="0">
                <a:solidFill>
                  <a:srgbClr val="202D3D"/>
                </a:solidFill>
                <a:latin typeface="Times New Roman"/>
                <a:ea typeface="Times New Roman"/>
                <a:cs typeface="Times New Roman"/>
              </a:defRPr>
            </a:lvl7pPr>
            <a:lvl8pPr algn="l">
              <a:defRPr sz="1950" b="0">
                <a:solidFill>
                  <a:srgbClr val="202D3D"/>
                </a:solidFill>
                <a:latin typeface="Times New Roman"/>
                <a:ea typeface="Times New Roman"/>
                <a:cs typeface="Times New Roman"/>
              </a:defRPr>
            </a:lvl8pPr>
            <a:lvl9pPr algn="l">
              <a:defRPr sz="1950" b="0">
                <a:solidFill>
                  <a:srgbClr val="202D3D"/>
                </a:solidFill>
                <a:latin typeface="Times New Roman"/>
                <a:ea typeface="Times New Roman"/>
                <a:cs typeface="Times New Roman"/>
              </a:defRPr>
            </a:lvl9pPr>
          </a:lstStyle>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1  Enter an English review</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2  Click Analyze Sentiment</a:t>
            </a:r>
          </a:p>
          <a:p>
            <a:pPr algn="l">
              <a:defRPr sz="1950" b="0">
                <a:solidFill>
                  <a:srgbClr val="202D3D"/>
                </a:solidFill>
                <a:latin typeface="Times New Roman"/>
                <a:ea typeface="Times New Roman"/>
                <a:cs typeface="Times New Roman"/>
              </a:defRPr>
            </a:pPr>
            <a:r>
              <a:rPr sz="1950" b="0">
                <a:solidFill>
                  <a:srgbClr val="202D3D"/>
                </a:solidFill>
                <a:latin typeface="Times New Roman"/>
                <a:ea typeface="Times New Roman"/>
                <a:cs typeface="Times New Roman"/>
              </a:rPr>
              <a:t>3  Compare both predictions</a:t>
            </a:r>
          </a:p>
        </p:txBody>
      </p:sp>
      <p:sp>
        <p:nvSpPr>
          <p:cNvPr id="8" name="Train on Kaggle&#10;Predict locally on the CPU">
            <a:extLst>
              <a:ext uri="{FF2B5EF4-FFF2-40B4-BE49-F238E27FC236}">
                <a16:creationId xmlns:a16="http://schemas.microsoft.com/office/drawing/2014/main" id="{3BA03473-5826-42E3-8BD1-CEB0103906E3}"/>
              </a:ext>
            </a:extLst>
          </p:cNvPr>
          <p:cNvSpPr>
            <a:spLocks noGrp="1"/>
          </p:cNvSpPr>
          <p:nvPr/>
        </p:nvSpPr>
        <p:spPr>
          <a:xfrm>
            <a:off x="7010400" y="4181475"/>
            <a:ext cx="4572000" cy="828675"/>
          </a:xfrm>
          <a:prstGeom prst="rect">
            <a:avLst/>
          </a:prstGeom>
          <a:noFill/>
          <a:ln w="0">
            <a:noFill/>
          </a:ln>
        </p:spPr>
        <p:txBody>
          <a:bodyPr wrap="square" lIns="0" tIns="0" rIns="0" bIns="0" anchor="t">
            <a:noAutofit/>
          </a:bodyPr>
          <a:lstStyle>
            <a:defPPr algn="l">
              <a:defRPr sz="2100" b="1">
                <a:solidFill>
                  <a:srgbClr val="202D3D"/>
                </a:solidFill>
                <a:latin typeface="Times New Roman"/>
                <a:ea typeface="Times New Roman"/>
                <a:cs typeface="Times New Roman"/>
              </a:defRPr>
            </a:defPPr>
            <a:lvl1pPr algn="l">
              <a:defRPr sz="2100" b="1">
                <a:solidFill>
                  <a:srgbClr val="202D3D"/>
                </a:solidFill>
                <a:latin typeface="Times New Roman"/>
                <a:ea typeface="Times New Roman"/>
                <a:cs typeface="Times New Roman"/>
              </a:defRPr>
            </a:lvl1pPr>
            <a:lvl2pPr algn="l">
              <a:defRPr sz="2100" b="1">
                <a:solidFill>
                  <a:srgbClr val="202D3D"/>
                </a:solidFill>
                <a:latin typeface="Times New Roman"/>
                <a:ea typeface="Times New Roman"/>
                <a:cs typeface="Times New Roman"/>
              </a:defRPr>
            </a:lvl2pPr>
            <a:lvl3pPr algn="l">
              <a:defRPr sz="2100" b="1">
                <a:solidFill>
                  <a:srgbClr val="202D3D"/>
                </a:solidFill>
                <a:latin typeface="Times New Roman"/>
                <a:ea typeface="Times New Roman"/>
                <a:cs typeface="Times New Roman"/>
              </a:defRPr>
            </a:lvl3pPr>
            <a:lvl4pPr algn="l">
              <a:defRPr sz="2100" b="1">
                <a:solidFill>
                  <a:srgbClr val="202D3D"/>
                </a:solidFill>
                <a:latin typeface="Times New Roman"/>
                <a:ea typeface="Times New Roman"/>
                <a:cs typeface="Times New Roman"/>
              </a:defRPr>
            </a:lvl4pPr>
            <a:lvl5pPr algn="l">
              <a:defRPr sz="2100" b="1">
                <a:solidFill>
                  <a:srgbClr val="202D3D"/>
                </a:solidFill>
                <a:latin typeface="Times New Roman"/>
                <a:ea typeface="Times New Roman"/>
                <a:cs typeface="Times New Roman"/>
              </a:defRPr>
            </a:lvl5pPr>
            <a:lvl6pPr algn="l">
              <a:defRPr sz="2100" b="1">
                <a:solidFill>
                  <a:srgbClr val="202D3D"/>
                </a:solidFill>
                <a:latin typeface="Times New Roman"/>
                <a:ea typeface="Times New Roman"/>
                <a:cs typeface="Times New Roman"/>
              </a:defRPr>
            </a:lvl6pPr>
            <a:lvl7pPr algn="l">
              <a:defRPr sz="2100" b="1">
                <a:solidFill>
                  <a:srgbClr val="202D3D"/>
                </a:solidFill>
                <a:latin typeface="Times New Roman"/>
                <a:ea typeface="Times New Roman"/>
                <a:cs typeface="Times New Roman"/>
              </a:defRPr>
            </a:lvl7pPr>
            <a:lvl8pPr algn="l">
              <a:defRPr sz="2100" b="1">
                <a:solidFill>
                  <a:srgbClr val="202D3D"/>
                </a:solidFill>
                <a:latin typeface="Times New Roman"/>
                <a:ea typeface="Times New Roman"/>
                <a:cs typeface="Times New Roman"/>
              </a:defRPr>
            </a:lvl8pPr>
            <a:lvl9pPr algn="l">
              <a:defRPr sz="2100" b="1">
                <a:solidFill>
                  <a:srgbClr val="202D3D"/>
                </a:solidFill>
                <a:latin typeface="Times New Roman"/>
                <a:ea typeface="Times New Roman"/>
                <a:cs typeface="Times New Roman"/>
              </a:defRPr>
            </a:lvl9pPr>
          </a:lstStyle>
          <a:p>
            <a:pPr algn="l">
              <a:defRPr sz="2100" b="1">
                <a:solidFill>
                  <a:srgbClr val="202D3D"/>
                </a:solidFill>
                <a:latin typeface="Times New Roman"/>
                <a:ea typeface="Times New Roman"/>
                <a:cs typeface="Times New Roman"/>
              </a:defRPr>
            </a:pPr>
            <a:r>
              <a:rPr sz="2100" b="1">
                <a:solidFill>
                  <a:srgbClr val="202D3D"/>
                </a:solidFill>
                <a:latin typeface="Times New Roman"/>
                <a:ea typeface="Times New Roman"/>
                <a:cs typeface="Times New Roman"/>
              </a:rPr>
              <a:t>Train on Kaggle</a:t>
            </a:r>
          </a:p>
          <a:p>
            <a:pPr algn="l">
              <a:defRPr sz="2100" b="1">
                <a:solidFill>
                  <a:srgbClr val="202D3D"/>
                </a:solidFill>
                <a:latin typeface="Times New Roman"/>
                <a:ea typeface="Times New Roman"/>
                <a:cs typeface="Times New Roman"/>
              </a:defRPr>
            </a:pPr>
            <a:r>
              <a:rPr sz="2100" b="1">
                <a:solidFill>
                  <a:srgbClr val="202D3D"/>
                </a:solidFill>
                <a:latin typeface="Times New Roman"/>
                <a:ea typeface="Times New Roman"/>
                <a:cs typeface="Times New Roman"/>
              </a:rPr>
              <a:t>Predict locally on the CPU</a:t>
            </a:r>
          </a:p>
        </p:txBody>
      </p:sp>
      <p:sp>
        <p:nvSpPr>
          <p:cNvPr id="9" name="Saved models and identical preprocessing&#10;Original Keras weights v">
            <a:extLst>
              <a:ext uri="{FF2B5EF4-FFF2-40B4-BE49-F238E27FC236}">
                <a16:creationId xmlns:a16="http://schemas.microsoft.com/office/drawing/2014/main" id="{B1A3FA6D-F843-46A5-8B8B-2AD791828E25}"/>
              </a:ext>
            </a:extLst>
          </p:cNvPr>
          <p:cNvSpPr>
            <a:spLocks noGrp="1"/>
          </p:cNvSpPr>
          <p:nvPr/>
        </p:nvSpPr>
        <p:spPr>
          <a:xfrm>
            <a:off x="7010400" y="5381625"/>
            <a:ext cx="4572000" cy="685800"/>
          </a:xfrm>
          <a:prstGeom prst="rect">
            <a:avLst/>
          </a:prstGeom>
          <a:noFill/>
          <a:ln w="0">
            <a:noFill/>
          </a:ln>
        </p:spPr>
        <p:txBody>
          <a:bodyPr wrap="square" lIns="0" tIns="0" rIns="0" bIns="0" anchor="t">
            <a:noAutofit/>
          </a:bodyPr>
          <a:lstStyle>
            <a:defPPr algn="l">
              <a:defRPr sz="1650" b="0">
                <a:solidFill>
                  <a:srgbClr val="202D3D"/>
                </a:solidFill>
                <a:latin typeface="Times New Roman"/>
                <a:ea typeface="Times New Roman"/>
                <a:cs typeface="Times New Roman"/>
              </a:defRPr>
            </a:defPPr>
            <a:lvl1pPr algn="l">
              <a:defRPr sz="1650" b="0">
                <a:solidFill>
                  <a:srgbClr val="202D3D"/>
                </a:solidFill>
                <a:latin typeface="Times New Roman"/>
                <a:ea typeface="Times New Roman"/>
                <a:cs typeface="Times New Roman"/>
              </a:defRPr>
            </a:lvl1pPr>
            <a:lvl2pPr algn="l">
              <a:defRPr sz="1650" b="0">
                <a:solidFill>
                  <a:srgbClr val="202D3D"/>
                </a:solidFill>
                <a:latin typeface="Times New Roman"/>
                <a:ea typeface="Times New Roman"/>
                <a:cs typeface="Times New Roman"/>
              </a:defRPr>
            </a:lvl2pPr>
            <a:lvl3pPr algn="l">
              <a:defRPr sz="1650" b="0">
                <a:solidFill>
                  <a:srgbClr val="202D3D"/>
                </a:solidFill>
                <a:latin typeface="Times New Roman"/>
                <a:ea typeface="Times New Roman"/>
                <a:cs typeface="Times New Roman"/>
              </a:defRPr>
            </a:lvl3pPr>
            <a:lvl4pPr algn="l">
              <a:defRPr sz="1650" b="0">
                <a:solidFill>
                  <a:srgbClr val="202D3D"/>
                </a:solidFill>
                <a:latin typeface="Times New Roman"/>
                <a:ea typeface="Times New Roman"/>
                <a:cs typeface="Times New Roman"/>
              </a:defRPr>
            </a:lvl4pPr>
            <a:lvl5pPr algn="l">
              <a:defRPr sz="1650" b="0">
                <a:solidFill>
                  <a:srgbClr val="202D3D"/>
                </a:solidFill>
                <a:latin typeface="Times New Roman"/>
                <a:ea typeface="Times New Roman"/>
                <a:cs typeface="Times New Roman"/>
              </a:defRPr>
            </a:lvl5pPr>
            <a:lvl6pPr algn="l">
              <a:defRPr sz="1650" b="0">
                <a:solidFill>
                  <a:srgbClr val="202D3D"/>
                </a:solidFill>
                <a:latin typeface="Times New Roman"/>
                <a:ea typeface="Times New Roman"/>
                <a:cs typeface="Times New Roman"/>
              </a:defRPr>
            </a:lvl6pPr>
            <a:lvl7pPr algn="l">
              <a:defRPr sz="1650" b="0">
                <a:solidFill>
                  <a:srgbClr val="202D3D"/>
                </a:solidFill>
                <a:latin typeface="Times New Roman"/>
                <a:ea typeface="Times New Roman"/>
                <a:cs typeface="Times New Roman"/>
              </a:defRPr>
            </a:lvl7pPr>
            <a:lvl8pPr algn="l">
              <a:defRPr sz="1650" b="0">
                <a:solidFill>
                  <a:srgbClr val="202D3D"/>
                </a:solidFill>
                <a:latin typeface="Times New Roman"/>
                <a:ea typeface="Times New Roman"/>
                <a:cs typeface="Times New Roman"/>
              </a:defRPr>
            </a:lvl8pPr>
            <a:lvl9pPr algn="l">
              <a:defRPr sz="1650" b="0">
                <a:solidFill>
                  <a:srgbClr val="202D3D"/>
                </a:solidFill>
                <a:latin typeface="Times New Roman"/>
                <a:ea typeface="Times New Roman"/>
                <a:cs typeface="Times New Roman"/>
              </a:defRPr>
            </a:lvl9pPr>
          </a:lstStyle>
          <a:p>
            <a:pPr algn="l">
              <a:defRPr sz="1650" b="0">
                <a:solidFill>
                  <a:srgbClr val="202D3D"/>
                </a:solidFill>
                <a:latin typeface="Times New Roman"/>
                <a:ea typeface="Times New Roman"/>
                <a:cs typeface="Times New Roman"/>
              </a:defRPr>
            </a:pPr>
            <a:r>
              <a:rPr sz="1650" b="0">
                <a:solidFill>
                  <a:srgbClr val="202D3D"/>
                </a:solidFill>
                <a:latin typeface="Times New Roman"/>
                <a:ea typeface="Times New Roman"/>
                <a:cs typeface="Times New Roman"/>
              </a:rPr>
              <a:t>Saved models and identical preprocessing</a:t>
            </a:r>
          </a:p>
          <a:p>
            <a:pPr algn="l">
              <a:defRPr sz="1650" b="0">
                <a:solidFill>
                  <a:srgbClr val="202D3D"/>
                </a:solidFill>
                <a:latin typeface="Times New Roman"/>
                <a:ea typeface="Times New Roman"/>
                <a:cs typeface="Times New Roman"/>
              </a:defRPr>
            </a:pPr>
            <a:r>
              <a:rPr sz="1650" b="0">
                <a:solidFill>
                  <a:srgbClr val="202D3D"/>
                </a:solidFill>
                <a:latin typeface="Times New Roman"/>
                <a:ea typeface="Times New Roman"/>
                <a:cs typeface="Times New Roman"/>
              </a:rPr>
              <a:t>Original Keras weights via NumPy</a:t>
            </a:r>
          </a:p>
        </p:txBody>
      </p:sp>
    </p:spTree>
    <p:extLst>
      <p:ext uri="{BB962C8B-B14F-4D97-AF65-F5344CB8AC3E}">
        <p14:creationId xmlns:p14="http://schemas.microsoft.com/office/powerpoint/2010/main" val="693876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Conclusion and next experiments">
            <a:extLst>
              <a:ext uri="{FF2B5EF4-FFF2-40B4-BE49-F238E27FC236}">
                <a16:creationId xmlns:a16="http://schemas.microsoft.com/office/drawing/2014/main" id="{E0BFEFA0-15EF-4492-8FA0-E7B3785C6C8E}"/>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Conclusion and future work</a:t>
            </a:r>
          </a:p>
        </p:txBody>
      </p:sp>
      <p:sp>
        <p:nvSpPr>
          <p:cNvPr id="2" name="Straight Connector 1">
            <a:extLst>
              <a:ext uri="{FF2B5EF4-FFF2-40B4-BE49-F238E27FC236}">
                <a16:creationId xmlns:a16="http://schemas.microsoft.com/office/drawing/2014/main" id="{1539E892-94C1-4FA1-BDC0-51D7E82007DC}"/>
              </a:ext>
            </a:extLst>
          </p:cNvPr>
          <p:cNvSpPr>
            <a:spLocks noGrp="1"/>
          </p:cNvSpPr>
          <p:nvPr/>
        </p:nvSpPr>
        <p:spPr>
          <a:xfrm>
            <a:off x="609600" y="1266825"/>
            <a:ext cx="10972800" cy="0"/>
          </a:xfrm>
          <a:prstGeom prst="line">
            <a:avLst/>
          </a:prstGeom>
          <a:ln w="28575">
            <a:solidFill>
              <a:srgbClr val="2563EB"/>
            </a:solidFill>
            <a:prstDash val="solid"/>
          </a:ln>
        </p:spPr>
      </p:sp>
      <p:sp>
        <p:nvSpPr>
          <p:cNvPr id="3" name="7. Conclusion and perspectives">
            <a:extLst>
              <a:ext uri="{FF2B5EF4-FFF2-40B4-BE49-F238E27FC236}">
                <a16:creationId xmlns:a16="http://schemas.microsoft.com/office/drawing/2014/main" id="{9817E4E7-CFBE-44FF-93CC-307B1B66AEF6}"/>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7. Conclusion and perspectives</a:t>
            </a:r>
          </a:p>
        </p:txBody>
      </p:sp>
      <p:sp>
        <p:nvSpPr>
          <p:cNvPr id="4" name="13 / 13">
            <a:extLst>
              <a:ext uri="{FF2B5EF4-FFF2-40B4-BE49-F238E27FC236}">
                <a16:creationId xmlns:a16="http://schemas.microsoft.com/office/drawing/2014/main" id="{2C8EF95B-333A-461A-8BF0-5E37B063772D}"/>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13 / 14</a:t>
            </a:r>
          </a:p>
        </p:txBody>
      </p:sp>
      <p:sp>
        <p:nvSpPr>
          <p:cNvPr id="5" name="TF-IDF + SVM is the stronger model&#10;in this experiment">
            <a:extLst>
              <a:ext uri="{FF2B5EF4-FFF2-40B4-BE49-F238E27FC236}">
                <a16:creationId xmlns:a16="http://schemas.microsoft.com/office/drawing/2014/main" id="{3DDA0216-38AE-4A70-813C-6886A4BA55FC}"/>
              </a:ext>
            </a:extLst>
          </p:cNvPr>
          <p:cNvSpPr>
            <a:spLocks noGrp="1"/>
          </p:cNvSpPr>
          <p:nvPr/>
        </p:nvSpPr>
        <p:spPr>
          <a:xfrm>
            <a:off x="609600" y="1762125"/>
            <a:ext cx="10972800" cy="1133475"/>
          </a:xfrm>
          <a:prstGeom prst="rect">
            <a:avLst/>
          </a:prstGeom>
          <a:noFill/>
          <a:ln w="0">
            <a:noFill/>
          </a:ln>
        </p:spPr>
        <p:txBody>
          <a:bodyPr wrap="square" lIns="0" tIns="0" rIns="0" bIns="0" anchor="t">
            <a:noAutofit/>
          </a:bodyPr>
          <a:lstStyle>
            <a:defPPr algn="l">
              <a:defRPr sz="3225" b="1">
                <a:solidFill>
                  <a:srgbClr val="2563EB"/>
                </a:solidFill>
                <a:latin typeface="Times New Roman"/>
                <a:ea typeface="Times New Roman"/>
                <a:cs typeface="Times New Roman"/>
              </a:defRPr>
            </a:defPPr>
            <a:lvl1pPr algn="l">
              <a:defRPr sz="3225" b="1">
                <a:solidFill>
                  <a:srgbClr val="2563EB"/>
                </a:solidFill>
                <a:latin typeface="Times New Roman"/>
                <a:ea typeface="Times New Roman"/>
                <a:cs typeface="Times New Roman"/>
              </a:defRPr>
            </a:lvl1pPr>
            <a:lvl2pPr algn="l">
              <a:defRPr sz="3225" b="1">
                <a:solidFill>
                  <a:srgbClr val="2563EB"/>
                </a:solidFill>
                <a:latin typeface="Times New Roman"/>
                <a:ea typeface="Times New Roman"/>
                <a:cs typeface="Times New Roman"/>
              </a:defRPr>
            </a:lvl2pPr>
            <a:lvl3pPr algn="l">
              <a:defRPr sz="3225" b="1">
                <a:solidFill>
                  <a:srgbClr val="2563EB"/>
                </a:solidFill>
                <a:latin typeface="Times New Roman"/>
                <a:ea typeface="Times New Roman"/>
                <a:cs typeface="Times New Roman"/>
              </a:defRPr>
            </a:lvl3pPr>
            <a:lvl4pPr algn="l">
              <a:defRPr sz="3225" b="1">
                <a:solidFill>
                  <a:srgbClr val="2563EB"/>
                </a:solidFill>
                <a:latin typeface="Times New Roman"/>
                <a:ea typeface="Times New Roman"/>
                <a:cs typeface="Times New Roman"/>
              </a:defRPr>
            </a:lvl4pPr>
            <a:lvl5pPr algn="l">
              <a:defRPr sz="3225" b="1">
                <a:solidFill>
                  <a:srgbClr val="2563EB"/>
                </a:solidFill>
                <a:latin typeface="Times New Roman"/>
                <a:ea typeface="Times New Roman"/>
                <a:cs typeface="Times New Roman"/>
              </a:defRPr>
            </a:lvl5pPr>
            <a:lvl6pPr algn="l">
              <a:defRPr sz="3225" b="1">
                <a:solidFill>
                  <a:srgbClr val="2563EB"/>
                </a:solidFill>
                <a:latin typeface="Times New Roman"/>
                <a:ea typeface="Times New Roman"/>
                <a:cs typeface="Times New Roman"/>
              </a:defRPr>
            </a:lvl6pPr>
            <a:lvl7pPr algn="l">
              <a:defRPr sz="3225" b="1">
                <a:solidFill>
                  <a:srgbClr val="2563EB"/>
                </a:solidFill>
                <a:latin typeface="Times New Roman"/>
                <a:ea typeface="Times New Roman"/>
                <a:cs typeface="Times New Roman"/>
              </a:defRPr>
            </a:lvl7pPr>
            <a:lvl8pPr algn="l">
              <a:defRPr sz="3225" b="1">
                <a:solidFill>
                  <a:srgbClr val="2563EB"/>
                </a:solidFill>
                <a:latin typeface="Times New Roman"/>
                <a:ea typeface="Times New Roman"/>
                <a:cs typeface="Times New Roman"/>
              </a:defRPr>
            </a:lvl8pPr>
            <a:lvl9pPr algn="l">
              <a:defRPr sz="3225" b="1">
                <a:solidFill>
                  <a:srgbClr val="2563EB"/>
                </a:solidFill>
                <a:latin typeface="Times New Roman"/>
                <a:ea typeface="Times New Roman"/>
                <a:cs typeface="Times New Roman"/>
              </a:defRPr>
            </a:lvl9pPr>
          </a:lstStyle>
          <a:p>
            <a:pPr algn="l">
              <a:defRPr sz="3225" b="1">
                <a:solidFill>
                  <a:srgbClr val="2563EB"/>
                </a:solidFill>
                <a:latin typeface="Times New Roman"/>
                <a:ea typeface="Times New Roman"/>
                <a:cs typeface="Times New Roman"/>
              </a:defRPr>
            </a:pPr>
            <a:r>
              <a:rPr sz="3225" b="1">
                <a:solidFill>
                  <a:srgbClr val="2563EB"/>
                </a:solidFill>
                <a:latin typeface="Times New Roman"/>
                <a:ea typeface="Times New Roman"/>
                <a:cs typeface="Times New Roman"/>
              </a:rPr>
              <a:t>TF-IDF + SVM is the stronger model</a:t>
            </a:r>
          </a:p>
          <a:p>
            <a:pPr algn="l">
              <a:defRPr sz="3225" b="1">
                <a:solidFill>
                  <a:srgbClr val="2563EB"/>
                </a:solidFill>
                <a:latin typeface="Times New Roman"/>
                <a:ea typeface="Times New Roman"/>
                <a:cs typeface="Times New Roman"/>
              </a:defRPr>
            </a:pPr>
            <a:r>
              <a:rPr sz="3225" b="1">
                <a:solidFill>
                  <a:srgbClr val="2563EB"/>
                </a:solidFill>
                <a:latin typeface="Times New Roman"/>
                <a:ea typeface="Times New Roman"/>
                <a:cs typeface="Times New Roman"/>
              </a:rPr>
              <a:t>in this experiment</a:t>
            </a:r>
          </a:p>
        </p:txBody>
      </p:sp>
      <p:sp>
        <p:nvSpPr>
          <p:cNvPr id="6" name="90.86% test accuracy with a working local demo">
            <a:extLst>
              <a:ext uri="{FF2B5EF4-FFF2-40B4-BE49-F238E27FC236}">
                <a16:creationId xmlns:a16="http://schemas.microsoft.com/office/drawing/2014/main" id="{7A08CB20-F328-4FA9-B044-BD8A84D07CE7}"/>
              </a:ext>
            </a:extLst>
          </p:cNvPr>
          <p:cNvSpPr>
            <a:spLocks noGrp="1"/>
          </p:cNvSpPr>
          <p:nvPr/>
        </p:nvSpPr>
        <p:spPr>
          <a:xfrm>
            <a:off x="609600" y="3133725"/>
            <a:ext cx="10972800" cy="457200"/>
          </a:xfrm>
          <a:prstGeom prst="rect">
            <a:avLst/>
          </a:prstGeom>
          <a:noFill/>
          <a:ln w="0">
            <a:noFill/>
          </a:ln>
        </p:spPr>
        <p:txBody>
          <a:bodyPr wrap="square" lIns="0" tIns="0" rIns="0" bIns="0" anchor="t">
            <a:noAutofit/>
          </a:bodyPr>
          <a:lstStyle>
            <a:defPPr algn="l">
              <a:defRPr sz="2250" b="0">
                <a:solidFill>
                  <a:srgbClr val="202D3D"/>
                </a:solidFill>
                <a:latin typeface="Times New Roman"/>
                <a:ea typeface="Times New Roman"/>
                <a:cs typeface="Times New Roman"/>
              </a:defRPr>
            </a:defPPr>
            <a:lvl1pPr algn="l">
              <a:defRPr sz="2250" b="0">
                <a:solidFill>
                  <a:srgbClr val="202D3D"/>
                </a:solidFill>
                <a:latin typeface="Times New Roman"/>
                <a:ea typeface="Times New Roman"/>
                <a:cs typeface="Times New Roman"/>
              </a:defRPr>
            </a:lvl1pPr>
            <a:lvl2pPr algn="l">
              <a:defRPr sz="2250" b="0">
                <a:solidFill>
                  <a:srgbClr val="202D3D"/>
                </a:solidFill>
                <a:latin typeface="Times New Roman"/>
                <a:ea typeface="Times New Roman"/>
                <a:cs typeface="Times New Roman"/>
              </a:defRPr>
            </a:lvl2pPr>
            <a:lvl3pPr algn="l">
              <a:defRPr sz="2250" b="0">
                <a:solidFill>
                  <a:srgbClr val="202D3D"/>
                </a:solidFill>
                <a:latin typeface="Times New Roman"/>
                <a:ea typeface="Times New Roman"/>
                <a:cs typeface="Times New Roman"/>
              </a:defRPr>
            </a:lvl3pPr>
            <a:lvl4pPr algn="l">
              <a:defRPr sz="2250" b="0">
                <a:solidFill>
                  <a:srgbClr val="202D3D"/>
                </a:solidFill>
                <a:latin typeface="Times New Roman"/>
                <a:ea typeface="Times New Roman"/>
                <a:cs typeface="Times New Roman"/>
              </a:defRPr>
            </a:lvl4pPr>
            <a:lvl5pPr algn="l">
              <a:defRPr sz="2250" b="0">
                <a:solidFill>
                  <a:srgbClr val="202D3D"/>
                </a:solidFill>
                <a:latin typeface="Times New Roman"/>
                <a:ea typeface="Times New Roman"/>
                <a:cs typeface="Times New Roman"/>
              </a:defRPr>
            </a:lvl5pPr>
            <a:lvl6pPr algn="l">
              <a:defRPr sz="2250" b="0">
                <a:solidFill>
                  <a:srgbClr val="202D3D"/>
                </a:solidFill>
                <a:latin typeface="Times New Roman"/>
                <a:ea typeface="Times New Roman"/>
                <a:cs typeface="Times New Roman"/>
              </a:defRPr>
            </a:lvl6pPr>
            <a:lvl7pPr algn="l">
              <a:defRPr sz="2250" b="0">
                <a:solidFill>
                  <a:srgbClr val="202D3D"/>
                </a:solidFill>
                <a:latin typeface="Times New Roman"/>
                <a:ea typeface="Times New Roman"/>
                <a:cs typeface="Times New Roman"/>
              </a:defRPr>
            </a:lvl7pPr>
            <a:lvl8pPr algn="l">
              <a:defRPr sz="2250" b="0">
                <a:solidFill>
                  <a:srgbClr val="202D3D"/>
                </a:solidFill>
                <a:latin typeface="Times New Roman"/>
                <a:ea typeface="Times New Roman"/>
                <a:cs typeface="Times New Roman"/>
              </a:defRPr>
            </a:lvl8pPr>
            <a:lvl9pPr algn="l">
              <a:defRPr sz="2250" b="0">
                <a:solidFill>
                  <a:srgbClr val="202D3D"/>
                </a:solidFill>
                <a:latin typeface="Times New Roman"/>
                <a:ea typeface="Times New Roman"/>
                <a:cs typeface="Times New Roman"/>
              </a:defRPr>
            </a:lvl9pPr>
          </a:lstStyle>
          <a:p>
            <a:pPr algn="l">
              <a:defRPr sz="2250" b="0">
                <a:solidFill>
                  <a:srgbClr val="202D3D"/>
                </a:solidFill>
                <a:latin typeface="Times New Roman"/>
                <a:ea typeface="Times New Roman"/>
                <a:cs typeface="Times New Roman"/>
              </a:defRPr>
            </a:pPr>
            <a:r>
              <a:rPr sz="2250" b="0">
                <a:solidFill>
                  <a:srgbClr val="202D3D"/>
                </a:solidFill>
                <a:latin typeface="Times New Roman"/>
                <a:ea typeface="Times New Roman"/>
                <a:cs typeface="Times New Roman"/>
              </a:rPr>
              <a:t>90.86% test accuracy with a working local demo</a:t>
            </a:r>
          </a:p>
        </p:txBody>
      </p:sp>
      <p:sp>
        <p:nvSpPr>
          <p:cNvPr id="7" name="Next experiments">
            <a:extLst>
              <a:ext uri="{FF2B5EF4-FFF2-40B4-BE49-F238E27FC236}">
                <a16:creationId xmlns:a16="http://schemas.microsoft.com/office/drawing/2014/main" id="{46E3E03F-A326-4F77-A4FB-10BF4E9ADD25}"/>
              </a:ext>
            </a:extLst>
          </p:cNvPr>
          <p:cNvSpPr>
            <a:spLocks noGrp="1"/>
          </p:cNvSpPr>
          <p:nvPr/>
        </p:nvSpPr>
        <p:spPr>
          <a:xfrm>
            <a:off x="609600" y="4114800"/>
            <a:ext cx="4476750" cy="409575"/>
          </a:xfrm>
          <a:prstGeom prst="rect">
            <a:avLst/>
          </a:prstGeom>
          <a:noFill/>
          <a:ln w="0">
            <a:noFill/>
          </a:ln>
        </p:spPr>
        <p:txBody>
          <a:bodyPr wrap="square" lIns="0" tIns="0" rIns="0" bIns="0" anchor="t">
            <a:noAutofit/>
          </a:bodyPr>
          <a:lstStyle>
            <a:defPPr algn="l">
              <a:defRPr sz="2325" b="1">
                <a:solidFill>
                  <a:srgbClr val="202D3D"/>
                </a:solidFill>
                <a:latin typeface="Times New Roman"/>
                <a:ea typeface="Times New Roman"/>
                <a:cs typeface="Times New Roman"/>
              </a:defRPr>
            </a:defPPr>
            <a:lvl1pPr algn="l">
              <a:defRPr sz="2325" b="1">
                <a:solidFill>
                  <a:srgbClr val="202D3D"/>
                </a:solidFill>
                <a:latin typeface="Times New Roman"/>
                <a:ea typeface="Times New Roman"/>
                <a:cs typeface="Times New Roman"/>
              </a:defRPr>
            </a:lvl1pPr>
            <a:lvl2pPr algn="l">
              <a:defRPr sz="2325" b="1">
                <a:solidFill>
                  <a:srgbClr val="202D3D"/>
                </a:solidFill>
                <a:latin typeface="Times New Roman"/>
                <a:ea typeface="Times New Roman"/>
                <a:cs typeface="Times New Roman"/>
              </a:defRPr>
            </a:lvl2pPr>
            <a:lvl3pPr algn="l">
              <a:defRPr sz="2325" b="1">
                <a:solidFill>
                  <a:srgbClr val="202D3D"/>
                </a:solidFill>
                <a:latin typeface="Times New Roman"/>
                <a:ea typeface="Times New Roman"/>
                <a:cs typeface="Times New Roman"/>
              </a:defRPr>
            </a:lvl3pPr>
            <a:lvl4pPr algn="l">
              <a:defRPr sz="2325" b="1">
                <a:solidFill>
                  <a:srgbClr val="202D3D"/>
                </a:solidFill>
                <a:latin typeface="Times New Roman"/>
                <a:ea typeface="Times New Roman"/>
                <a:cs typeface="Times New Roman"/>
              </a:defRPr>
            </a:lvl4pPr>
            <a:lvl5pPr algn="l">
              <a:defRPr sz="2325" b="1">
                <a:solidFill>
                  <a:srgbClr val="202D3D"/>
                </a:solidFill>
                <a:latin typeface="Times New Roman"/>
                <a:ea typeface="Times New Roman"/>
                <a:cs typeface="Times New Roman"/>
              </a:defRPr>
            </a:lvl5pPr>
            <a:lvl6pPr algn="l">
              <a:defRPr sz="2325" b="1">
                <a:solidFill>
                  <a:srgbClr val="202D3D"/>
                </a:solidFill>
                <a:latin typeface="Times New Roman"/>
                <a:ea typeface="Times New Roman"/>
                <a:cs typeface="Times New Roman"/>
              </a:defRPr>
            </a:lvl6pPr>
            <a:lvl7pPr algn="l">
              <a:defRPr sz="2325" b="1">
                <a:solidFill>
                  <a:srgbClr val="202D3D"/>
                </a:solidFill>
                <a:latin typeface="Times New Roman"/>
                <a:ea typeface="Times New Roman"/>
                <a:cs typeface="Times New Roman"/>
              </a:defRPr>
            </a:lvl7pPr>
            <a:lvl8pPr algn="l">
              <a:defRPr sz="2325" b="1">
                <a:solidFill>
                  <a:srgbClr val="202D3D"/>
                </a:solidFill>
                <a:latin typeface="Times New Roman"/>
                <a:ea typeface="Times New Roman"/>
                <a:cs typeface="Times New Roman"/>
              </a:defRPr>
            </a:lvl8pPr>
            <a:lvl9pPr algn="l">
              <a:defRPr sz="2325" b="1">
                <a:solidFill>
                  <a:srgbClr val="202D3D"/>
                </a:solidFill>
                <a:latin typeface="Times New Roman"/>
                <a:ea typeface="Times New Roman"/>
                <a:cs typeface="Times New Roman"/>
              </a:defRPr>
            </a:lvl9pPr>
          </a:lstStyle>
          <a:p>
            <a:pPr algn="l">
              <a:defRPr sz="2325" b="1">
                <a:solidFill>
                  <a:srgbClr val="202D3D"/>
                </a:solidFill>
                <a:latin typeface="Times New Roman"/>
                <a:ea typeface="Times New Roman"/>
                <a:cs typeface="Times New Roman"/>
              </a:defRPr>
            </a:pPr>
            <a:r>
              <a:rPr sz="2325" b="1">
                <a:solidFill>
                  <a:srgbClr val="202D3D"/>
                </a:solidFill>
                <a:latin typeface="Times New Roman"/>
                <a:ea typeface="Times New Roman"/>
                <a:cs typeface="Times New Roman"/>
              </a:rPr>
              <a:t>Future work</a:t>
            </a:r>
          </a:p>
        </p:txBody>
      </p:sp>
      <p:sp>
        <p:nvSpPr>
          <p:cNvPr id="8" name="Fine-tune embeddings and vary sequence length&#10;Tune regularization">
            <a:extLst>
              <a:ext uri="{FF2B5EF4-FFF2-40B4-BE49-F238E27FC236}">
                <a16:creationId xmlns:a16="http://schemas.microsoft.com/office/drawing/2014/main" id="{1339E98D-40B4-444E-AE58-29A7C555AC73}"/>
              </a:ext>
            </a:extLst>
          </p:cNvPr>
          <p:cNvSpPr>
            <a:spLocks noGrp="1"/>
          </p:cNvSpPr>
          <p:nvPr/>
        </p:nvSpPr>
        <p:spPr>
          <a:xfrm>
            <a:off x="609600" y="4695825"/>
            <a:ext cx="10972800" cy="1152525"/>
          </a:xfrm>
          <a:prstGeom prst="rect">
            <a:avLst/>
          </a:prstGeom>
          <a:noFill/>
          <a:ln w="0">
            <a:noFill/>
          </a:ln>
        </p:spPr>
        <p:txBody>
          <a:bodyPr wrap="square" lIns="0" tIns="0" rIns="0" bIns="0" anchor="t">
            <a:noAutofit/>
          </a:bodyPr>
          <a:lstStyle>
            <a:defPPr algn="l">
              <a:defRPr sz="2025" b="0">
                <a:solidFill>
                  <a:srgbClr val="202D3D"/>
                </a:solidFill>
                <a:latin typeface="Times New Roman"/>
                <a:ea typeface="Times New Roman"/>
                <a:cs typeface="Times New Roman"/>
              </a:defRPr>
            </a:defPPr>
            <a:lvl1pPr algn="l">
              <a:defRPr sz="2025" b="0">
                <a:solidFill>
                  <a:srgbClr val="202D3D"/>
                </a:solidFill>
                <a:latin typeface="Times New Roman"/>
                <a:ea typeface="Times New Roman"/>
                <a:cs typeface="Times New Roman"/>
              </a:defRPr>
            </a:lvl1pPr>
            <a:lvl2pPr algn="l">
              <a:defRPr sz="2025" b="0">
                <a:solidFill>
                  <a:srgbClr val="202D3D"/>
                </a:solidFill>
                <a:latin typeface="Times New Roman"/>
                <a:ea typeface="Times New Roman"/>
                <a:cs typeface="Times New Roman"/>
              </a:defRPr>
            </a:lvl2pPr>
            <a:lvl3pPr algn="l">
              <a:defRPr sz="2025" b="0">
                <a:solidFill>
                  <a:srgbClr val="202D3D"/>
                </a:solidFill>
                <a:latin typeface="Times New Roman"/>
                <a:ea typeface="Times New Roman"/>
                <a:cs typeface="Times New Roman"/>
              </a:defRPr>
            </a:lvl3pPr>
            <a:lvl4pPr algn="l">
              <a:defRPr sz="2025" b="0">
                <a:solidFill>
                  <a:srgbClr val="202D3D"/>
                </a:solidFill>
                <a:latin typeface="Times New Roman"/>
                <a:ea typeface="Times New Roman"/>
                <a:cs typeface="Times New Roman"/>
              </a:defRPr>
            </a:lvl4pPr>
            <a:lvl5pPr algn="l">
              <a:defRPr sz="2025" b="0">
                <a:solidFill>
                  <a:srgbClr val="202D3D"/>
                </a:solidFill>
                <a:latin typeface="Times New Roman"/>
                <a:ea typeface="Times New Roman"/>
                <a:cs typeface="Times New Roman"/>
              </a:defRPr>
            </a:lvl5pPr>
            <a:lvl6pPr algn="l">
              <a:defRPr sz="2025" b="0">
                <a:solidFill>
                  <a:srgbClr val="202D3D"/>
                </a:solidFill>
                <a:latin typeface="Times New Roman"/>
                <a:ea typeface="Times New Roman"/>
                <a:cs typeface="Times New Roman"/>
              </a:defRPr>
            </a:lvl6pPr>
            <a:lvl7pPr algn="l">
              <a:defRPr sz="2025" b="0">
                <a:solidFill>
                  <a:srgbClr val="202D3D"/>
                </a:solidFill>
                <a:latin typeface="Times New Roman"/>
                <a:ea typeface="Times New Roman"/>
                <a:cs typeface="Times New Roman"/>
              </a:defRPr>
            </a:lvl7pPr>
            <a:lvl8pPr algn="l">
              <a:defRPr sz="2025" b="0">
                <a:solidFill>
                  <a:srgbClr val="202D3D"/>
                </a:solidFill>
                <a:latin typeface="Times New Roman"/>
                <a:ea typeface="Times New Roman"/>
                <a:cs typeface="Times New Roman"/>
              </a:defRPr>
            </a:lvl8pPr>
            <a:lvl9pPr algn="l">
              <a:defRPr sz="2025" b="0">
                <a:solidFill>
                  <a:srgbClr val="202D3D"/>
                </a:solidFill>
                <a:latin typeface="Times New Roman"/>
                <a:ea typeface="Times New Roman"/>
                <a:cs typeface="Times New Roman"/>
              </a:defRPr>
            </a:lvl9pPr>
          </a:lstStyle>
          <a:p>
            <a:pPr algn="l">
              <a:defRPr sz="2025" b="0">
                <a:solidFill>
                  <a:srgbClr val="202D3D"/>
                </a:solidFill>
                <a:latin typeface="Times New Roman"/>
                <a:ea typeface="Times New Roman"/>
                <a:cs typeface="Times New Roman"/>
              </a:defRPr>
            </a:pPr>
            <a:r>
              <a:rPr sz="2025" b="0">
                <a:solidFill>
                  <a:srgbClr val="202D3D"/>
                </a:solidFill>
                <a:latin typeface="Times New Roman"/>
                <a:ea typeface="Times New Roman"/>
                <a:cs typeface="Times New Roman"/>
              </a:rPr>
              <a:t>Improve the CNN</a:t>
            </a:r>
          </a:p>
          <a:p>
            <a:pPr algn="l">
              <a:defRPr sz="2025" b="0">
                <a:solidFill>
                  <a:srgbClr val="202D3D"/>
                </a:solidFill>
                <a:latin typeface="Times New Roman"/>
                <a:ea typeface="Times New Roman"/>
                <a:cs typeface="Times New Roman"/>
              </a:defRPr>
            </a:pPr>
            <a:r>
              <a:rPr sz="2025" b="0">
                <a:solidFill>
                  <a:srgbClr val="202D3D"/>
                </a:solidFill>
                <a:latin typeface="Times New Roman"/>
                <a:ea typeface="Times New Roman"/>
                <a:cs typeface="Times New Roman"/>
              </a:rPr>
              <a:t>Test different configurations using validation data</a:t>
            </a:r>
          </a:p>
          <a:p>
            <a:pPr algn="l">
              <a:defRPr sz="2025" b="0">
                <a:solidFill>
                  <a:srgbClr val="202D3D"/>
                </a:solidFill>
                <a:latin typeface="Times New Roman"/>
                <a:ea typeface="Times New Roman"/>
                <a:cs typeface="Times New Roman"/>
              </a:defRPr>
            </a:pPr>
            <a:r>
              <a:rPr sz="2025" b="0">
                <a:solidFill>
                  <a:srgbClr val="202D3D"/>
                </a:solidFill>
                <a:latin typeface="Times New Roman"/>
                <a:ea typeface="Times New Roman"/>
                <a:cs typeface="Times New Roman"/>
              </a:rPr>
              <a:t>Evaluate on other datasets</a:t>
            </a:r>
          </a:p>
        </p:txBody>
      </p:sp>
    </p:spTree>
    <p:extLst>
      <p:ext uri="{BB962C8B-B14F-4D97-AF65-F5344CB8AC3E}">
        <p14:creationId xmlns:p14="http://schemas.microsoft.com/office/powerpoint/2010/main" val="2144962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Evaluation metrics">
            <a:extLst>
              <a:ext uri="{FF2B5EF4-FFF2-40B4-BE49-F238E27FC236}">
                <a16:creationId xmlns:a16="http://schemas.microsoft.com/office/drawing/2014/main" id="{192DB32E-37A0-4DF4-A508-09C253D11C25}"/>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Evaluation metrics</a:t>
            </a:r>
          </a:p>
        </p:txBody>
      </p:sp>
      <p:sp>
        <p:nvSpPr>
          <p:cNvPr id="2" name="Straight Connector 1">
            <a:extLst>
              <a:ext uri="{FF2B5EF4-FFF2-40B4-BE49-F238E27FC236}">
                <a16:creationId xmlns:a16="http://schemas.microsoft.com/office/drawing/2014/main" id="{0569992D-D1C5-41F7-980A-2F9F713376D2}"/>
              </a:ext>
            </a:extLst>
          </p:cNvPr>
          <p:cNvSpPr>
            <a:spLocks noGrp="1"/>
          </p:cNvSpPr>
          <p:nvPr/>
        </p:nvSpPr>
        <p:spPr>
          <a:xfrm>
            <a:off x="609600" y="1266825"/>
            <a:ext cx="10972800" cy="0"/>
          </a:xfrm>
          <a:prstGeom prst="line">
            <a:avLst/>
          </a:prstGeom>
          <a:ln w="28575">
            <a:solidFill>
              <a:srgbClr val="2563EB"/>
            </a:solidFill>
            <a:prstDash val="solid"/>
          </a:ln>
        </p:spPr>
      </p:sp>
      <p:sp>
        <p:nvSpPr>
          <p:cNvPr id="3" name="Appendix A. Questions">
            <a:extLst>
              <a:ext uri="{FF2B5EF4-FFF2-40B4-BE49-F238E27FC236}">
                <a16:creationId xmlns:a16="http://schemas.microsoft.com/office/drawing/2014/main" id="{D00F791F-507B-4EB7-98B4-DB5AF92A4258}"/>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Appendix A. Questions</a:t>
            </a:r>
          </a:p>
        </p:txBody>
      </p:sp>
      <p:sp>
        <p:nvSpPr>
          <p:cNvPr id="4" name="Appendix 1">
            <a:extLst>
              <a:ext uri="{FF2B5EF4-FFF2-40B4-BE49-F238E27FC236}">
                <a16:creationId xmlns:a16="http://schemas.microsoft.com/office/drawing/2014/main" id="{4E4FBC6F-DF19-4A84-978D-1409C74612B2}"/>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Appendix 1</a:t>
            </a:r>
          </a:p>
        </p:txBody>
      </p:sp>
      <p:graphicFrame>
        <p:nvGraphicFramePr>
          <p:cNvPr id="5" name="Table 4">
            <a:extLst>
              <a:ext uri="{FF2B5EF4-FFF2-40B4-BE49-F238E27FC236}">
                <a16:creationId xmlns:a16="http://schemas.microsoft.com/office/drawing/2014/main" id="{B6343204-2237-45A9-970B-1422CE1AF304}"/>
              </a:ext>
            </a:extLst>
          </p:cNvPr>
          <p:cNvGraphicFramePr/>
          <p:nvPr/>
        </p:nvGraphicFramePr>
        <p:xfrm>
          <a:off x="609600" y="1714500"/>
          <a:ext cx="10972800" cy="3733800"/>
        </p:xfrm>
        <a:graphic>
          <a:graphicData uri="http://schemas.openxmlformats.org/drawingml/2006/table">
            <a:tbl>
              <a:tblPr/>
              <a:tblGrid>
                <a:gridCol w="3048000">
                  <a:extLst>
                    <a:ext uri="{9D8B030D-6E8A-4147-A177-3AD203B41FA5}">
                      <a16:colId xmlns:a16="http://schemas.microsoft.com/office/drawing/2014/main" val="20000"/>
                    </a:ext>
                  </a:extLst>
                </a:gridCol>
                <a:gridCol w="7924800">
                  <a:extLst>
                    <a:ext uri="{9D8B030D-6E8A-4147-A177-3AD203B41FA5}">
                      <a16:colId xmlns:a16="http://schemas.microsoft.com/office/drawing/2014/main" val="20001"/>
                    </a:ext>
                  </a:extLst>
                </a:gridCol>
              </a:tblGrid>
              <a:tr h="533400">
                <a:tc>
                  <a:txBody>
                    <a:bodyPr/>
                    <a:lstStyle/>
                    <a:p>
                      <a:pPr algn="l"/>
                      <a:r>
                        <a:rPr sz="1875" b="1">
                          <a:solidFill>
                            <a:srgbClr val="FFFFFF"/>
                          </a:solidFill>
                          <a:latin typeface="Times New Roman"/>
                          <a:ea typeface="Times New Roman"/>
                          <a:cs typeface="Times New Roman"/>
                        </a:rPr>
                        <a:t>Metric</a:t>
                      </a:r>
                    </a:p>
                  </a:txBody>
                  <a:tcPr anchor="ctr">
                    <a:lnL w="9525">
                      <a:solidFill>
                        <a:srgbClr val="AAB9CB"/>
                      </a:solidFill>
                      <a:prstDash val="soli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75" b="1">
                          <a:solidFill>
                            <a:srgbClr val="FFFFFF"/>
                          </a:solidFill>
                          <a:latin typeface="Times New Roman"/>
                          <a:ea typeface="Times New Roman"/>
                          <a:cs typeface="Times New Roman"/>
                        </a:rPr>
                        <a:t>Meaning</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extLst>
                  <a:ext uri="{0D108BD9-81ED-4DB2-BD59-A6C34878D82A}">
                    <a16:rowId xmlns:a16="http://schemas.microsoft.com/office/drawing/2014/main" val="10000"/>
                  </a:ext>
                </a:extLst>
              </a:tr>
              <a:tr h="533400">
                <a:tc>
                  <a:txBody>
                    <a:bodyPr/>
                    <a:lstStyle/>
                    <a:p>
                      <a:pPr algn="l"/>
                      <a:r>
                        <a:rPr sz="1875" b="0">
                          <a:solidFill>
                            <a:srgbClr val="202D3D"/>
                          </a:solidFill>
                          <a:latin typeface="Times New Roman"/>
                          <a:ea typeface="Times New Roman"/>
                          <a:cs typeface="Times New Roman"/>
                        </a:rPr>
                        <a:t>Accuracy</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75" b="0">
                          <a:solidFill>
                            <a:srgbClr val="202D3D"/>
                          </a:solidFill>
                          <a:latin typeface="Times New Roman"/>
                          <a:ea typeface="Times New Roman"/>
                          <a:cs typeface="Times New Roman"/>
                        </a:rPr>
                        <a:t>Correct predictions / all reviews</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1"/>
                  </a:ext>
                </a:extLst>
              </a:tr>
              <a:tr h="533400">
                <a:tc>
                  <a:txBody>
                    <a:bodyPr/>
                    <a:lstStyle/>
                    <a:p>
                      <a:pPr algn="l"/>
                      <a:r>
                        <a:rPr sz="1875" b="0">
                          <a:solidFill>
                            <a:srgbClr val="202D3D"/>
                          </a:solidFill>
                          <a:latin typeface="Times New Roman"/>
                          <a:ea typeface="Times New Roman"/>
                          <a:cs typeface="Times New Roman"/>
                        </a:rPr>
                        <a:t>Precision (+)</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75" b="0">
                          <a:solidFill>
                            <a:srgbClr val="202D3D"/>
                          </a:solidFill>
                          <a:latin typeface="Times New Roman"/>
                          <a:ea typeface="Times New Roman"/>
                          <a:cs typeface="Times New Roman"/>
                        </a:rPr>
                        <a:t>TP / (TP + FP)</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2"/>
                  </a:ext>
                </a:extLst>
              </a:tr>
              <a:tr h="533400">
                <a:tc>
                  <a:txBody>
                    <a:bodyPr/>
                    <a:lstStyle/>
                    <a:p>
                      <a:pPr algn="l"/>
                      <a:r>
                        <a:rPr sz="1875" b="0">
                          <a:solidFill>
                            <a:srgbClr val="202D3D"/>
                          </a:solidFill>
                          <a:latin typeface="Times New Roman"/>
                          <a:ea typeface="Times New Roman"/>
                          <a:cs typeface="Times New Roman"/>
                        </a:rPr>
                        <a:t>Recall (+)</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75" b="0">
                          <a:solidFill>
                            <a:srgbClr val="202D3D"/>
                          </a:solidFill>
                          <a:latin typeface="Times New Roman"/>
                          <a:ea typeface="Times New Roman"/>
                          <a:cs typeface="Times New Roman"/>
                        </a:rPr>
                        <a:t>TP / (TP + FN)</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3"/>
                  </a:ext>
                </a:extLst>
              </a:tr>
              <a:tr h="533400">
                <a:tc>
                  <a:txBody>
                    <a:bodyPr/>
                    <a:lstStyle/>
                    <a:p>
                      <a:pPr algn="l"/>
                      <a:r>
                        <a:rPr sz="1875" b="0">
                          <a:solidFill>
                            <a:srgbClr val="202D3D"/>
                          </a:solidFill>
                          <a:latin typeface="Times New Roman"/>
                          <a:ea typeface="Times New Roman"/>
                          <a:cs typeface="Times New Roman"/>
                        </a:rPr>
                        <a:t>F1 (+)</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75" b="0">
                          <a:solidFill>
                            <a:srgbClr val="202D3D"/>
                          </a:solidFill>
                          <a:latin typeface="Times New Roman"/>
                          <a:ea typeface="Times New Roman"/>
                          <a:cs typeface="Times New Roman"/>
                        </a:rPr>
                        <a:t>2 × precision × recall / (precision + recall)</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4"/>
                  </a:ext>
                </a:extLst>
              </a:tr>
              <a:tr h="533400">
                <a:tc>
                  <a:txBody>
                    <a:bodyPr/>
                    <a:lstStyle/>
                    <a:p>
                      <a:pPr algn="l"/>
                      <a:r>
                        <a:rPr sz="1875" b="0">
                          <a:solidFill>
                            <a:srgbClr val="202D3D"/>
                          </a:solidFill>
                          <a:latin typeface="Times New Roman"/>
                          <a:ea typeface="Times New Roman"/>
                          <a:cs typeface="Times New Roman"/>
                        </a:rPr>
                        <a:t>Macro average</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75" b="0">
                          <a:solidFill>
                            <a:srgbClr val="202D3D"/>
                          </a:solidFill>
                          <a:latin typeface="Times New Roman"/>
                          <a:ea typeface="Times New Roman"/>
                          <a:cs typeface="Times New Roman"/>
                        </a:rPr>
                        <a:t>Compute per class, then average equally</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5"/>
                  </a:ext>
                </a:extLst>
              </a:tr>
              <a:tr h="533400">
                <a:tc>
                  <a:txBody>
                    <a:bodyPr/>
                    <a:lstStyle/>
                    <a:p>
                      <a:pPr algn="l"/>
                      <a:r>
                        <a:rPr sz="1875" b="0">
                          <a:solidFill>
                            <a:srgbClr val="202D3D"/>
                          </a:solidFill>
                          <a:latin typeface="Times New Roman"/>
                          <a:ea typeface="Times New Roman"/>
                          <a:cs typeface="Times New Roman"/>
                        </a:rPr>
                        <a:t>ROC-AUC</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75" b="0">
                          <a:solidFill>
                            <a:srgbClr val="202D3D"/>
                          </a:solidFill>
                          <a:latin typeface="Times New Roman"/>
                          <a:ea typeface="Times New Roman"/>
                          <a:cs typeface="Times New Roman"/>
                        </a:rPr>
                        <a:t>Quality of score ranking across thresholds</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Positive class = positive sentiment. SVM AUC uses margins. CNN la">
            <a:extLst>
              <a:ext uri="{FF2B5EF4-FFF2-40B4-BE49-F238E27FC236}">
                <a16:creationId xmlns:a16="http://schemas.microsoft.com/office/drawing/2014/main" id="{A9E8BFD8-D38C-46C5-A8E6-54DE5C4CDEFB}"/>
              </a:ext>
            </a:extLst>
          </p:cNvPr>
          <p:cNvSpPr>
            <a:spLocks noGrp="1"/>
          </p:cNvSpPr>
          <p:nvPr/>
        </p:nvSpPr>
        <p:spPr>
          <a:xfrm>
            <a:off x="609600" y="5791200"/>
            <a:ext cx="10972800" cy="457200"/>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Positive class = positive sentiment. SVM AUC uses margins. CNN labels use threshold 0.5.</a:t>
            </a:r>
          </a:p>
        </p:txBody>
      </p:sp>
    </p:spTree>
    <p:extLst>
      <p:ext uri="{BB962C8B-B14F-4D97-AF65-F5344CB8AC3E}">
        <p14:creationId xmlns:p14="http://schemas.microsoft.com/office/powerpoint/2010/main" val="1408800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Experimental controls and limitations">
            <a:extLst>
              <a:ext uri="{FF2B5EF4-FFF2-40B4-BE49-F238E27FC236}">
                <a16:creationId xmlns:a16="http://schemas.microsoft.com/office/drawing/2014/main" id="{FB7C77A3-7644-47DA-9F06-A9419D697688}"/>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Experimental controls and limitations</a:t>
            </a:r>
          </a:p>
        </p:txBody>
      </p:sp>
      <p:sp>
        <p:nvSpPr>
          <p:cNvPr id="2" name="Straight Connector 1">
            <a:extLst>
              <a:ext uri="{FF2B5EF4-FFF2-40B4-BE49-F238E27FC236}">
                <a16:creationId xmlns:a16="http://schemas.microsoft.com/office/drawing/2014/main" id="{76D4D518-096E-4CE6-B5F4-5D08409CC7DB}"/>
              </a:ext>
            </a:extLst>
          </p:cNvPr>
          <p:cNvSpPr>
            <a:spLocks noGrp="1"/>
          </p:cNvSpPr>
          <p:nvPr/>
        </p:nvSpPr>
        <p:spPr>
          <a:xfrm>
            <a:off x="609600" y="1266825"/>
            <a:ext cx="10972800" cy="0"/>
          </a:xfrm>
          <a:prstGeom prst="line">
            <a:avLst/>
          </a:prstGeom>
          <a:ln w="28575">
            <a:solidFill>
              <a:srgbClr val="2563EB"/>
            </a:solidFill>
            <a:prstDash val="solid"/>
          </a:ln>
        </p:spPr>
      </p:sp>
      <p:sp>
        <p:nvSpPr>
          <p:cNvPr id="3" name="Appendix B. Questions">
            <a:extLst>
              <a:ext uri="{FF2B5EF4-FFF2-40B4-BE49-F238E27FC236}">
                <a16:creationId xmlns:a16="http://schemas.microsoft.com/office/drawing/2014/main" id="{AD159BBA-1180-44CF-B4DC-90A09676645A}"/>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Appendix B. Questions</a:t>
            </a:r>
          </a:p>
        </p:txBody>
      </p:sp>
      <p:sp>
        <p:nvSpPr>
          <p:cNvPr id="4" name="Appendix 2">
            <a:extLst>
              <a:ext uri="{FF2B5EF4-FFF2-40B4-BE49-F238E27FC236}">
                <a16:creationId xmlns:a16="http://schemas.microsoft.com/office/drawing/2014/main" id="{B8DF342B-4D04-4A9D-BE70-DC16C7449D7F}"/>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Appendix 2</a:t>
            </a:r>
          </a:p>
        </p:txBody>
      </p:sp>
      <p:graphicFrame>
        <p:nvGraphicFramePr>
          <p:cNvPr id="5" name="Table 4">
            <a:extLst>
              <a:ext uri="{FF2B5EF4-FFF2-40B4-BE49-F238E27FC236}">
                <a16:creationId xmlns:a16="http://schemas.microsoft.com/office/drawing/2014/main" id="{E6BDDEB8-2BA5-4152-8845-7D75A8DC3895}"/>
              </a:ext>
            </a:extLst>
          </p:cNvPr>
          <p:cNvGraphicFramePr/>
          <p:nvPr/>
        </p:nvGraphicFramePr>
        <p:xfrm>
          <a:off x="609600" y="1714500"/>
          <a:ext cx="10972800" cy="3714753"/>
        </p:xfrm>
        <a:graphic>
          <a:graphicData uri="http://schemas.openxmlformats.org/drawingml/2006/table">
            <a:tbl>
              <a:tblPr/>
              <a:tblGrid>
                <a:gridCol w="3333750">
                  <a:extLst>
                    <a:ext uri="{9D8B030D-6E8A-4147-A177-3AD203B41FA5}">
                      <a16:colId xmlns:a16="http://schemas.microsoft.com/office/drawing/2014/main" val="20000"/>
                    </a:ext>
                  </a:extLst>
                </a:gridCol>
                <a:gridCol w="7639050">
                  <a:extLst>
                    <a:ext uri="{9D8B030D-6E8A-4147-A177-3AD203B41FA5}">
                      <a16:colId xmlns:a16="http://schemas.microsoft.com/office/drawing/2014/main" val="20001"/>
                    </a:ext>
                  </a:extLst>
                </a:gridCol>
              </a:tblGrid>
              <a:tr h="530679">
                <a:tc>
                  <a:txBody>
                    <a:bodyPr/>
                    <a:lstStyle/>
                    <a:p>
                      <a:pPr algn="l"/>
                      <a:r>
                        <a:rPr sz="1800" b="1">
                          <a:solidFill>
                            <a:srgbClr val="FFFFFF"/>
                          </a:solidFill>
                          <a:latin typeface="Times New Roman"/>
                          <a:ea typeface="Times New Roman"/>
                          <a:cs typeface="Times New Roman"/>
                        </a:rPr>
                        <a:t>Control or limitation</a:t>
                      </a:r>
                    </a:p>
                  </a:txBody>
                  <a:tcPr anchor="ctr">
                    <a:lnL w="9525">
                      <a:solidFill>
                        <a:srgbClr val="AAB9CB"/>
                      </a:solidFill>
                      <a:prstDash val="soli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tc>
                  <a:txBody>
                    <a:bodyPr/>
                    <a:lstStyle/>
                    <a:p>
                      <a:pPr algn="ctr"/>
                      <a:r>
                        <a:rPr sz="1800" b="1">
                          <a:solidFill>
                            <a:srgbClr val="FFFFFF"/>
                          </a:solidFill>
                          <a:latin typeface="Times New Roman"/>
                          <a:ea typeface="Times New Roman"/>
                          <a:cs typeface="Times New Roman"/>
                        </a:rPr>
                        <a:t>What this experiment does</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a:solidFill>
                        <a:srgbClr val="AAB9CB"/>
                      </a:solidFill>
                      <a:prstDash val="solid"/>
                    </a:lnT>
                    <a:lnB w="9525">
                      <a:solidFill>
                        <a:srgbClr val="AAB9CB"/>
                      </a:solidFill>
                      <a:prstDash val="solid"/>
                    </a:lnB>
                    <a:solidFill>
                      <a:srgbClr val="17365D"/>
                    </a:solidFill>
                  </a:tcPr>
                </a:tc>
                <a:extLst>
                  <a:ext uri="{0D108BD9-81ED-4DB2-BD59-A6C34878D82A}">
                    <a16:rowId xmlns:a16="http://schemas.microsoft.com/office/drawing/2014/main" val="10000"/>
                  </a:ext>
                </a:extLst>
              </a:tr>
              <a:tr h="530679">
                <a:tc>
                  <a:txBody>
                    <a:bodyPr/>
                    <a:lstStyle/>
                    <a:p>
                      <a:pPr algn="l"/>
                      <a:r>
                        <a:rPr sz="1800" b="0">
                          <a:solidFill>
                            <a:srgbClr val="202D3D"/>
                          </a:solidFill>
                          <a:latin typeface="Times New Roman"/>
                          <a:ea typeface="Times New Roman"/>
                          <a:cs typeface="Times New Roman"/>
                        </a:rPr>
                        <a:t>Data separation</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202D3D"/>
                          </a:solidFill>
                          <a:latin typeface="Times New Roman"/>
                          <a:ea typeface="Times New Roman"/>
                          <a:cs typeface="Times New Roman"/>
                        </a:rPr>
                        <a:t>Remove basic-cleaned exact duplicates before splitting</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1"/>
                  </a:ext>
                </a:extLst>
              </a:tr>
              <a:tr h="530679">
                <a:tc>
                  <a:txBody>
                    <a:bodyPr/>
                    <a:lstStyle/>
                    <a:p>
                      <a:pPr algn="l"/>
                      <a:r>
                        <a:rPr sz="1800" b="0">
                          <a:solidFill>
                            <a:srgbClr val="202D3D"/>
                          </a:solidFill>
                          <a:latin typeface="Times New Roman"/>
                          <a:ea typeface="Times New Roman"/>
                          <a:cs typeface="Times New Roman"/>
                        </a:rPr>
                        <a:t>Fitted representations</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00" b="0">
                          <a:solidFill>
                            <a:srgbClr val="202D3D"/>
                          </a:solidFill>
                          <a:latin typeface="Times New Roman"/>
                          <a:ea typeface="Times New Roman"/>
                          <a:cs typeface="Times New Roman"/>
                        </a:rPr>
                        <a:t>Fit TF-IDF and CNN vocabulary on training reviews only</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2"/>
                  </a:ext>
                </a:extLst>
              </a:tr>
              <a:tr h="530679">
                <a:tc>
                  <a:txBody>
                    <a:bodyPr/>
                    <a:lstStyle/>
                    <a:p>
                      <a:pPr algn="l"/>
                      <a:r>
                        <a:rPr sz="1800" b="0">
                          <a:solidFill>
                            <a:srgbClr val="202D3D"/>
                          </a:solidFill>
                          <a:latin typeface="Times New Roman"/>
                          <a:ea typeface="Times New Roman"/>
                          <a:cs typeface="Times New Roman"/>
                        </a:rPr>
                        <a:t>Model selection</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202D3D"/>
                          </a:solidFill>
                          <a:latin typeface="Times New Roman"/>
                          <a:ea typeface="Times New Roman"/>
                          <a:cs typeface="Times New Roman"/>
                        </a:rPr>
                        <a:t>Select CNN checkpoint by validation loss</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3"/>
                  </a:ext>
                </a:extLst>
              </a:tr>
              <a:tr h="530679">
                <a:tc>
                  <a:txBody>
                    <a:bodyPr/>
                    <a:lstStyle/>
                    <a:p>
                      <a:pPr algn="l"/>
                      <a:r>
                        <a:rPr sz="1800" b="0">
                          <a:solidFill>
                            <a:srgbClr val="202D3D"/>
                          </a:solidFill>
                          <a:latin typeface="Times New Roman"/>
                          <a:ea typeface="Times New Roman"/>
                          <a:cs typeface="Times New Roman"/>
                        </a:rPr>
                        <a:t>Transfer verification</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00" b="0">
                          <a:solidFill>
                            <a:srgbClr val="202D3D"/>
                          </a:solidFill>
                          <a:latin typeface="Times New Roman"/>
                          <a:ea typeface="Times New Roman"/>
                          <a:cs typeface="Times New Roman"/>
                        </a:rPr>
                        <a:t>4 reference reviews + 4,958 saved test rows match</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4"/>
                  </a:ext>
                </a:extLst>
              </a:tr>
              <a:tr h="530679">
                <a:tc>
                  <a:txBody>
                    <a:bodyPr/>
                    <a:lstStyle/>
                    <a:p>
                      <a:pPr algn="l"/>
                      <a:r>
                        <a:rPr sz="1800" b="0">
                          <a:solidFill>
                            <a:srgbClr val="202D3D"/>
                          </a:solidFill>
                          <a:latin typeface="Times New Roman"/>
                          <a:ea typeface="Times New Roman"/>
                          <a:cs typeface="Times New Roman"/>
                        </a:rPr>
                        <a:t>Comparison limits</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tc>
                  <a:txBody>
                    <a:bodyPr/>
                    <a:lstStyle/>
                    <a:p>
                      <a:pPr algn="ctr"/>
                      <a:r>
                        <a:rPr sz="1800" b="0">
                          <a:solidFill>
                            <a:srgbClr val="202D3D"/>
                          </a:solidFill>
                          <a:latin typeface="Times New Roman"/>
                          <a:ea typeface="Times New Roman"/>
                          <a:cs typeface="Times New Roman"/>
                        </a:rPr>
                        <a:t>Different vocabularies, truncation and pretrained vectors</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3F7FC"/>
                    </a:solidFill>
                  </a:tcPr>
                </a:tc>
                <a:extLst>
                  <a:ext uri="{0D108BD9-81ED-4DB2-BD59-A6C34878D82A}">
                    <a16:rowId xmlns:a16="http://schemas.microsoft.com/office/drawing/2014/main" val="10005"/>
                  </a:ext>
                </a:extLst>
              </a:tr>
              <a:tr h="530679">
                <a:tc>
                  <a:txBody>
                    <a:bodyPr/>
                    <a:lstStyle/>
                    <a:p>
                      <a:pPr algn="l"/>
                      <a:r>
                        <a:rPr sz="1800" b="0">
                          <a:solidFill>
                            <a:srgbClr val="202D3D"/>
                          </a:solidFill>
                          <a:latin typeface="Times New Roman"/>
                          <a:ea typeface="Times New Roman"/>
                          <a:cs typeface="Times New Roman"/>
                        </a:rPr>
                        <a:t>Generalization limits</a:t>
                      </a:r>
                    </a:p>
                  </a:txBody>
                  <a:tcPr anchor="ctr">
                    <a:lnL w="9525">
                      <a:solidFill>
                        <a:srgbClr val="AAB9CB"/>
                      </a:solidFill>
                      <a:prstDash val="soli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tc>
                  <a:txBody>
                    <a:bodyPr/>
                    <a:lstStyle/>
                    <a:p>
                      <a:pPr algn="ctr"/>
                      <a:r>
                        <a:rPr sz="1800" b="0">
                          <a:solidFill>
                            <a:srgbClr val="202D3D"/>
                          </a:solidFill>
                          <a:latin typeface="Times New Roman"/>
                          <a:ea typeface="Times New Roman"/>
                          <a:cs typeface="Times New Roman"/>
                        </a:rPr>
                        <a:t>New CSV split, one run, no external-domain evaluation</a:t>
                      </a:r>
                    </a:p>
                  </a:txBody>
                  <a:tcPr anchor="ctr">
                    <a:lnL w="9525" cap="flat" cmpd="sng" algn="ctr">
                      <a:solidFill>
                        <a:srgbClr val="AAB9CB"/>
                      </a:solidFill>
                      <a:prstDash val="solid"/>
                      <a:round/>
                      <a:headEnd type="none" w="med" len="med"/>
                      <a:tailEnd type="none" w="med" len="med"/>
                    </a:lnL>
                    <a:lnR w="9525">
                      <a:solidFill>
                        <a:srgbClr val="AAB9CB"/>
                      </a:solidFill>
                      <a:prstDash val="solid"/>
                    </a:lnR>
                    <a:lnT w="9525" cap="flat" cmpd="sng" algn="ctr">
                      <a:solidFill>
                        <a:srgbClr val="AAB9CB"/>
                      </a:solidFill>
                      <a:prstDash val="solid"/>
                      <a:round/>
                      <a:headEnd type="none" w="med" len="med"/>
                      <a:tailEnd type="none" w="med" len="med"/>
                    </a:lnT>
                    <a:lnB w="9525">
                      <a:solidFill>
                        <a:srgbClr val="AAB9CB"/>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Further tuning uses validation data. A fresh external test is str">
            <a:extLst>
              <a:ext uri="{FF2B5EF4-FFF2-40B4-BE49-F238E27FC236}">
                <a16:creationId xmlns:a16="http://schemas.microsoft.com/office/drawing/2014/main" id="{F1FB82F0-FDF8-4414-B74F-56187CEDC9BE}"/>
              </a:ext>
            </a:extLst>
          </p:cNvPr>
          <p:cNvSpPr>
            <a:spLocks noGrp="1"/>
          </p:cNvSpPr>
          <p:nvPr/>
        </p:nvSpPr>
        <p:spPr>
          <a:xfrm>
            <a:off x="609600" y="5810250"/>
            <a:ext cx="10972800" cy="457200"/>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Further tuning uses validation data. A fresh external test is stronger for future redesigns.</a:t>
            </a:r>
          </a:p>
        </p:txBody>
      </p:sp>
    </p:spTree>
    <p:extLst>
      <p:ext uri="{BB962C8B-B14F-4D97-AF65-F5344CB8AC3E}">
        <p14:creationId xmlns:p14="http://schemas.microsoft.com/office/powerpoint/2010/main" val="134076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5" name="Sources and project evidence">
            <a:extLst>
              <a:ext uri="{FF2B5EF4-FFF2-40B4-BE49-F238E27FC236}">
                <a16:creationId xmlns:a16="http://schemas.microsoft.com/office/drawing/2014/main" id="{D32DEA2A-4891-4DAD-8516-1ED130E90AC5}"/>
              </a:ext>
            </a:extLst>
          </p:cNvPr>
          <p:cNvSpPr>
            <a:spLocks noGrp="1"/>
          </p:cNvSpPr>
          <p:nvPr/>
        </p:nvSpPr>
        <p:spPr>
          <a:xfrm>
            <a:off x="609600" y="504825"/>
            <a:ext cx="10972800" cy="609600"/>
          </a:xfrm>
          <a:prstGeom prst="rect">
            <a:avLst/>
          </a:prstGeom>
          <a:noFill/>
          <a:ln w="0">
            <a:noFill/>
          </a:ln>
        </p:spPr>
        <p:txBody>
          <a:bodyPr wrap="square" lIns="0" tIns="0" rIns="0" bIns="0" anchor="t">
            <a:noAutofit/>
          </a:bodyPr>
          <a:lstStyle>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Sources and project evidence</a:t>
            </a:r>
          </a:p>
        </p:txBody>
      </p:sp>
      <p:sp>
        <p:nvSpPr>
          <p:cNvPr id="2" name="Straight Connector 1">
            <a:extLst>
              <a:ext uri="{FF2B5EF4-FFF2-40B4-BE49-F238E27FC236}">
                <a16:creationId xmlns:a16="http://schemas.microsoft.com/office/drawing/2014/main" id="{DE9CB633-D9A2-4653-AE69-3F5071DBEEE6}"/>
              </a:ext>
            </a:extLst>
          </p:cNvPr>
          <p:cNvSpPr>
            <a:spLocks noGrp="1"/>
          </p:cNvSpPr>
          <p:nvPr/>
        </p:nvSpPr>
        <p:spPr>
          <a:xfrm>
            <a:off x="609600" y="1266825"/>
            <a:ext cx="10972800" cy="0"/>
          </a:xfrm>
          <a:prstGeom prst="line">
            <a:avLst/>
          </a:prstGeom>
          <a:ln w="28575">
            <a:solidFill>
              <a:srgbClr val="2563EB"/>
            </a:solidFill>
            <a:prstDash val="solid"/>
          </a:ln>
        </p:spPr>
      </p:sp>
      <p:sp>
        <p:nvSpPr>
          <p:cNvPr id="3" name="Appendix C. References">
            <a:extLst>
              <a:ext uri="{FF2B5EF4-FFF2-40B4-BE49-F238E27FC236}">
                <a16:creationId xmlns:a16="http://schemas.microsoft.com/office/drawing/2014/main" id="{869BE154-2914-40A9-8A88-688254D41D1A}"/>
              </a:ext>
            </a:extLst>
          </p:cNvPr>
          <p:cNvSpPr>
            <a:spLocks noGrp="1"/>
          </p:cNvSpPr>
          <p:nvPr/>
        </p:nvSpPr>
        <p:spPr>
          <a:xfrm>
            <a:off x="609600" y="6419850"/>
            <a:ext cx="9715500" cy="219075"/>
          </a:xfrm>
          <a:prstGeom prst="rect">
            <a:avLst/>
          </a:prstGeom>
          <a:noFill/>
          <a:ln w="0">
            <a:noFill/>
          </a:ln>
        </p:spPr>
        <p:txBody>
          <a:bodyPr wrap="square" lIns="0" tIns="0" rIns="0" bIns="0" anchor="t">
            <a:noAutofit/>
          </a:bodyPr>
          <a:lstStyle>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Appendix C. References</a:t>
            </a:r>
          </a:p>
        </p:txBody>
      </p:sp>
      <p:sp>
        <p:nvSpPr>
          <p:cNvPr id="4" name="Appendix 3">
            <a:extLst>
              <a:ext uri="{FF2B5EF4-FFF2-40B4-BE49-F238E27FC236}">
                <a16:creationId xmlns:a16="http://schemas.microsoft.com/office/drawing/2014/main" id="{91259A5D-2290-47C8-8158-F4C8314CB153}"/>
              </a:ext>
            </a:extLst>
          </p:cNvPr>
          <p:cNvSpPr>
            <a:spLocks noGrp="1"/>
          </p:cNvSpPr>
          <p:nvPr/>
        </p:nvSpPr>
        <p:spPr>
          <a:xfrm>
            <a:off x="10477500" y="6419850"/>
            <a:ext cx="1104900" cy="219075"/>
          </a:xfrm>
          <a:prstGeom prst="rect">
            <a:avLst/>
          </a:prstGeom>
          <a:noFill/>
          <a:ln w="0">
            <a:noFill/>
          </a:ln>
        </p:spPr>
        <p:txBody>
          <a:bodyPr wrap="square" lIns="0" tIns="0" rIns="0" bIns="0" anchor="t">
            <a:noAutofit/>
          </a:bodyPr>
          <a:lstStyle>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a:p>
            <a:pPr algn="r">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Appendix 3</a:t>
            </a:r>
          </a:p>
        </p:txBody>
      </p:sp>
      <p:sp>
        <p:nvSpPr>
          <p:cNvPr id="5" name="Project evidence">
            <a:extLst>
              <a:ext uri="{FF2B5EF4-FFF2-40B4-BE49-F238E27FC236}">
                <a16:creationId xmlns:a16="http://schemas.microsoft.com/office/drawing/2014/main" id="{9228905B-5B6A-4C35-8062-FC6C97A506B4}"/>
              </a:ext>
            </a:extLst>
          </p:cNvPr>
          <p:cNvSpPr>
            <a:spLocks noGrp="1"/>
          </p:cNvSpPr>
          <p:nvPr/>
        </p:nvSpPr>
        <p:spPr>
          <a:xfrm>
            <a:off x="609600" y="1704975"/>
            <a:ext cx="3476625" cy="390525"/>
          </a:xfrm>
          <a:prstGeom prst="rect">
            <a:avLst/>
          </a:prstGeom>
          <a:noFill/>
          <a:ln w="0">
            <a:noFill/>
          </a:ln>
        </p:spPr>
        <p:txBody>
          <a:bodyPr wrap="square" lIns="0" tIns="0" rIns="0" bIns="0" anchor="t">
            <a:noAutofit/>
          </a:bodyPr>
          <a:lstStyle>
            <a:defPPr algn="l">
              <a:defRPr sz="1800" b="1">
                <a:solidFill>
                  <a:srgbClr val="202D3D"/>
                </a:solidFill>
                <a:latin typeface="Times New Roman"/>
                <a:ea typeface="Times New Roman"/>
                <a:cs typeface="Times New Roman"/>
              </a:defRPr>
            </a:defPPr>
            <a:lvl1pPr algn="l">
              <a:defRPr sz="1800" b="1">
                <a:solidFill>
                  <a:srgbClr val="202D3D"/>
                </a:solidFill>
                <a:latin typeface="Times New Roman"/>
                <a:ea typeface="Times New Roman"/>
                <a:cs typeface="Times New Roman"/>
              </a:defRPr>
            </a:lvl1pPr>
            <a:lvl2pPr algn="l">
              <a:defRPr sz="1800" b="1">
                <a:solidFill>
                  <a:srgbClr val="202D3D"/>
                </a:solidFill>
                <a:latin typeface="Times New Roman"/>
                <a:ea typeface="Times New Roman"/>
                <a:cs typeface="Times New Roman"/>
              </a:defRPr>
            </a:lvl2pPr>
            <a:lvl3pPr algn="l">
              <a:defRPr sz="1800" b="1">
                <a:solidFill>
                  <a:srgbClr val="202D3D"/>
                </a:solidFill>
                <a:latin typeface="Times New Roman"/>
                <a:ea typeface="Times New Roman"/>
                <a:cs typeface="Times New Roman"/>
              </a:defRPr>
            </a:lvl3pPr>
            <a:lvl4pPr algn="l">
              <a:defRPr sz="1800" b="1">
                <a:solidFill>
                  <a:srgbClr val="202D3D"/>
                </a:solidFill>
                <a:latin typeface="Times New Roman"/>
                <a:ea typeface="Times New Roman"/>
                <a:cs typeface="Times New Roman"/>
              </a:defRPr>
            </a:lvl4pPr>
            <a:lvl5pPr algn="l">
              <a:defRPr sz="1800" b="1">
                <a:solidFill>
                  <a:srgbClr val="202D3D"/>
                </a:solidFill>
                <a:latin typeface="Times New Roman"/>
                <a:ea typeface="Times New Roman"/>
                <a:cs typeface="Times New Roman"/>
              </a:defRPr>
            </a:lvl5pPr>
            <a:lvl6pPr algn="l">
              <a:defRPr sz="1800" b="1">
                <a:solidFill>
                  <a:srgbClr val="202D3D"/>
                </a:solidFill>
                <a:latin typeface="Times New Roman"/>
                <a:ea typeface="Times New Roman"/>
                <a:cs typeface="Times New Roman"/>
              </a:defRPr>
            </a:lvl6pPr>
            <a:lvl7pPr algn="l">
              <a:defRPr sz="1800" b="1">
                <a:solidFill>
                  <a:srgbClr val="202D3D"/>
                </a:solidFill>
                <a:latin typeface="Times New Roman"/>
                <a:ea typeface="Times New Roman"/>
                <a:cs typeface="Times New Roman"/>
              </a:defRPr>
            </a:lvl7pPr>
            <a:lvl8pPr algn="l">
              <a:defRPr sz="1800" b="1">
                <a:solidFill>
                  <a:srgbClr val="202D3D"/>
                </a:solidFill>
                <a:latin typeface="Times New Roman"/>
                <a:ea typeface="Times New Roman"/>
                <a:cs typeface="Times New Roman"/>
              </a:defRPr>
            </a:lvl8pPr>
            <a:lvl9pPr algn="l">
              <a:defRPr sz="1800" b="1">
                <a:solidFill>
                  <a:srgbClr val="202D3D"/>
                </a:solidFill>
                <a:latin typeface="Times New Roman"/>
                <a:ea typeface="Times New Roman"/>
                <a:cs typeface="Times New Roman"/>
              </a:defRPr>
            </a:lvl9pPr>
          </a:lstStyle>
          <a:p>
            <a:pPr algn="l">
              <a:defRPr sz="1800" b="1">
                <a:solidFill>
                  <a:srgbClr val="202D3D"/>
                </a:solidFill>
                <a:latin typeface="Times New Roman"/>
                <a:ea typeface="Times New Roman"/>
                <a:cs typeface="Times New Roman"/>
              </a:defRPr>
            </a:pPr>
            <a:r>
              <a:rPr sz="1800" b="1">
                <a:solidFill>
                  <a:srgbClr val="202D3D"/>
                </a:solidFill>
                <a:latin typeface="Times New Roman"/>
                <a:ea typeface="Times New Roman"/>
                <a:cs typeface="Times New Roman"/>
              </a:rPr>
              <a:t>Project evidence</a:t>
            </a:r>
          </a:p>
        </p:txBody>
      </p:sp>
      <p:sp>
        <p:nvSpPr>
          <p:cNvPr id="6" name="Executed training notebook and output/model_verification.json">
            <a:extLst>
              <a:ext uri="{FF2B5EF4-FFF2-40B4-BE49-F238E27FC236}">
                <a16:creationId xmlns:a16="http://schemas.microsoft.com/office/drawing/2014/main" id="{5420B14B-D698-4D8F-8B61-69BCEF491C1E}"/>
              </a:ext>
            </a:extLst>
          </p:cNvPr>
          <p:cNvSpPr>
            <a:spLocks noGrp="1"/>
          </p:cNvSpPr>
          <p:nvPr/>
        </p:nvSpPr>
        <p:spPr>
          <a:xfrm>
            <a:off x="4143375" y="1704975"/>
            <a:ext cx="7439025" cy="714375"/>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Executed training notebook and output/model_verification.json</a:t>
            </a:r>
          </a:p>
        </p:txBody>
      </p:sp>
      <p:sp>
        <p:nvSpPr>
          <p:cNvPr id="7" name="Dataset access">
            <a:extLst>
              <a:ext uri="{FF2B5EF4-FFF2-40B4-BE49-F238E27FC236}">
                <a16:creationId xmlns:a16="http://schemas.microsoft.com/office/drawing/2014/main" id="{ECC1BFCC-99C7-449D-BE88-7EC90155E538}"/>
              </a:ext>
            </a:extLst>
          </p:cNvPr>
          <p:cNvSpPr>
            <a:spLocks noGrp="1"/>
          </p:cNvSpPr>
          <p:nvPr/>
        </p:nvSpPr>
        <p:spPr>
          <a:xfrm>
            <a:off x="609600" y="2571750"/>
            <a:ext cx="3476625" cy="390525"/>
          </a:xfrm>
          <a:prstGeom prst="rect">
            <a:avLst/>
          </a:prstGeom>
          <a:noFill/>
          <a:ln w="0">
            <a:noFill/>
          </a:ln>
        </p:spPr>
        <p:txBody>
          <a:bodyPr wrap="square" lIns="0" tIns="0" rIns="0" bIns="0" anchor="t">
            <a:noAutofit/>
          </a:bodyPr>
          <a:lstStyle>
            <a:defPPr algn="l">
              <a:defRPr sz="1800" b="1">
                <a:solidFill>
                  <a:srgbClr val="202D3D"/>
                </a:solidFill>
                <a:latin typeface="Times New Roman"/>
                <a:ea typeface="Times New Roman"/>
                <a:cs typeface="Times New Roman"/>
              </a:defRPr>
            </a:defPPr>
            <a:lvl1pPr algn="l">
              <a:defRPr sz="1800" b="1">
                <a:solidFill>
                  <a:srgbClr val="202D3D"/>
                </a:solidFill>
                <a:latin typeface="Times New Roman"/>
                <a:ea typeface="Times New Roman"/>
                <a:cs typeface="Times New Roman"/>
              </a:defRPr>
            </a:lvl1pPr>
            <a:lvl2pPr algn="l">
              <a:defRPr sz="1800" b="1">
                <a:solidFill>
                  <a:srgbClr val="202D3D"/>
                </a:solidFill>
                <a:latin typeface="Times New Roman"/>
                <a:ea typeface="Times New Roman"/>
                <a:cs typeface="Times New Roman"/>
              </a:defRPr>
            </a:lvl2pPr>
            <a:lvl3pPr algn="l">
              <a:defRPr sz="1800" b="1">
                <a:solidFill>
                  <a:srgbClr val="202D3D"/>
                </a:solidFill>
                <a:latin typeface="Times New Roman"/>
                <a:ea typeface="Times New Roman"/>
                <a:cs typeface="Times New Roman"/>
              </a:defRPr>
            </a:lvl3pPr>
            <a:lvl4pPr algn="l">
              <a:defRPr sz="1800" b="1">
                <a:solidFill>
                  <a:srgbClr val="202D3D"/>
                </a:solidFill>
                <a:latin typeface="Times New Roman"/>
                <a:ea typeface="Times New Roman"/>
                <a:cs typeface="Times New Roman"/>
              </a:defRPr>
            </a:lvl4pPr>
            <a:lvl5pPr algn="l">
              <a:defRPr sz="1800" b="1">
                <a:solidFill>
                  <a:srgbClr val="202D3D"/>
                </a:solidFill>
                <a:latin typeface="Times New Roman"/>
                <a:ea typeface="Times New Roman"/>
                <a:cs typeface="Times New Roman"/>
              </a:defRPr>
            </a:lvl5pPr>
            <a:lvl6pPr algn="l">
              <a:defRPr sz="1800" b="1">
                <a:solidFill>
                  <a:srgbClr val="202D3D"/>
                </a:solidFill>
                <a:latin typeface="Times New Roman"/>
                <a:ea typeface="Times New Roman"/>
                <a:cs typeface="Times New Roman"/>
              </a:defRPr>
            </a:lvl6pPr>
            <a:lvl7pPr algn="l">
              <a:defRPr sz="1800" b="1">
                <a:solidFill>
                  <a:srgbClr val="202D3D"/>
                </a:solidFill>
                <a:latin typeface="Times New Roman"/>
                <a:ea typeface="Times New Roman"/>
                <a:cs typeface="Times New Roman"/>
              </a:defRPr>
            </a:lvl7pPr>
            <a:lvl8pPr algn="l">
              <a:defRPr sz="1800" b="1">
                <a:solidFill>
                  <a:srgbClr val="202D3D"/>
                </a:solidFill>
                <a:latin typeface="Times New Roman"/>
                <a:ea typeface="Times New Roman"/>
                <a:cs typeface="Times New Roman"/>
              </a:defRPr>
            </a:lvl8pPr>
            <a:lvl9pPr algn="l">
              <a:defRPr sz="1800" b="1">
                <a:solidFill>
                  <a:srgbClr val="202D3D"/>
                </a:solidFill>
                <a:latin typeface="Times New Roman"/>
                <a:ea typeface="Times New Roman"/>
                <a:cs typeface="Times New Roman"/>
              </a:defRPr>
            </a:lvl9pPr>
          </a:lstStyle>
          <a:p>
            <a:pPr algn="l">
              <a:defRPr sz="1800" b="1">
                <a:solidFill>
                  <a:srgbClr val="202D3D"/>
                </a:solidFill>
                <a:latin typeface="Times New Roman"/>
                <a:ea typeface="Times New Roman"/>
                <a:cs typeface="Times New Roman"/>
              </a:defRPr>
            </a:pPr>
            <a:r>
              <a:rPr sz="1800" b="1">
                <a:solidFill>
                  <a:srgbClr val="202D3D"/>
                </a:solidFill>
                <a:latin typeface="Times New Roman"/>
                <a:ea typeface="Times New Roman"/>
                <a:cs typeface="Times New Roman"/>
              </a:rPr>
              <a:t>Dataset access</a:t>
            </a:r>
          </a:p>
        </p:txBody>
      </p:sp>
      <p:sp>
        <p:nvSpPr>
          <p:cNvPr id="8" name="Kaggle: lakshmi25npathi / IMDb Dataset of 50K Movie Reviews">
            <a:extLst>
              <a:ext uri="{FF2B5EF4-FFF2-40B4-BE49-F238E27FC236}">
                <a16:creationId xmlns:a16="http://schemas.microsoft.com/office/drawing/2014/main" id="{B8092232-51EB-4A95-81DA-122748D8AA1C}"/>
              </a:ext>
            </a:extLst>
          </p:cNvPr>
          <p:cNvSpPr>
            <a:spLocks noGrp="1"/>
          </p:cNvSpPr>
          <p:nvPr/>
        </p:nvSpPr>
        <p:spPr>
          <a:xfrm>
            <a:off x="4143375" y="2571750"/>
            <a:ext cx="7439025" cy="714375"/>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Kaggle: lakshmi25npathi / IMDb Dataset of 50K Movie Reviews</a:t>
            </a:r>
          </a:p>
        </p:txBody>
      </p:sp>
      <p:sp>
        <p:nvSpPr>
          <p:cNvPr id="9" name="IMDb benchmark background">
            <a:extLst>
              <a:ext uri="{FF2B5EF4-FFF2-40B4-BE49-F238E27FC236}">
                <a16:creationId xmlns:a16="http://schemas.microsoft.com/office/drawing/2014/main" id="{33936C4F-3F33-4C76-9592-C9190E8FD251}"/>
              </a:ext>
            </a:extLst>
          </p:cNvPr>
          <p:cNvSpPr>
            <a:spLocks noGrp="1"/>
          </p:cNvSpPr>
          <p:nvPr/>
        </p:nvSpPr>
        <p:spPr>
          <a:xfrm>
            <a:off x="609600" y="3438525"/>
            <a:ext cx="3476625" cy="390525"/>
          </a:xfrm>
          <a:prstGeom prst="rect">
            <a:avLst/>
          </a:prstGeom>
          <a:noFill/>
          <a:ln w="0">
            <a:noFill/>
          </a:ln>
        </p:spPr>
        <p:txBody>
          <a:bodyPr wrap="square" lIns="0" tIns="0" rIns="0" bIns="0" anchor="t">
            <a:noAutofit/>
          </a:bodyPr>
          <a:lstStyle>
            <a:defPPr algn="l">
              <a:defRPr sz="1800" b="1">
                <a:solidFill>
                  <a:srgbClr val="202D3D"/>
                </a:solidFill>
                <a:latin typeface="Times New Roman"/>
                <a:ea typeface="Times New Roman"/>
                <a:cs typeface="Times New Roman"/>
              </a:defRPr>
            </a:defPPr>
            <a:lvl1pPr algn="l">
              <a:defRPr sz="1800" b="1">
                <a:solidFill>
                  <a:srgbClr val="202D3D"/>
                </a:solidFill>
                <a:latin typeface="Times New Roman"/>
                <a:ea typeface="Times New Roman"/>
                <a:cs typeface="Times New Roman"/>
              </a:defRPr>
            </a:lvl1pPr>
            <a:lvl2pPr algn="l">
              <a:defRPr sz="1800" b="1">
                <a:solidFill>
                  <a:srgbClr val="202D3D"/>
                </a:solidFill>
                <a:latin typeface="Times New Roman"/>
                <a:ea typeface="Times New Roman"/>
                <a:cs typeface="Times New Roman"/>
              </a:defRPr>
            </a:lvl2pPr>
            <a:lvl3pPr algn="l">
              <a:defRPr sz="1800" b="1">
                <a:solidFill>
                  <a:srgbClr val="202D3D"/>
                </a:solidFill>
                <a:latin typeface="Times New Roman"/>
                <a:ea typeface="Times New Roman"/>
                <a:cs typeface="Times New Roman"/>
              </a:defRPr>
            </a:lvl3pPr>
            <a:lvl4pPr algn="l">
              <a:defRPr sz="1800" b="1">
                <a:solidFill>
                  <a:srgbClr val="202D3D"/>
                </a:solidFill>
                <a:latin typeface="Times New Roman"/>
                <a:ea typeface="Times New Roman"/>
                <a:cs typeface="Times New Roman"/>
              </a:defRPr>
            </a:lvl4pPr>
            <a:lvl5pPr algn="l">
              <a:defRPr sz="1800" b="1">
                <a:solidFill>
                  <a:srgbClr val="202D3D"/>
                </a:solidFill>
                <a:latin typeface="Times New Roman"/>
                <a:ea typeface="Times New Roman"/>
                <a:cs typeface="Times New Roman"/>
              </a:defRPr>
            </a:lvl5pPr>
            <a:lvl6pPr algn="l">
              <a:defRPr sz="1800" b="1">
                <a:solidFill>
                  <a:srgbClr val="202D3D"/>
                </a:solidFill>
                <a:latin typeface="Times New Roman"/>
                <a:ea typeface="Times New Roman"/>
                <a:cs typeface="Times New Roman"/>
              </a:defRPr>
            </a:lvl6pPr>
            <a:lvl7pPr algn="l">
              <a:defRPr sz="1800" b="1">
                <a:solidFill>
                  <a:srgbClr val="202D3D"/>
                </a:solidFill>
                <a:latin typeface="Times New Roman"/>
                <a:ea typeface="Times New Roman"/>
                <a:cs typeface="Times New Roman"/>
              </a:defRPr>
            </a:lvl7pPr>
            <a:lvl8pPr algn="l">
              <a:defRPr sz="1800" b="1">
                <a:solidFill>
                  <a:srgbClr val="202D3D"/>
                </a:solidFill>
                <a:latin typeface="Times New Roman"/>
                <a:ea typeface="Times New Roman"/>
                <a:cs typeface="Times New Roman"/>
              </a:defRPr>
            </a:lvl8pPr>
            <a:lvl9pPr algn="l">
              <a:defRPr sz="1800" b="1">
                <a:solidFill>
                  <a:srgbClr val="202D3D"/>
                </a:solidFill>
                <a:latin typeface="Times New Roman"/>
                <a:ea typeface="Times New Roman"/>
                <a:cs typeface="Times New Roman"/>
              </a:defRPr>
            </a:lvl9pPr>
          </a:lstStyle>
          <a:p>
            <a:pPr algn="l">
              <a:defRPr sz="1800" b="1">
                <a:solidFill>
                  <a:srgbClr val="202D3D"/>
                </a:solidFill>
                <a:latin typeface="Times New Roman"/>
                <a:ea typeface="Times New Roman"/>
                <a:cs typeface="Times New Roman"/>
              </a:defRPr>
            </a:pPr>
            <a:r>
              <a:rPr sz="1800" b="1">
                <a:solidFill>
                  <a:srgbClr val="202D3D"/>
                </a:solidFill>
                <a:latin typeface="Times New Roman"/>
                <a:ea typeface="Times New Roman"/>
                <a:cs typeface="Times New Roman"/>
              </a:rPr>
              <a:t>IMDb benchmark background</a:t>
            </a:r>
          </a:p>
        </p:txBody>
      </p:sp>
      <p:sp>
        <p:nvSpPr>
          <p:cNvPr id="10" name="Maas et al. (2011), Learning Word Vectors for Sentiment Analysis&#10;">
            <a:extLst>
              <a:ext uri="{FF2B5EF4-FFF2-40B4-BE49-F238E27FC236}">
                <a16:creationId xmlns:a16="http://schemas.microsoft.com/office/drawing/2014/main" id="{4A7F8709-94A7-4962-B3A4-D0D4DBB4991C}"/>
              </a:ext>
            </a:extLst>
          </p:cNvPr>
          <p:cNvSpPr>
            <a:spLocks noGrp="1"/>
          </p:cNvSpPr>
          <p:nvPr/>
        </p:nvSpPr>
        <p:spPr>
          <a:xfrm>
            <a:off x="4143375" y="3438525"/>
            <a:ext cx="7439025" cy="714375"/>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Maas et al. (2011), Learning Word Vectors for Sentiment Analysis</a:t>
            </a:r>
          </a:p>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nlp.stanford.edu/~amaas/data/sentiment/</a:t>
            </a:r>
          </a:p>
        </p:txBody>
      </p:sp>
      <p:sp>
        <p:nvSpPr>
          <p:cNvPr id="11" name="Word embeddings">
            <a:extLst>
              <a:ext uri="{FF2B5EF4-FFF2-40B4-BE49-F238E27FC236}">
                <a16:creationId xmlns:a16="http://schemas.microsoft.com/office/drawing/2014/main" id="{FC55586F-2655-4760-8E21-1A6B0730A828}"/>
              </a:ext>
            </a:extLst>
          </p:cNvPr>
          <p:cNvSpPr>
            <a:spLocks noGrp="1"/>
          </p:cNvSpPr>
          <p:nvPr/>
        </p:nvSpPr>
        <p:spPr>
          <a:xfrm>
            <a:off x="609600" y="4305300"/>
            <a:ext cx="3476625" cy="390525"/>
          </a:xfrm>
          <a:prstGeom prst="rect">
            <a:avLst/>
          </a:prstGeom>
          <a:noFill/>
          <a:ln w="0">
            <a:noFill/>
          </a:ln>
        </p:spPr>
        <p:txBody>
          <a:bodyPr wrap="square" lIns="0" tIns="0" rIns="0" bIns="0" anchor="t">
            <a:noAutofit/>
          </a:bodyPr>
          <a:lstStyle>
            <a:defPPr algn="l">
              <a:defRPr sz="1800" b="1">
                <a:solidFill>
                  <a:srgbClr val="202D3D"/>
                </a:solidFill>
                <a:latin typeface="Times New Roman"/>
                <a:ea typeface="Times New Roman"/>
                <a:cs typeface="Times New Roman"/>
              </a:defRPr>
            </a:defPPr>
            <a:lvl1pPr algn="l">
              <a:defRPr sz="1800" b="1">
                <a:solidFill>
                  <a:srgbClr val="202D3D"/>
                </a:solidFill>
                <a:latin typeface="Times New Roman"/>
                <a:ea typeface="Times New Roman"/>
                <a:cs typeface="Times New Roman"/>
              </a:defRPr>
            </a:lvl1pPr>
            <a:lvl2pPr algn="l">
              <a:defRPr sz="1800" b="1">
                <a:solidFill>
                  <a:srgbClr val="202D3D"/>
                </a:solidFill>
                <a:latin typeface="Times New Roman"/>
                <a:ea typeface="Times New Roman"/>
                <a:cs typeface="Times New Roman"/>
              </a:defRPr>
            </a:lvl2pPr>
            <a:lvl3pPr algn="l">
              <a:defRPr sz="1800" b="1">
                <a:solidFill>
                  <a:srgbClr val="202D3D"/>
                </a:solidFill>
                <a:latin typeface="Times New Roman"/>
                <a:ea typeface="Times New Roman"/>
                <a:cs typeface="Times New Roman"/>
              </a:defRPr>
            </a:lvl3pPr>
            <a:lvl4pPr algn="l">
              <a:defRPr sz="1800" b="1">
                <a:solidFill>
                  <a:srgbClr val="202D3D"/>
                </a:solidFill>
                <a:latin typeface="Times New Roman"/>
                <a:ea typeface="Times New Roman"/>
                <a:cs typeface="Times New Roman"/>
              </a:defRPr>
            </a:lvl4pPr>
            <a:lvl5pPr algn="l">
              <a:defRPr sz="1800" b="1">
                <a:solidFill>
                  <a:srgbClr val="202D3D"/>
                </a:solidFill>
                <a:latin typeface="Times New Roman"/>
                <a:ea typeface="Times New Roman"/>
                <a:cs typeface="Times New Roman"/>
              </a:defRPr>
            </a:lvl5pPr>
            <a:lvl6pPr algn="l">
              <a:defRPr sz="1800" b="1">
                <a:solidFill>
                  <a:srgbClr val="202D3D"/>
                </a:solidFill>
                <a:latin typeface="Times New Roman"/>
                <a:ea typeface="Times New Roman"/>
                <a:cs typeface="Times New Roman"/>
              </a:defRPr>
            </a:lvl6pPr>
            <a:lvl7pPr algn="l">
              <a:defRPr sz="1800" b="1">
                <a:solidFill>
                  <a:srgbClr val="202D3D"/>
                </a:solidFill>
                <a:latin typeface="Times New Roman"/>
                <a:ea typeface="Times New Roman"/>
                <a:cs typeface="Times New Roman"/>
              </a:defRPr>
            </a:lvl7pPr>
            <a:lvl8pPr algn="l">
              <a:defRPr sz="1800" b="1">
                <a:solidFill>
                  <a:srgbClr val="202D3D"/>
                </a:solidFill>
                <a:latin typeface="Times New Roman"/>
                <a:ea typeface="Times New Roman"/>
                <a:cs typeface="Times New Roman"/>
              </a:defRPr>
            </a:lvl8pPr>
            <a:lvl9pPr algn="l">
              <a:defRPr sz="1800" b="1">
                <a:solidFill>
                  <a:srgbClr val="202D3D"/>
                </a:solidFill>
                <a:latin typeface="Times New Roman"/>
                <a:ea typeface="Times New Roman"/>
                <a:cs typeface="Times New Roman"/>
              </a:defRPr>
            </a:lvl9pPr>
          </a:lstStyle>
          <a:p>
            <a:pPr algn="l">
              <a:defRPr sz="1800" b="1">
                <a:solidFill>
                  <a:srgbClr val="202D3D"/>
                </a:solidFill>
                <a:latin typeface="Times New Roman"/>
                <a:ea typeface="Times New Roman"/>
                <a:cs typeface="Times New Roman"/>
              </a:defRPr>
            </a:pPr>
            <a:r>
              <a:rPr sz="1800" b="1">
                <a:solidFill>
                  <a:srgbClr val="202D3D"/>
                </a:solidFill>
                <a:latin typeface="Times New Roman"/>
                <a:ea typeface="Times New Roman"/>
                <a:cs typeface="Times New Roman"/>
              </a:rPr>
              <a:t>Word embeddings</a:t>
            </a:r>
          </a:p>
        </p:txBody>
      </p:sp>
      <p:sp>
        <p:nvSpPr>
          <p:cNvPr id="12" name="Pennington, Socher &amp; Manning (2014), GloVe&#10;nlp.stanford.edu/proje">
            <a:extLst>
              <a:ext uri="{FF2B5EF4-FFF2-40B4-BE49-F238E27FC236}">
                <a16:creationId xmlns:a16="http://schemas.microsoft.com/office/drawing/2014/main" id="{51EFE1F6-6BA7-42C5-BDAC-E26D4706F3EB}"/>
              </a:ext>
            </a:extLst>
          </p:cNvPr>
          <p:cNvSpPr>
            <a:spLocks noGrp="1"/>
          </p:cNvSpPr>
          <p:nvPr/>
        </p:nvSpPr>
        <p:spPr>
          <a:xfrm>
            <a:off x="4143375" y="4305300"/>
            <a:ext cx="7439025" cy="714375"/>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Pennington, Socher &amp; Manning (2014), GloVe</a:t>
            </a:r>
          </a:p>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nlp.stanford.edu/projects/glove/</a:t>
            </a:r>
          </a:p>
        </p:txBody>
      </p:sp>
      <p:sp>
        <p:nvSpPr>
          <p:cNvPr id="13" name="CNN background">
            <a:extLst>
              <a:ext uri="{FF2B5EF4-FFF2-40B4-BE49-F238E27FC236}">
                <a16:creationId xmlns:a16="http://schemas.microsoft.com/office/drawing/2014/main" id="{43ECF793-E94B-45A0-A1FA-4C5A4E76AF12}"/>
              </a:ext>
            </a:extLst>
          </p:cNvPr>
          <p:cNvSpPr>
            <a:spLocks noGrp="1"/>
          </p:cNvSpPr>
          <p:nvPr/>
        </p:nvSpPr>
        <p:spPr>
          <a:xfrm>
            <a:off x="609600" y="5172075"/>
            <a:ext cx="3476625" cy="390525"/>
          </a:xfrm>
          <a:prstGeom prst="rect">
            <a:avLst/>
          </a:prstGeom>
          <a:noFill/>
          <a:ln w="0">
            <a:noFill/>
          </a:ln>
        </p:spPr>
        <p:txBody>
          <a:bodyPr wrap="square" lIns="0" tIns="0" rIns="0" bIns="0" anchor="t">
            <a:noAutofit/>
          </a:bodyPr>
          <a:lstStyle>
            <a:defPPr algn="l">
              <a:defRPr sz="1800" b="1">
                <a:solidFill>
                  <a:srgbClr val="202D3D"/>
                </a:solidFill>
                <a:latin typeface="Times New Roman"/>
                <a:ea typeface="Times New Roman"/>
                <a:cs typeface="Times New Roman"/>
              </a:defRPr>
            </a:defPPr>
            <a:lvl1pPr algn="l">
              <a:defRPr sz="1800" b="1">
                <a:solidFill>
                  <a:srgbClr val="202D3D"/>
                </a:solidFill>
                <a:latin typeface="Times New Roman"/>
                <a:ea typeface="Times New Roman"/>
                <a:cs typeface="Times New Roman"/>
              </a:defRPr>
            </a:lvl1pPr>
            <a:lvl2pPr algn="l">
              <a:defRPr sz="1800" b="1">
                <a:solidFill>
                  <a:srgbClr val="202D3D"/>
                </a:solidFill>
                <a:latin typeface="Times New Roman"/>
                <a:ea typeface="Times New Roman"/>
                <a:cs typeface="Times New Roman"/>
              </a:defRPr>
            </a:lvl2pPr>
            <a:lvl3pPr algn="l">
              <a:defRPr sz="1800" b="1">
                <a:solidFill>
                  <a:srgbClr val="202D3D"/>
                </a:solidFill>
                <a:latin typeface="Times New Roman"/>
                <a:ea typeface="Times New Roman"/>
                <a:cs typeface="Times New Roman"/>
              </a:defRPr>
            </a:lvl3pPr>
            <a:lvl4pPr algn="l">
              <a:defRPr sz="1800" b="1">
                <a:solidFill>
                  <a:srgbClr val="202D3D"/>
                </a:solidFill>
                <a:latin typeface="Times New Roman"/>
                <a:ea typeface="Times New Roman"/>
                <a:cs typeface="Times New Roman"/>
              </a:defRPr>
            </a:lvl4pPr>
            <a:lvl5pPr algn="l">
              <a:defRPr sz="1800" b="1">
                <a:solidFill>
                  <a:srgbClr val="202D3D"/>
                </a:solidFill>
                <a:latin typeface="Times New Roman"/>
                <a:ea typeface="Times New Roman"/>
                <a:cs typeface="Times New Roman"/>
              </a:defRPr>
            </a:lvl5pPr>
            <a:lvl6pPr algn="l">
              <a:defRPr sz="1800" b="1">
                <a:solidFill>
                  <a:srgbClr val="202D3D"/>
                </a:solidFill>
                <a:latin typeface="Times New Roman"/>
                <a:ea typeface="Times New Roman"/>
                <a:cs typeface="Times New Roman"/>
              </a:defRPr>
            </a:lvl6pPr>
            <a:lvl7pPr algn="l">
              <a:defRPr sz="1800" b="1">
                <a:solidFill>
                  <a:srgbClr val="202D3D"/>
                </a:solidFill>
                <a:latin typeface="Times New Roman"/>
                <a:ea typeface="Times New Roman"/>
                <a:cs typeface="Times New Roman"/>
              </a:defRPr>
            </a:lvl7pPr>
            <a:lvl8pPr algn="l">
              <a:defRPr sz="1800" b="1">
                <a:solidFill>
                  <a:srgbClr val="202D3D"/>
                </a:solidFill>
                <a:latin typeface="Times New Roman"/>
                <a:ea typeface="Times New Roman"/>
                <a:cs typeface="Times New Roman"/>
              </a:defRPr>
            </a:lvl8pPr>
            <a:lvl9pPr algn="l">
              <a:defRPr sz="1800" b="1">
                <a:solidFill>
                  <a:srgbClr val="202D3D"/>
                </a:solidFill>
                <a:latin typeface="Times New Roman"/>
                <a:ea typeface="Times New Roman"/>
                <a:cs typeface="Times New Roman"/>
              </a:defRPr>
            </a:lvl9pPr>
          </a:lstStyle>
          <a:p>
            <a:pPr algn="l">
              <a:defRPr sz="1800" b="1">
                <a:solidFill>
                  <a:srgbClr val="202D3D"/>
                </a:solidFill>
                <a:latin typeface="Times New Roman"/>
                <a:ea typeface="Times New Roman"/>
                <a:cs typeface="Times New Roman"/>
              </a:defRPr>
            </a:pPr>
            <a:r>
              <a:rPr sz="1800" b="1">
                <a:solidFill>
                  <a:srgbClr val="202D3D"/>
                </a:solidFill>
                <a:latin typeface="Times New Roman"/>
                <a:ea typeface="Times New Roman"/>
                <a:cs typeface="Times New Roman"/>
              </a:rPr>
              <a:t>CNN background</a:t>
            </a:r>
          </a:p>
        </p:txBody>
      </p:sp>
      <p:sp>
        <p:nvSpPr>
          <p:cNvPr id="14" name="Kim (2014), Convolutional Neural Networks for Sentence Classifica">
            <a:extLst>
              <a:ext uri="{FF2B5EF4-FFF2-40B4-BE49-F238E27FC236}">
                <a16:creationId xmlns:a16="http://schemas.microsoft.com/office/drawing/2014/main" id="{0FCFAB95-7E3C-44F3-A269-E5B078666200}"/>
              </a:ext>
            </a:extLst>
          </p:cNvPr>
          <p:cNvSpPr>
            <a:spLocks noGrp="1"/>
          </p:cNvSpPr>
          <p:nvPr/>
        </p:nvSpPr>
        <p:spPr>
          <a:xfrm>
            <a:off x="4143375" y="5172075"/>
            <a:ext cx="7439025" cy="714375"/>
          </a:xfrm>
          <a:prstGeom prst="rect">
            <a:avLst/>
          </a:prstGeom>
          <a:noFill/>
          <a:ln w="0">
            <a:noFill/>
          </a:ln>
        </p:spPr>
        <p:txBody>
          <a:bodyPr wrap="square" lIns="0" tIns="0" rIns="0" bIns="0" anchor="t">
            <a:noAutofit/>
          </a:bodyPr>
          <a:lstStyle>
            <a:defPPr algn="l">
              <a:defRPr sz="1725" b="0">
                <a:solidFill>
                  <a:srgbClr val="202D3D"/>
                </a:solidFill>
                <a:latin typeface="Times New Roman"/>
                <a:ea typeface="Times New Roman"/>
                <a:cs typeface="Times New Roman"/>
              </a:defRPr>
            </a:defPPr>
            <a:lvl1pPr algn="l">
              <a:defRPr sz="1725" b="0">
                <a:solidFill>
                  <a:srgbClr val="202D3D"/>
                </a:solidFill>
                <a:latin typeface="Times New Roman"/>
                <a:ea typeface="Times New Roman"/>
                <a:cs typeface="Times New Roman"/>
              </a:defRPr>
            </a:lvl1pPr>
            <a:lvl2pPr algn="l">
              <a:defRPr sz="1725" b="0">
                <a:solidFill>
                  <a:srgbClr val="202D3D"/>
                </a:solidFill>
                <a:latin typeface="Times New Roman"/>
                <a:ea typeface="Times New Roman"/>
                <a:cs typeface="Times New Roman"/>
              </a:defRPr>
            </a:lvl2pPr>
            <a:lvl3pPr algn="l">
              <a:defRPr sz="1725" b="0">
                <a:solidFill>
                  <a:srgbClr val="202D3D"/>
                </a:solidFill>
                <a:latin typeface="Times New Roman"/>
                <a:ea typeface="Times New Roman"/>
                <a:cs typeface="Times New Roman"/>
              </a:defRPr>
            </a:lvl3pPr>
            <a:lvl4pPr algn="l">
              <a:defRPr sz="1725" b="0">
                <a:solidFill>
                  <a:srgbClr val="202D3D"/>
                </a:solidFill>
                <a:latin typeface="Times New Roman"/>
                <a:ea typeface="Times New Roman"/>
                <a:cs typeface="Times New Roman"/>
              </a:defRPr>
            </a:lvl4pPr>
            <a:lvl5pPr algn="l">
              <a:defRPr sz="1725" b="0">
                <a:solidFill>
                  <a:srgbClr val="202D3D"/>
                </a:solidFill>
                <a:latin typeface="Times New Roman"/>
                <a:ea typeface="Times New Roman"/>
                <a:cs typeface="Times New Roman"/>
              </a:defRPr>
            </a:lvl5pPr>
            <a:lvl6pPr algn="l">
              <a:defRPr sz="1725" b="0">
                <a:solidFill>
                  <a:srgbClr val="202D3D"/>
                </a:solidFill>
                <a:latin typeface="Times New Roman"/>
                <a:ea typeface="Times New Roman"/>
                <a:cs typeface="Times New Roman"/>
              </a:defRPr>
            </a:lvl6pPr>
            <a:lvl7pPr algn="l">
              <a:defRPr sz="1725" b="0">
                <a:solidFill>
                  <a:srgbClr val="202D3D"/>
                </a:solidFill>
                <a:latin typeface="Times New Roman"/>
                <a:ea typeface="Times New Roman"/>
                <a:cs typeface="Times New Roman"/>
              </a:defRPr>
            </a:lvl7pPr>
            <a:lvl8pPr algn="l">
              <a:defRPr sz="1725" b="0">
                <a:solidFill>
                  <a:srgbClr val="202D3D"/>
                </a:solidFill>
                <a:latin typeface="Times New Roman"/>
                <a:ea typeface="Times New Roman"/>
                <a:cs typeface="Times New Roman"/>
              </a:defRPr>
            </a:lvl8pPr>
            <a:lvl9pPr algn="l">
              <a:defRPr sz="1725" b="0">
                <a:solidFill>
                  <a:srgbClr val="202D3D"/>
                </a:solidFill>
                <a:latin typeface="Times New Roman"/>
                <a:ea typeface="Times New Roman"/>
                <a:cs typeface="Times New Roman"/>
              </a:defRPr>
            </a:lvl9pPr>
          </a:lstStyle>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Kim (2014), Convolutional Neural Networks for Sentence Classification</a:t>
            </a:r>
          </a:p>
          <a:p>
            <a:pPr algn="l">
              <a:defRPr sz="1725" b="0">
                <a:solidFill>
                  <a:srgbClr val="202D3D"/>
                </a:solidFill>
                <a:latin typeface="Times New Roman"/>
                <a:ea typeface="Times New Roman"/>
                <a:cs typeface="Times New Roman"/>
              </a:defRPr>
            </a:pPr>
            <a:r>
              <a:rPr sz="1725" b="0">
                <a:solidFill>
                  <a:srgbClr val="202D3D"/>
                </a:solidFill>
                <a:latin typeface="Times New Roman"/>
                <a:ea typeface="Times New Roman"/>
                <a:cs typeface="Times New Roman"/>
              </a:rPr>
              <a:t>aclanthology.org/D14-1181/</a:t>
            </a:r>
          </a:p>
        </p:txBody>
      </p:sp>
    </p:spTree>
    <p:extLst>
      <p:ext uri="{BB962C8B-B14F-4D97-AF65-F5344CB8AC3E}">
        <p14:creationId xmlns:p14="http://schemas.microsoft.com/office/powerpoint/2010/main" val="1699300849"/>
      </p:ext>
    </p:extLst>
  </p:cSld>
  <p:clrMapOvr>
    <a:masterClrMapping/>
  </p:clrMapOvr>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Presentation outline">
            <a:extLst xmlns:a="http://schemas.openxmlformats.org/drawingml/2006/main">
              <a:ext uri="{FF2B5EF4-FFF2-40B4-BE49-F238E27FC236}">
                <a16:creationId xmlns:a16="http://schemas.microsoft.com/office/drawing/2014/main" id="{DC8EBD21-1D58-4051-9247-D14650B52EC3}"/>
              </a:ext>
            </a:extLst>
          </p:cNvPr>
          <p:cNvSpPr>
            <a:spLocks xmlns:a="http://schemas.openxmlformats.org/drawingml/2006/main" noGrp="1"/>
          </p:cNvSpPr>
          <p:nvPr/>
        </p:nvSpPr>
        <p:spPr>
          <a:xfrm xmlns:a="http://schemas.openxmlformats.org/drawingml/2006/main">
            <a:off x="609600" y="5048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7365D"/>
                </a:solidFill>
                <a:latin typeface="Times New Roman"/>
                <a:ea typeface="Times New Roman"/>
                <a:cs typeface="Times New Roman"/>
              </a:defRPr>
            </a:defPPr>
            <a:lvl1pPr algn="l">
              <a:defRPr sz="3225" b="1">
                <a:solidFill>
                  <a:srgbClr val="17365D"/>
                </a:solidFill>
                <a:latin typeface="Times New Roman"/>
                <a:ea typeface="Times New Roman"/>
                <a:cs typeface="Times New Roman"/>
              </a:defRPr>
            </a:lvl1pPr>
            <a:lvl2pPr algn="l">
              <a:defRPr sz="3225" b="1">
                <a:solidFill>
                  <a:srgbClr val="17365D"/>
                </a:solidFill>
                <a:latin typeface="Times New Roman"/>
                <a:ea typeface="Times New Roman"/>
                <a:cs typeface="Times New Roman"/>
              </a:defRPr>
            </a:lvl2pPr>
            <a:lvl3pPr algn="l">
              <a:defRPr sz="3225" b="1">
                <a:solidFill>
                  <a:srgbClr val="17365D"/>
                </a:solidFill>
                <a:latin typeface="Times New Roman"/>
                <a:ea typeface="Times New Roman"/>
                <a:cs typeface="Times New Roman"/>
              </a:defRPr>
            </a:lvl3pPr>
            <a:lvl4pPr algn="l">
              <a:defRPr sz="3225" b="1">
                <a:solidFill>
                  <a:srgbClr val="17365D"/>
                </a:solidFill>
                <a:latin typeface="Times New Roman"/>
                <a:ea typeface="Times New Roman"/>
                <a:cs typeface="Times New Roman"/>
              </a:defRPr>
            </a:lvl4pPr>
            <a:lvl5pPr algn="l">
              <a:defRPr sz="3225" b="1">
                <a:solidFill>
                  <a:srgbClr val="17365D"/>
                </a:solidFill>
                <a:latin typeface="Times New Roman"/>
                <a:ea typeface="Times New Roman"/>
                <a:cs typeface="Times New Roman"/>
              </a:defRPr>
            </a:lvl5pPr>
            <a:lvl6pPr algn="l">
              <a:defRPr sz="3225" b="1">
                <a:solidFill>
                  <a:srgbClr val="17365D"/>
                </a:solidFill>
                <a:latin typeface="Times New Roman"/>
                <a:ea typeface="Times New Roman"/>
                <a:cs typeface="Times New Roman"/>
              </a:defRPr>
            </a:lvl6pPr>
            <a:lvl7pPr algn="l">
              <a:defRPr sz="3225" b="1">
                <a:solidFill>
                  <a:srgbClr val="17365D"/>
                </a:solidFill>
                <a:latin typeface="Times New Roman"/>
                <a:ea typeface="Times New Roman"/>
                <a:cs typeface="Times New Roman"/>
              </a:defRPr>
            </a:lvl7pPr>
            <a:lvl8pPr algn="l">
              <a:defRPr sz="3225" b="1">
                <a:solidFill>
                  <a:srgbClr val="17365D"/>
                </a:solidFill>
                <a:latin typeface="Times New Roman"/>
                <a:ea typeface="Times New Roman"/>
                <a:cs typeface="Times New Roman"/>
              </a:defRPr>
            </a:lvl8pPr>
            <a:lvl9pPr algn="l">
              <a:defRPr sz="3225" b="1">
                <a:solidFill>
                  <a:srgbClr val="17365D"/>
                </a:solidFill>
                <a:latin typeface="Times New Roman"/>
                <a:ea typeface="Times New Roman"/>
                <a:cs typeface="Times New Roman"/>
              </a:defRPr>
            </a:lvl9pPr>
          </a:lstStyle>
          <a:p xmlns:a="http://schemas.openxmlformats.org/drawingml/2006/main">
            <a:pPr algn="l">
              <a:defRPr sz="3225" b="1">
                <a:solidFill>
                  <a:srgbClr val="17365D"/>
                </a:solidFill>
                <a:latin typeface="Times New Roman"/>
                <a:ea typeface="Times New Roman"/>
                <a:cs typeface="Times New Roman"/>
              </a:defRPr>
            </a:pPr>
            <a:r>
              <a:rPr sz="3225" b="1">
                <a:solidFill>
                  <a:srgbClr val="17365D"/>
                </a:solidFill>
                <a:latin typeface="Times New Roman"/>
                <a:ea typeface="Times New Roman"/>
                <a:cs typeface="Times New Roman"/>
              </a:rPr>
              <a:t>Presentation outline</a:t>
            </a:r>
          </a:p>
        </p:txBody>
      </p:sp>
      <p:sp>
        <p:nvSpPr>
          <p:cNvPr id="2" name="">
            <a:extLst xmlns:a="http://schemas.openxmlformats.org/drawingml/2006/main">
              <a:ext uri="{FF2B5EF4-FFF2-40B4-BE49-F238E27FC236}">
                <a16:creationId xmlns:a16="http://schemas.microsoft.com/office/drawing/2014/main" id="{5242D4B6-AB32-460E-8769-810CF8CCA1D3}"/>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14288">
            <a:solidFill>
              <a:srgbClr val="2563EB"/>
            </a:solidFill>
            <a:prstDash val="solid"/>
          </a:ln>
        </p:spPr>
      </p:sp>
      <p:sp>
        <p:nvSpPr>
          <p:cNvPr id="3" name="1. Introduction and problem">
            <a:extLst xmlns:a="http://schemas.openxmlformats.org/drawingml/2006/main">
              <a:ext uri="{FF2B5EF4-FFF2-40B4-BE49-F238E27FC236}">
                <a16:creationId xmlns:a16="http://schemas.microsoft.com/office/drawing/2014/main" id="{87B90982-06D2-4FC4-BE00-6B07A554DCBD}"/>
              </a:ext>
            </a:extLst>
          </p:cNvPr>
          <p:cNvSpPr>
            <a:spLocks xmlns:a="http://schemas.openxmlformats.org/drawingml/2006/main" noGrp="1"/>
          </p:cNvSpPr>
          <p:nvPr/>
        </p:nvSpPr>
        <p:spPr>
          <a:xfrm xmlns:a="http://schemas.openxmlformats.org/drawingml/2006/main">
            <a:off x="609600" y="6419850"/>
            <a:ext cx="971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64748B"/>
                </a:solidFill>
                <a:latin typeface="Times New Roman"/>
                <a:ea typeface="Times New Roman"/>
                <a:cs typeface="Times New Roman"/>
              </a:defRPr>
            </a:defPPr>
            <a:lvl1pPr algn="l">
              <a:defRPr sz="1200" b="0">
                <a:solidFill>
                  <a:srgbClr val="64748B"/>
                </a:solidFill>
                <a:latin typeface="Times New Roman"/>
                <a:ea typeface="Times New Roman"/>
                <a:cs typeface="Times New Roman"/>
              </a:defRPr>
            </a:lvl1pPr>
            <a:lvl2pPr algn="l">
              <a:defRPr sz="1200" b="0">
                <a:solidFill>
                  <a:srgbClr val="64748B"/>
                </a:solidFill>
                <a:latin typeface="Times New Roman"/>
                <a:ea typeface="Times New Roman"/>
                <a:cs typeface="Times New Roman"/>
              </a:defRPr>
            </a:lvl2pPr>
            <a:lvl3pPr algn="l">
              <a:defRPr sz="1200" b="0">
                <a:solidFill>
                  <a:srgbClr val="64748B"/>
                </a:solidFill>
                <a:latin typeface="Times New Roman"/>
                <a:ea typeface="Times New Roman"/>
                <a:cs typeface="Times New Roman"/>
              </a:defRPr>
            </a:lvl3pPr>
            <a:lvl4pPr algn="l">
              <a:defRPr sz="1200" b="0">
                <a:solidFill>
                  <a:srgbClr val="64748B"/>
                </a:solidFill>
                <a:latin typeface="Times New Roman"/>
                <a:ea typeface="Times New Roman"/>
                <a:cs typeface="Times New Roman"/>
              </a:defRPr>
            </a:lvl4pPr>
            <a:lvl5pPr algn="l">
              <a:defRPr sz="1200" b="0">
                <a:solidFill>
                  <a:srgbClr val="64748B"/>
                </a:solidFill>
                <a:latin typeface="Times New Roman"/>
                <a:ea typeface="Times New Roman"/>
                <a:cs typeface="Times New Roman"/>
              </a:defRPr>
            </a:lvl5pPr>
            <a:lvl6pPr algn="l">
              <a:defRPr sz="1200" b="0">
                <a:solidFill>
                  <a:srgbClr val="64748B"/>
                </a:solidFill>
                <a:latin typeface="Times New Roman"/>
                <a:ea typeface="Times New Roman"/>
                <a:cs typeface="Times New Roman"/>
              </a:defRPr>
            </a:lvl6pPr>
            <a:lvl7pPr algn="l">
              <a:defRPr sz="1200" b="0">
                <a:solidFill>
                  <a:srgbClr val="64748B"/>
                </a:solidFill>
                <a:latin typeface="Times New Roman"/>
                <a:ea typeface="Times New Roman"/>
                <a:cs typeface="Times New Roman"/>
              </a:defRPr>
            </a:lvl7pPr>
            <a:lvl8pPr algn="l">
              <a:defRPr sz="1200" b="0">
                <a:solidFill>
                  <a:srgbClr val="64748B"/>
                </a:solidFill>
                <a:latin typeface="Times New Roman"/>
                <a:ea typeface="Times New Roman"/>
                <a:cs typeface="Times New Roman"/>
              </a:defRPr>
            </a:lvl8pPr>
            <a:lvl9pPr algn="l">
              <a:defRPr sz="1200" b="0">
                <a:solidFill>
                  <a:srgbClr val="64748B"/>
                </a:solidFill>
                <a:latin typeface="Times New Roman"/>
                <a:ea typeface="Times New Roman"/>
                <a:cs typeface="Times New Roman"/>
              </a:defRPr>
            </a:lvl9pPr>
          </a:lstStyle>
          <a:p xmlns:a="http://schemas.openxmlformats.org/drawingml/2006/main">
            <a:pPr algn="l">
              <a:defRPr sz="1200" b="0">
                <a:solidFill>
                  <a:srgbClr val="64748B"/>
                </a:solidFill>
                <a:latin typeface="Times New Roman"/>
                <a:ea typeface="Times New Roman"/>
                <a:cs typeface="Times New Roman"/>
              </a:defRPr>
            </a:pPr>
            <a:r>
              <a:rPr sz="1200" b="0">
                <a:solidFill>
                  <a:srgbClr val="64748B"/>
                </a:solidFill>
                <a:latin typeface="Times New Roman"/>
                <a:ea typeface="Times New Roman"/>
                <a:cs typeface="Times New Roman"/>
              </a:rPr>
              <a:t>1. Introduction and problem</a:t>
            </a:r>
          </a:p>
        </p:txBody>
      </p:sp>
      <p:sp>
        <p:nvSpPr>
          <p:cNvPr id="4" name="02 / 13">
            <a:extLst xmlns:a="http://schemas.openxmlformats.org/drawingml/2006/main">
              <a:ext uri="{FF2B5EF4-FFF2-40B4-BE49-F238E27FC236}">
                <a16:creationId xmlns:a16="http://schemas.microsoft.com/office/drawing/2014/main" id="{3FC99462-05F9-49D3-AB7C-0F8DD3B5F814}"/>
              </a:ext>
            </a:extLst>
          </p:cNvPr>
          <p:cNvSpPr>
            <a:spLocks xmlns:a="http://schemas.openxmlformats.org/drawingml/2006/main" noGrp="1"/>
          </p:cNvSpPr>
          <p:nvPr/>
        </p:nvSpPr>
        <p:spPr>
          <a:xfrm xmlns:a="http://schemas.openxmlformats.org/drawingml/2006/main">
            <a:off x="10477500" y="6419850"/>
            <a:ext cx="1104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64748B"/>
                </a:solidFill>
                <a:latin typeface="Times New Roman"/>
                <a:ea typeface="Times New Roman"/>
                <a:cs typeface="Times New Roman"/>
              </a:defRPr>
            </a:defPPr>
            <a:lvl1pPr algn="r">
              <a:defRPr sz="1200" b="0">
                <a:solidFill>
                  <a:srgbClr val="64748B"/>
                </a:solidFill>
                <a:latin typeface="Times New Roman"/>
                <a:ea typeface="Times New Roman"/>
                <a:cs typeface="Times New Roman"/>
              </a:defRPr>
            </a:lvl1pPr>
            <a:lvl2pPr algn="r">
              <a:defRPr sz="1200" b="0">
                <a:solidFill>
                  <a:srgbClr val="64748B"/>
                </a:solidFill>
                <a:latin typeface="Times New Roman"/>
                <a:ea typeface="Times New Roman"/>
                <a:cs typeface="Times New Roman"/>
              </a:defRPr>
            </a:lvl2pPr>
            <a:lvl3pPr algn="r">
              <a:defRPr sz="1200" b="0">
                <a:solidFill>
                  <a:srgbClr val="64748B"/>
                </a:solidFill>
                <a:latin typeface="Times New Roman"/>
                <a:ea typeface="Times New Roman"/>
                <a:cs typeface="Times New Roman"/>
              </a:defRPr>
            </a:lvl3pPr>
            <a:lvl4pPr algn="r">
              <a:defRPr sz="1200" b="0">
                <a:solidFill>
                  <a:srgbClr val="64748B"/>
                </a:solidFill>
                <a:latin typeface="Times New Roman"/>
                <a:ea typeface="Times New Roman"/>
                <a:cs typeface="Times New Roman"/>
              </a:defRPr>
            </a:lvl4pPr>
            <a:lvl5pPr algn="r">
              <a:defRPr sz="1200" b="0">
                <a:solidFill>
                  <a:srgbClr val="64748B"/>
                </a:solidFill>
                <a:latin typeface="Times New Roman"/>
                <a:ea typeface="Times New Roman"/>
                <a:cs typeface="Times New Roman"/>
              </a:defRPr>
            </a:lvl5pPr>
            <a:lvl6pPr algn="r">
              <a:defRPr sz="1200" b="0">
                <a:solidFill>
                  <a:srgbClr val="64748B"/>
                </a:solidFill>
                <a:latin typeface="Times New Roman"/>
                <a:ea typeface="Times New Roman"/>
                <a:cs typeface="Times New Roman"/>
              </a:defRPr>
            </a:lvl6pPr>
            <a:lvl7pPr algn="r">
              <a:defRPr sz="1200" b="0">
                <a:solidFill>
                  <a:srgbClr val="64748B"/>
                </a:solidFill>
                <a:latin typeface="Times New Roman"/>
                <a:ea typeface="Times New Roman"/>
                <a:cs typeface="Times New Roman"/>
              </a:defRPr>
            </a:lvl7pPr>
            <a:lvl8pPr algn="r">
              <a:defRPr sz="1200" b="0">
                <a:solidFill>
                  <a:srgbClr val="64748B"/>
                </a:solidFill>
                <a:latin typeface="Times New Roman"/>
                <a:ea typeface="Times New Roman"/>
                <a:cs typeface="Times New Roman"/>
              </a:defRPr>
            </a:lvl8pPr>
            <a:lvl9pPr algn="r">
              <a:defRPr sz="1200" b="0">
                <a:solidFill>
                  <a:srgbClr val="64748B"/>
                </a:solidFill>
                <a:latin typeface="Times New Roman"/>
                <a:ea typeface="Times New Roman"/>
                <a:cs typeface="Times New Roman"/>
              </a:defRPr>
            </a:lvl9pPr>
          </a:lstStyle>
          <ns0:p xmlns:ns0="http://schemas.openxmlformats.org/drawingml/2006/main">
            <ns0:pPr algn="r">
              <ns0:defRPr sz="1200" b="0">
                <ns0:solidFill>
                  <ns0:srgbClr val="64748B"/>
                </ns0:solidFill>
                <ns0:latin typeface="Times New Roman"/>
                <ns0:ea typeface="Times New Roman"/>
                <ns0:cs typeface="Times New Roman"/>
              </ns0:defRPr>
            </ns0:pPr>
            <ns0:r>
              <ns0:rPr sz="1200" b="0">
                <ns0:solidFill>
                  <ns0:srgbClr val="64748B"/>
                </ns0:solidFill>
                <ns0:latin typeface="Times New Roman"/>
                <ns0:ea typeface="Times New Roman"/>
                <ns0:cs typeface="Times New Roman"/>
              </ns0:rPr>
              <ns0:t>02 / 14</ns0:t>
            </ns0:r>
          </ns0:p>
        </p:txBody>
      </p:sp>
      <p:sp>
        <p:nvSpPr>
          <p:cNvPr id="5" name="01">
            <a:extLst xmlns:a="http://schemas.openxmlformats.org/drawingml/2006/main">
              <a:ext uri="{FF2B5EF4-FFF2-40B4-BE49-F238E27FC236}">
                <a16:creationId xmlns:a16="http://schemas.microsoft.com/office/drawing/2014/main" id="{E01A2943-F152-478D-83B9-8453DB303A32}"/>
              </a:ext>
            </a:extLst>
          </p:cNvPr>
          <p:cNvSpPr>
            <a:spLocks xmlns:a="http://schemas.openxmlformats.org/drawingml/2006/main" noGrp="1"/>
          </p:cNvSpPr>
          <p:nvPr/>
        </p:nvSpPr>
        <p:spPr>
          <a:xfrm xmlns:a="http://schemas.openxmlformats.org/drawingml/2006/main">
            <a:off x="666750" y="1714500"/>
            <a:ext cx="52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Times New Roman"/>
                <a:ea typeface="Times New Roman"/>
                <a:cs typeface="Times New Roman"/>
              </a:defRPr>
            </a:defPPr>
            <a:lvl1pPr algn="l">
              <a:defRPr sz="2100" b="1">
                <a:solidFill>
                  <a:srgbClr val="2563EB"/>
                </a:solidFill>
                <a:latin typeface="Times New Roman"/>
                <a:ea typeface="Times New Roman"/>
                <a:cs typeface="Times New Roman"/>
              </a:defRPr>
            </a:lvl1pPr>
            <a:lvl2pPr algn="l">
              <a:defRPr sz="2100" b="1">
                <a:solidFill>
                  <a:srgbClr val="2563EB"/>
                </a:solidFill>
                <a:latin typeface="Times New Roman"/>
                <a:ea typeface="Times New Roman"/>
                <a:cs typeface="Times New Roman"/>
              </a:defRPr>
            </a:lvl2pPr>
            <a:lvl3pPr algn="l">
              <a:defRPr sz="2100" b="1">
                <a:solidFill>
                  <a:srgbClr val="2563EB"/>
                </a:solidFill>
                <a:latin typeface="Times New Roman"/>
                <a:ea typeface="Times New Roman"/>
                <a:cs typeface="Times New Roman"/>
              </a:defRPr>
            </a:lvl3pPr>
            <a:lvl4pPr algn="l">
              <a:defRPr sz="2100" b="1">
                <a:solidFill>
                  <a:srgbClr val="2563EB"/>
                </a:solidFill>
                <a:latin typeface="Times New Roman"/>
                <a:ea typeface="Times New Roman"/>
                <a:cs typeface="Times New Roman"/>
              </a:defRPr>
            </a:lvl4pPr>
            <a:lvl5pPr algn="l">
              <a:defRPr sz="2100" b="1">
                <a:solidFill>
                  <a:srgbClr val="2563EB"/>
                </a:solidFill>
                <a:latin typeface="Times New Roman"/>
                <a:ea typeface="Times New Roman"/>
                <a:cs typeface="Times New Roman"/>
              </a:defRPr>
            </a:lvl5pPr>
            <a:lvl6pPr algn="l">
              <a:defRPr sz="2100" b="1">
                <a:solidFill>
                  <a:srgbClr val="2563EB"/>
                </a:solidFill>
                <a:latin typeface="Times New Roman"/>
                <a:ea typeface="Times New Roman"/>
                <a:cs typeface="Times New Roman"/>
              </a:defRPr>
            </a:lvl6pPr>
            <a:lvl7pPr algn="l">
              <a:defRPr sz="2100" b="1">
                <a:solidFill>
                  <a:srgbClr val="2563EB"/>
                </a:solidFill>
                <a:latin typeface="Times New Roman"/>
                <a:ea typeface="Times New Roman"/>
                <a:cs typeface="Times New Roman"/>
              </a:defRPr>
            </a:lvl7pPr>
            <a:lvl8pPr algn="l">
              <a:defRPr sz="2100" b="1">
                <a:solidFill>
                  <a:srgbClr val="2563EB"/>
                </a:solidFill>
                <a:latin typeface="Times New Roman"/>
                <a:ea typeface="Times New Roman"/>
                <a:cs typeface="Times New Roman"/>
              </a:defRPr>
            </a:lvl8pPr>
            <a:lvl9pPr algn="l">
              <a:defRPr sz="2100" b="1">
                <a:solidFill>
                  <a:srgbClr val="2563EB"/>
                </a:solidFill>
                <a:latin typeface="Times New Roman"/>
                <a:ea typeface="Times New Roman"/>
                <a:cs typeface="Times New Roman"/>
              </a:defRPr>
            </a:lvl9pPr>
          </a:lstStyle>
          <a:p xmlns:a="http://schemas.openxmlformats.org/drawingml/2006/main">
            <a:pPr algn="l">
              <a:defRPr sz="2100" b="1">
                <a:solidFill>
                  <a:srgbClr val="2563EB"/>
                </a:solidFill>
                <a:latin typeface="Times New Roman"/>
                <a:ea typeface="Times New Roman"/>
                <a:cs typeface="Times New Roman"/>
              </a:defRPr>
            </a:pPr>
            <a:r>
              <a:rPr sz="2100" b="1">
                <a:solidFill>
                  <a:srgbClr val="2563EB"/>
                </a:solidFill>
                <a:latin typeface="Times New Roman"/>
                <a:ea typeface="Times New Roman"/>
                <a:cs typeface="Times New Roman"/>
              </a:rPr>
              <a:t>01</a:t>
            </a:r>
          </a:p>
        </p:txBody>
      </p:sp>
      <p:sp>
        <p:nvSpPr>
          <p:cNvPr id="6" name="Introduction and problem">
            <a:extLst xmlns:a="http://schemas.openxmlformats.org/drawingml/2006/main">
              <a:ext uri="{FF2B5EF4-FFF2-40B4-BE49-F238E27FC236}">
                <a16:creationId xmlns:a16="http://schemas.microsoft.com/office/drawing/2014/main" id="{8EC2E751-3ED8-4D08-9D09-77CDEDAE7377}"/>
              </a:ext>
            </a:extLst>
          </p:cNvPr>
          <p:cNvSpPr>
            <a:spLocks xmlns:a="http://schemas.openxmlformats.org/drawingml/2006/main" noGrp="1"/>
          </p:cNvSpPr>
          <p:nvPr/>
        </p:nvSpPr>
        <p:spPr>
          <a:xfrm xmlns:a="http://schemas.openxmlformats.org/drawingml/2006/main">
            <a:off x="1362075" y="17145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D3D"/>
                </a:solidFill>
                <a:latin typeface="Times New Roman"/>
                <a:ea typeface="Times New Roman"/>
                <a:cs typeface="Times New Roman"/>
              </a:defRPr>
            </a:defPPr>
            <a:lvl1pPr algn="l">
              <a:defRPr sz="2100" b="0">
                <a:solidFill>
                  <a:srgbClr val="202D3D"/>
                </a:solidFill>
                <a:latin typeface="Times New Roman"/>
                <a:ea typeface="Times New Roman"/>
                <a:cs typeface="Times New Roman"/>
              </a:defRPr>
            </a:lvl1pPr>
            <a:lvl2pPr algn="l">
              <a:defRPr sz="2100" b="0">
                <a:solidFill>
                  <a:srgbClr val="202D3D"/>
                </a:solidFill>
                <a:latin typeface="Times New Roman"/>
                <a:ea typeface="Times New Roman"/>
                <a:cs typeface="Times New Roman"/>
              </a:defRPr>
            </a:lvl2pPr>
            <a:lvl3pPr algn="l">
              <a:defRPr sz="2100" b="0">
                <a:solidFill>
                  <a:srgbClr val="202D3D"/>
                </a:solidFill>
                <a:latin typeface="Times New Roman"/>
                <a:ea typeface="Times New Roman"/>
                <a:cs typeface="Times New Roman"/>
              </a:defRPr>
            </a:lvl3pPr>
            <a:lvl4pPr algn="l">
              <a:defRPr sz="2100" b="0">
                <a:solidFill>
                  <a:srgbClr val="202D3D"/>
                </a:solidFill>
                <a:latin typeface="Times New Roman"/>
                <a:ea typeface="Times New Roman"/>
                <a:cs typeface="Times New Roman"/>
              </a:defRPr>
            </a:lvl4pPr>
            <a:lvl5pPr algn="l">
              <a:defRPr sz="2100" b="0">
                <a:solidFill>
                  <a:srgbClr val="202D3D"/>
                </a:solidFill>
                <a:latin typeface="Times New Roman"/>
                <a:ea typeface="Times New Roman"/>
                <a:cs typeface="Times New Roman"/>
              </a:defRPr>
            </a:lvl5pPr>
            <a:lvl6pPr algn="l">
              <a:defRPr sz="2100" b="0">
                <a:solidFill>
                  <a:srgbClr val="202D3D"/>
                </a:solidFill>
                <a:latin typeface="Times New Roman"/>
                <a:ea typeface="Times New Roman"/>
                <a:cs typeface="Times New Roman"/>
              </a:defRPr>
            </a:lvl6pPr>
            <a:lvl7pPr algn="l">
              <a:defRPr sz="2100" b="0">
                <a:solidFill>
                  <a:srgbClr val="202D3D"/>
                </a:solidFill>
                <a:latin typeface="Times New Roman"/>
                <a:ea typeface="Times New Roman"/>
                <a:cs typeface="Times New Roman"/>
              </a:defRPr>
            </a:lvl7pPr>
            <a:lvl8pPr algn="l">
              <a:defRPr sz="2100" b="0">
                <a:solidFill>
                  <a:srgbClr val="202D3D"/>
                </a:solidFill>
                <a:latin typeface="Times New Roman"/>
                <a:ea typeface="Times New Roman"/>
                <a:cs typeface="Times New Roman"/>
              </a:defRPr>
            </a:lvl8pPr>
            <a:lvl9pPr algn="l">
              <a:defRPr sz="2100" b="0">
                <a:solidFill>
                  <a:srgbClr val="202D3D"/>
                </a:solidFill>
                <a:latin typeface="Times New Roman"/>
                <a:ea typeface="Times New Roman"/>
                <a:cs typeface="Times New Roman"/>
              </a:defRPr>
            </a:lvl9pPr>
          </a:lstStyle>
          <a:p xmlns:a="http://schemas.openxmlformats.org/drawingml/2006/main">
            <a:pPr algn="l">
              <a:defRPr sz="2100" b="0">
                <a:solidFill>
                  <a:srgbClr val="202D3D"/>
                </a:solidFill>
                <a:latin typeface="Times New Roman"/>
                <a:ea typeface="Times New Roman"/>
                <a:cs typeface="Times New Roman"/>
              </a:defRPr>
            </a:pPr>
            <a:r>
              <a:rPr sz="2100" b="0">
                <a:solidFill>
                  <a:srgbClr val="202D3D"/>
                </a:solidFill>
                <a:latin typeface="Times New Roman"/>
                <a:ea typeface="Times New Roman"/>
                <a:cs typeface="Times New Roman"/>
              </a:rPr>
              <a:t>Introduction and problem</a:t>
            </a:r>
          </a:p>
        </p:txBody>
      </p:sp>
      <p:sp>
        <p:nvSpPr>
          <p:cNvPr id="7" name="02">
            <a:extLst xmlns:a="http://schemas.openxmlformats.org/drawingml/2006/main">
              <a:ext uri="{FF2B5EF4-FFF2-40B4-BE49-F238E27FC236}">
                <a16:creationId xmlns:a16="http://schemas.microsoft.com/office/drawing/2014/main" id="{9412D6DD-7968-4B58-A821-C9245F1950CE}"/>
              </a:ext>
            </a:extLst>
          </p:cNvPr>
          <p:cNvSpPr>
            <a:spLocks xmlns:a="http://schemas.openxmlformats.org/drawingml/2006/main" noGrp="1"/>
          </p:cNvSpPr>
          <p:nvPr/>
        </p:nvSpPr>
        <p:spPr>
          <a:xfrm xmlns:a="http://schemas.openxmlformats.org/drawingml/2006/main">
            <a:off x="666750" y="2314575"/>
            <a:ext cx="52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Times New Roman"/>
                <a:ea typeface="Times New Roman"/>
                <a:cs typeface="Times New Roman"/>
              </a:defRPr>
            </a:defPPr>
            <a:lvl1pPr algn="l">
              <a:defRPr sz="2100" b="1">
                <a:solidFill>
                  <a:srgbClr val="2563EB"/>
                </a:solidFill>
                <a:latin typeface="Times New Roman"/>
                <a:ea typeface="Times New Roman"/>
                <a:cs typeface="Times New Roman"/>
              </a:defRPr>
            </a:lvl1pPr>
            <a:lvl2pPr algn="l">
              <a:defRPr sz="2100" b="1">
                <a:solidFill>
                  <a:srgbClr val="2563EB"/>
                </a:solidFill>
                <a:latin typeface="Times New Roman"/>
                <a:ea typeface="Times New Roman"/>
                <a:cs typeface="Times New Roman"/>
              </a:defRPr>
            </a:lvl2pPr>
            <a:lvl3pPr algn="l">
              <a:defRPr sz="2100" b="1">
                <a:solidFill>
                  <a:srgbClr val="2563EB"/>
                </a:solidFill>
                <a:latin typeface="Times New Roman"/>
                <a:ea typeface="Times New Roman"/>
                <a:cs typeface="Times New Roman"/>
              </a:defRPr>
            </a:lvl3pPr>
            <a:lvl4pPr algn="l">
              <a:defRPr sz="2100" b="1">
                <a:solidFill>
                  <a:srgbClr val="2563EB"/>
                </a:solidFill>
                <a:latin typeface="Times New Roman"/>
                <a:ea typeface="Times New Roman"/>
                <a:cs typeface="Times New Roman"/>
              </a:defRPr>
            </a:lvl4pPr>
            <a:lvl5pPr algn="l">
              <a:defRPr sz="2100" b="1">
                <a:solidFill>
                  <a:srgbClr val="2563EB"/>
                </a:solidFill>
                <a:latin typeface="Times New Roman"/>
                <a:ea typeface="Times New Roman"/>
                <a:cs typeface="Times New Roman"/>
              </a:defRPr>
            </a:lvl5pPr>
            <a:lvl6pPr algn="l">
              <a:defRPr sz="2100" b="1">
                <a:solidFill>
                  <a:srgbClr val="2563EB"/>
                </a:solidFill>
                <a:latin typeface="Times New Roman"/>
                <a:ea typeface="Times New Roman"/>
                <a:cs typeface="Times New Roman"/>
              </a:defRPr>
            </a:lvl6pPr>
            <a:lvl7pPr algn="l">
              <a:defRPr sz="2100" b="1">
                <a:solidFill>
                  <a:srgbClr val="2563EB"/>
                </a:solidFill>
                <a:latin typeface="Times New Roman"/>
                <a:ea typeface="Times New Roman"/>
                <a:cs typeface="Times New Roman"/>
              </a:defRPr>
            </a:lvl7pPr>
            <a:lvl8pPr algn="l">
              <a:defRPr sz="2100" b="1">
                <a:solidFill>
                  <a:srgbClr val="2563EB"/>
                </a:solidFill>
                <a:latin typeface="Times New Roman"/>
                <a:ea typeface="Times New Roman"/>
                <a:cs typeface="Times New Roman"/>
              </a:defRPr>
            </a:lvl8pPr>
            <a:lvl9pPr algn="l">
              <a:defRPr sz="2100" b="1">
                <a:solidFill>
                  <a:srgbClr val="2563EB"/>
                </a:solidFill>
                <a:latin typeface="Times New Roman"/>
                <a:ea typeface="Times New Roman"/>
                <a:cs typeface="Times New Roman"/>
              </a:defRPr>
            </a:lvl9pPr>
          </a:lstStyle>
          <a:p xmlns:a="http://schemas.openxmlformats.org/drawingml/2006/main">
            <a:pPr algn="l">
              <a:defRPr sz="2100" b="1">
                <a:solidFill>
                  <a:srgbClr val="2563EB"/>
                </a:solidFill>
                <a:latin typeface="Times New Roman"/>
                <a:ea typeface="Times New Roman"/>
                <a:cs typeface="Times New Roman"/>
              </a:defRPr>
            </a:pPr>
            <a:r>
              <a:rPr sz="2100" b="1">
                <a:solidFill>
                  <a:srgbClr val="2563EB"/>
                </a:solidFill>
                <a:latin typeface="Times New Roman"/>
                <a:ea typeface="Times New Roman"/>
                <a:cs typeface="Times New Roman"/>
              </a:rPr>
              <a:t>02</a:t>
            </a:r>
          </a:p>
        </p:txBody>
      </p:sp>
      <p:sp>
        <p:nvSpPr>
          <p:cNvPr id="8" name="Dataset and acquisition">
            <a:extLst xmlns:a="http://schemas.openxmlformats.org/drawingml/2006/main">
              <a:ext uri="{FF2B5EF4-FFF2-40B4-BE49-F238E27FC236}">
                <a16:creationId xmlns:a16="http://schemas.microsoft.com/office/drawing/2014/main" id="{D67CB4F1-9FE9-497F-95B2-8811FBE1CF05}"/>
              </a:ext>
            </a:extLst>
          </p:cNvPr>
          <p:cNvSpPr>
            <a:spLocks xmlns:a="http://schemas.openxmlformats.org/drawingml/2006/main" noGrp="1"/>
          </p:cNvSpPr>
          <p:nvPr/>
        </p:nvSpPr>
        <p:spPr>
          <a:xfrm xmlns:a="http://schemas.openxmlformats.org/drawingml/2006/main">
            <a:off x="1362075" y="23145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D3D"/>
                </a:solidFill>
                <a:latin typeface="Times New Roman"/>
                <a:ea typeface="Times New Roman"/>
                <a:cs typeface="Times New Roman"/>
              </a:defRPr>
            </a:defPPr>
            <a:lvl1pPr algn="l">
              <a:defRPr sz="2100" b="0">
                <a:solidFill>
                  <a:srgbClr val="202D3D"/>
                </a:solidFill>
                <a:latin typeface="Times New Roman"/>
                <a:ea typeface="Times New Roman"/>
                <a:cs typeface="Times New Roman"/>
              </a:defRPr>
            </a:lvl1pPr>
            <a:lvl2pPr algn="l">
              <a:defRPr sz="2100" b="0">
                <a:solidFill>
                  <a:srgbClr val="202D3D"/>
                </a:solidFill>
                <a:latin typeface="Times New Roman"/>
                <a:ea typeface="Times New Roman"/>
                <a:cs typeface="Times New Roman"/>
              </a:defRPr>
            </a:lvl2pPr>
            <a:lvl3pPr algn="l">
              <a:defRPr sz="2100" b="0">
                <a:solidFill>
                  <a:srgbClr val="202D3D"/>
                </a:solidFill>
                <a:latin typeface="Times New Roman"/>
                <a:ea typeface="Times New Roman"/>
                <a:cs typeface="Times New Roman"/>
              </a:defRPr>
            </a:lvl3pPr>
            <a:lvl4pPr algn="l">
              <a:defRPr sz="2100" b="0">
                <a:solidFill>
                  <a:srgbClr val="202D3D"/>
                </a:solidFill>
                <a:latin typeface="Times New Roman"/>
                <a:ea typeface="Times New Roman"/>
                <a:cs typeface="Times New Roman"/>
              </a:defRPr>
            </a:lvl4pPr>
            <a:lvl5pPr algn="l">
              <a:defRPr sz="2100" b="0">
                <a:solidFill>
                  <a:srgbClr val="202D3D"/>
                </a:solidFill>
                <a:latin typeface="Times New Roman"/>
                <a:ea typeface="Times New Roman"/>
                <a:cs typeface="Times New Roman"/>
              </a:defRPr>
            </a:lvl5pPr>
            <a:lvl6pPr algn="l">
              <a:defRPr sz="2100" b="0">
                <a:solidFill>
                  <a:srgbClr val="202D3D"/>
                </a:solidFill>
                <a:latin typeface="Times New Roman"/>
                <a:ea typeface="Times New Roman"/>
                <a:cs typeface="Times New Roman"/>
              </a:defRPr>
            </a:lvl6pPr>
            <a:lvl7pPr algn="l">
              <a:defRPr sz="2100" b="0">
                <a:solidFill>
                  <a:srgbClr val="202D3D"/>
                </a:solidFill>
                <a:latin typeface="Times New Roman"/>
                <a:ea typeface="Times New Roman"/>
                <a:cs typeface="Times New Roman"/>
              </a:defRPr>
            </a:lvl7pPr>
            <a:lvl8pPr algn="l">
              <a:defRPr sz="2100" b="0">
                <a:solidFill>
                  <a:srgbClr val="202D3D"/>
                </a:solidFill>
                <a:latin typeface="Times New Roman"/>
                <a:ea typeface="Times New Roman"/>
                <a:cs typeface="Times New Roman"/>
              </a:defRPr>
            </a:lvl8pPr>
            <a:lvl9pPr algn="l">
              <a:defRPr sz="2100" b="0">
                <a:solidFill>
                  <a:srgbClr val="202D3D"/>
                </a:solidFill>
                <a:latin typeface="Times New Roman"/>
                <a:ea typeface="Times New Roman"/>
                <a:cs typeface="Times New Roman"/>
              </a:defRPr>
            </a:lvl9pPr>
          </a:lstStyle>
          <a:p xmlns:a="http://schemas.openxmlformats.org/drawingml/2006/main">
            <a:pPr algn="l">
              <a:defRPr sz="2100" b="0">
                <a:solidFill>
                  <a:srgbClr val="202D3D"/>
                </a:solidFill>
                <a:latin typeface="Times New Roman"/>
                <a:ea typeface="Times New Roman"/>
                <a:cs typeface="Times New Roman"/>
              </a:defRPr>
            </a:pPr>
            <a:r>
              <a:rPr sz="2100" b="0">
                <a:solidFill>
                  <a:srgbClr val="202D3D"/>
                </a:solidFill>
                <a:latin typeface="Times New Roman"/>
                <a:ea typeface="Times New Roman"/>
                <a:cs typeface="Times New Roman"/>
              </a:rPr>
              <a:t>Dataset and acquisition</a:t>
            </a:r>
          </a:p>
        </p:txBody>
      </p:sp>
      <p:sp>
        <p:nvSpPr>
          <p:cNvPr id="9" name="03">
            <a:extLst xmlns:a="http://schemas.openxmlformats.org/drawingml/2006/main">
              <a:ext uri="{FF2B5EF4-FFF2-40B4-BE49-F238E27FC236}">
                <a16:creationId xmlns:a16="http://schemas.microsoft.com/office/drawing/2014/main" id="{40E96B1A-4712-4D8B-8B40-68F23F600981}"/>
              </a:ext>
            </a:extLst>
          </p:cNvPr>
          <p:cNvSpPr>
            <a:spLocks xmlns:a="http://schemas.openxmlformats.org/drawingml/2006/main" noGrp="1"/>
          </p:cNvSpPr>
          <p:nvPr/>
        </p:nvSpPr>
        <p:spPr>
          <a:xfrm xmlns:a="http://schemas.openxmlformats.org/drawingml/2006/main">
            <a:off x="666750" y="2914650"/>
            <a:ext cx="52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Times New Roman"/>
                <a:ea typeface="Times New Roman"/>
                <a:cs typeface="Times New Roman"/>
              </a:defRPr>
            </a:defPPr>
            <a:lvl1pPr algn="l">
              <a:defRPr sz="2100" b="1">
                <a:solidFill>
                  <a:srgbClr val="2563EB"/>
                </a:solidFill>
                <a:latin typeface="Times New Roman"/>
                <a:ea typeface="Times New Roman"/>
                <a:cs typeface="Times New Roman"/>
              </a:defRPr>
            </a:lvl1pPr>
            <a:lvl2pPr algn="l">
              <a:defRPr sz="2100" b="1">
                <a:solidFill>
                  <a:srgbClr val="2563EB"/>
                </a:solidFill>
                <a:latin typeface="Times New Roman"/>
                <a:ea typeface="Times New Roman"/>
                <a:cs typeface="Times New Roman"/>
              </a:defRPr>
            </a:lvl2pPr>
            <a:lvl3pPr algn="l">
              <a:defRPr sz="2100" b="1">
                <a:solidFill>
                  <a:srgbClr val="2563EB"/>
                </a:solidFill>
                <a:latin typeface="Times New Roman"/>
                <a:ea typeface="Times New Roman"/>
                <a:cs typeface="Times New Roman"/>
              </a:defRPr>
            </a:lvl3pPr>
            <a:lvl4pPr algn="l">
              <a:defRPr sz="2100" b="1">
                <a:solidFill>
                  <a:srgbClr val="2563EB"/>
                </a:solidFill>
                <a:latin typeface="Times New Roman"/>
                <a:ea typeface="Times New Roman"/>
                <a:cs typeface="Times New Roman"/>
              </a:defRPr>
            </a:lvl4pPr>
            <a:lvl5pPr algn="l">
              <a:defRPr sz="2100" b="1">
                <a:solidFill>
                  <a:srgbClr val="2563EB"/>
                </a:solidFill>
                <a:latin typeface="Times New Roman"/>
                <a:ea typeface="Times New Roman"/>
                <a:cs typeface="Times New Roman"/>
              </a:defRPr>
            </a:lvl5pPr>
            <a:lvl6pPr algn="l">
              <a:defRPr sz="2100" b="1">
                <a:solidFill>
                  <a:srgbClr val="2563EB"/>
                </a:solidFill>
                <a:latin typeface="Times New Roman"/>
                <a:ea typeface="Times New Roman"/>
                <a:cs typeface="Times New Roman"/>
              </a:defRPr>
            </a:lvl6pPr>
            <a:lvl7pPr algn="l">
              <a:defRPr sz="2100" b="1">
                <a:solidFill>
                  <a:srgbClr val="2563EB"/>
                </a:solidFill>
                <a:latin typeface="Times New Roman"/>
                <a:ea typeface="Times New Roman"/>
                <a:cs typeface="Times New Roman"/>
              </a:defRPr>
            </a:lvl7pPr>
            <a:lvl8pPr algn="l">
              <a:defRPr sz="2100" b="1">
                <a:solidFill>
                  <a:srgbClr val="2563EB"/>
                </a:solidFill>
                <a:latin typeface="Times New Roman"/>
                <a:ea typeface="Times New Roman"/>
                <a:cs typeface="Times New Roman"/>
              </a:defRPr>
            </a:lvl8pPr>
            <a:lvl9pPr algn="l">
              <a:defRPr sz="2100" b="1">
                <a:solidFill>
                  <a:srgbClr val="2563EB"/>
                </a:solidFill>
                <a:latin typeface="Times New Roman"/>
                <a:ea typeface="Times New Roman"/>
                <a:cs typeface="Times New Roman"/>
              </a:defRPr>
            </a:lvl9pPr>
          </a:lstStyle>
          <a:p xmlns:a="http://schemas.openxmlformats.org/drawingml/2006/main">
            <a:pPr algn="l">
              <a:defRPr sz="2100" b="1">
                <a:solidFill>
                  <a:srgbClr val="2563EB"/>
                </a:solidFill>
                <a:latin typeface="Times New Roman"/>
                <a:ea typeface="Times New Roman"/>
                <a:cs typeface="Times New Roman"/>
              </a:defRPr>
            </a:pPr>
            <a:r>
              <a:rPr sz="2100" b="1">
                <a:solidFill>
                  <a:srgbClr val="2563EB"/>
                </a:solidFill>
                <a:latin typeface="Times New Roman"/>
                <a:ea typeface="Times New Roman"/>
                <a:cs typeface="Times New Roman"/>
              </a:rPr>
              <a:t>03</a:t>
            </a:r>
          </a:p>
        </p:txBody>
      </p:sp>
      <p:sp>
        <p:nvSpPr>
          <p:cNvPr id="10" name="Preprocessing and representation">
            <a:extLst xmlns:a="http://schemas.openxmlformats.org/drawingml/2006/main">
              <a:ext uri="{FF2B5EF4-FFF2-40B4-BE49-F238E27FC236}">
                <a16:creationId xmlns:a16="http://schemas.microsoft.com/office/drawing/2014/main" id="{15567C0C-9B13-465F-8ED9-770BEB82E312}"/>
              </a:ext>
            </a:extLst>
          </p:cNvPr>
          <p:cNvSpPr>
            <a:spLocks xmlns:a="http://schemas.openxmlformats.org/drawingml/2006/main" noGrp="1"/>
          </p:cNvSpPr>
          <p:nvPr/>
        </p:nvSpPr>
        <p:spPr>
          <a:xfrm xmlns:a="http://schemas.openxmlformats.org/drawingml/2006/main">
            <a:off x="1362075" y="29146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D3D"/>
                </a:solidFill>
                <a:latin typeface="Times New Roman"/>
                <a:ea typeface="Times New Roman"/>
                <a:cs typeface="Times New Roman"/>
              </a:defRPr>
            </a:defPPr>
            <a:lvl1pPr algn="l">
              <a:defRPr sz="2100" b="0">
                <a:solidFill>
                  <a:srgbClr val="202D3D"/>
                </a:solidFill>
                <a:latin typeface="Times New Roman"/>
                <a:ea typeface="Times New Roman"/>
                <a:cs typeface="Times New Roman"/>
              </a:defRPr>
            </a:lvl1pPr>
            <a:lvl2pPr algn="l">
              <a:defRPr sz="2100" b="0">
                <a:solidFill>
                  <a:srgbClr val="202D3D"/>
                </a:solidFill>
                <a:latin typeface="Times New Roman"/>
                <a:ea typeface="Times New Roman"/>
                <a:cs typeface="Times New Roman"/>
              </a:defRPr>
            </a:lvl2pPr>
            <a:lvl3pPr algn="l">
              <a:defRPr sz="2100" b="0">
                <a:solidFill>
                  <a:srgbClr val="202D3D"/>
                </a:solidFill>
                <a:latin typeface="Times New Roman"/>
                <a:ea typeface="Times New Roman"/>
                <a:cs typeface="Times New Roman"/>
              </a:defRPr>
            </a:lvl3pPr>
            <a:lvl4pPr algn="l">
              <a:defRPr sz="2100" b="0">
                <a:solidFill>
                  <a:srgbClr val="202D3D"/>
                </a:solidFill>
                <a:latin typeface="Times New Roman"/>
                <a:ea typeface="Times New Roman"/>
                <a:cs typeface="Times New Roman"/>
              </a:defRPr>
            </a:lvl4pPr>
            <a:lvl5pPr algn="l">
              <a:defRPr sz="2100" b="0">
                <a:solidFill>
                  <a:srgbClr val="202D3D"/>
                </a:solidFill>
                <a:latin typeface="Times New Roman"/>
                <a:ea typeface="Times New Roman"/>
                <a:cs typeface="Times New Roman"/>
              </a:defRPr>
            </a:lvl5pPr>
            <a:lvl6pPr algn="l">
              <a:defRPr sz="2100" b="0">
                <a:solidFill>
                  <a:srgbClr val="202D3D"/>
                </a:solidFill>
                <a:latin typeface="Times New Roman"/>
                <a:ea typeface="Times New Roman"/>
                <a:cs typeface="Times New Roman"/>
              </a:defRPr>
            </a:lvl6pPr>
            <a:lvl7pPr algn="l">
              <a:defRPr sz="2100" b="0">
                <a:solidFill>
                  <a:srgbClr val="202D3D"/>
                </a:solidFill>
                <a:latin typeface="Times New Roman"/>
                <a:ea typeface="Times New Roman"/>
                <a:cs typeface="Times New Roman"/>
              </a:defRPr>
            </a:lvl7pPr>
            <a:lvl8pPr algn="l">
              <a:defRPr sz="2100" b="0">
                <a:solidFill>
                  <a:srgbClr val="202D3D"/>
                </a:solidFill>
                <a:latin typeface="Times New Roman"/>
                <a:ea typeface="Times New Roman"/>
                <a:cs typeface="Times New Roman"/>
              </a:defRPr>
            </a:lvl8pPr>
            <a:lvl9pPr algn="l">
              <a:defRPr sz="2100" b="0">
                <a:solidFill>
                  <a:srgbClr val="202D3D"/>
                </a:solidFill>
                <a:latin typeface="Times New Roman"/>
                <a:ea typeface="Times New Roman"/>
                <a:cs typeface="Times New Roman"/>
              </a:defRPr>
            </a:lvl9pPr>
          </a:lstStyle>
          <a:p xmlns:a="http://schemas.openxmlformats.org/drawingml/2006/main">
            <a:pPr algn="l">
              <a:defRPr sz="2100" b="0">
                <a:solidFill>
                  <a:srgbClr val="202D3D"/>
                </a:solidFill>
                <a:latin typeface="Times New Roman"/>
                <a:ea typeface="Times New Roman"/>
                <a:cs typeface="Times New Roman"/>
              </a:defRPr>
            </a:pPr>
            <a:r>
              <a:rPr sz="2100" b="0">
                <a:solidFill>
                  <a:srgbClr val="202D3D"/>
                </a:solidFill>
                <a:latin typeface="Times New Roman"/>
                <a:ea typeface="Times New Roman"/>
                <a:cs typeface="Times New Roman"/>
              </a:rPr>
              <a:t>Preprocessing and representation</a:t>
            </a:r>
          </a:p>
        </p:txBody>
      </p:sp>
      <p:sp>
        <p:nvSpPr>
          <p:cNvPr id="11" name="04">
            <a:extLst xmlns:a="http://schemas.openxmlformats.org/drawingml/2006/main">
              <a:ext uri="{FF2B5EF4-FFF2-40B4-BE49-F238E27FC236}">
                <a16:creationId xmlns:a16="http://schemas.microsoft.com/office/drawing/2014/main" id="{07673E22-8A28-4B98-8743-045638215FD6}"/>
              </a:ext>
            </a:extLst>
          </p:cNvPr>
          <p:cNvSpPr>
            <a:spLocks xmlns:a="http://schemas.openxmlformats.org/drawingml/2006/main" noGrp="1"/>
          </p:cNvSpPr>
          <p:nvPr/>
        </p:nvSpPr>
        <p:spPr>
          <a:xfrm xmlns:a="http://schemas.openxmlformats.org/drawingml/2006/main">
            <a:off x="666750" y="3514725"/>
            <a:ext cx="52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Times New Roman"/>
                <a:ea typeface="Times New Roman"/>
                <a:cs typeface="Times New Roman"/>
              </a:defRPr>
            </a:defPPr>
            <a:lvl1pPr algn="l">
              <a:defRPr sz="2100" b="1">
                <a:solidFill>
                  <a:srgbClr val="2563EB"/>
                </a:solidFill>
                <a:latin typeface="Times New Roman"/>
                <a:ea typeface="Times New Roman"/>
                <a:cs typeface="Times New Roman"/>
              </a:defRPr>
            </a:lvl1pPr>
            <a:lvl2pPr algn="l">
              <a:defRPr sz="2100" b="1">
                <a:solidFill>
                  <a:srgbClr val="2563EB"/>
                </a:solidFill>
                <a:latin typeface="Times New Roman"/>
                <a:ea typeface="Times New Roman"/>
                <a:cs typeface="Times New Roman"/>
              </a:defRPr>
            </a:lvl2pPr>
            <a:lvl3pPr algn="l">
              <a:defRPr sz="2100" b="1">
                <a:solidFill>
                  <a:srgbClr val="2563EB"/>
                </a:solidFill>
                <a:latin typeface="Times New Roman"/>
                <a:ea typeface="Times New Roman"/>
                <a:cs typeface="Times New Roman"/>
              </a:defRPr>
            </a:lvl3pPr>
            <a:lvl4pPr algn="l">
              <a:defRPr sz="2100" b="1">
                <a:solidFill>
                  <a:srgbClr val="2563EB"/>
                </a:solidFill>
                <a:latin typeface="Times New Roman"/>
                <a:ea typeface="Times New Roman"/>
                <a:cs typeface="Times New Roman"/>
              </a:defRPr>
            </a:lvl4pPr>
            <a:lvl5pPr algn="l">
              <a:defRPr sz="2100" b="1">
                <a:solidFill>
                  <a:srgbClr val="2563EB"/>
                </a:solidFill>
                <a:latin typeface="Times New Roman"/>
                <a:ea typeface="Times New Roman"/>
                <a:cs typeface="Times New Roman"/>
              </a:defRPr>
            </a:lvl5pPr>
            <a:lvl6pPr algn="l">
              <a:defRPr sz="2100" b="1">
                <a:solidFill>
                  <a:srgbClr val="2563EB"/>
                </a:solidFill>
                <a:latin typeface="Times New Roman"/>
                <a:ea typeface="Times New Roman"/>
                <a:cs typeface="Times New Roman"/>
              </a:defRPr>
            </a:lvl6pPr>
            <a:lvl7pPr algn="l">
              <a:defRPr sz="2100" b="1">
                <a:solidFill>
                  <a:srgbClr val="2563EB"/>
                </a:solidFill>
                <a:latin typeface="Times New Roman"/>
                <a:ea typeface="Times New Roman"/>
                <a:cs typeface="Times New Roman"/>
              </a:defRPr>
            </a:lvl7pPr>
            <a:lvl8pPr algn="l">
              <a:defRPr sz="2100" b="1">
                <a:solidFill>
                  <a:srgbClr val="2563EB"/>
                </a:solidFill>
                <a:latin typeface="Times New Roman"/>
                <a:ea typeface="Times New Roman"/>
                <a:cs typeface="Times New Roman"/>
              </a:defRPr>
            </a:lvl8pPr>
            <a:lvl9pPr algn="l">
              <a:defRPr sz="2100" b="1">
                <a:solidFill>
                  <a:srgbClr val="2563EB"/>
                </a:solidFill>
                <a:latin typeface="Times New Roman"/>
                <a:ea typeface="Times New Roman"/>
                <a:cs typeface="Times New Roman"/>
              </a:defRPr>
            </a:lvl9pPr>
          </a:lstStyle>
          <a:p xmlns:a="http://schemas.openxmlformats.org/drawingml/2006/main">
            <a:pPr algn="l">
              <a:defRPr sz="2100" b="1">
                <a:solidFill>
                  <a:srgbClr val="2563EB"/>
                </a:solidFill>
                <a:latin typeface="Times New Roman"/>
                <a:ea typeface="Times New Roman"/>
                <a:cs typeface="Times New Roman"/>
              </a:defRPr>
            </a:pPr>
            <a:r>
              <a:rPr sz="2100" b="1">
                <a:solidFill>
                  <a:srgbClr val="2563EB"/>
                </a:solidFill>
                <a:latin typeface="Times New Roman"/>
                <a:ea typeface="Times New Roman"/>
                <a:cs typeface="Times New Roman"/>
              </a:rPr>
              <a:t>04</a:t>
            </a:r>
          </a:p>
        </p:txBody>
      </p:sp>
      <p:sp>
        <p:nvSpPr>
          <p:cNvPr id="12" name="Modeling: SVM and CNN">
            <a:extLst xmlns:a="http://schemas.openxmlformats.org/drawingml/2006/main">
              <a:ext uri="{FF2B5EF4-FFF2-40B4-BE49-F238E27FC236}">
                <a16:creationId xmlns:a16="http://schemas.microsoft.com/office/drawing/2014/main" id="{B551A130-0E4D-448D-AC96-47E58E80E783}"/>
              </a:ext>
            </a:extLst>
          </p:cNvPr>
          <p:cNvSpPr>
            <a:spLocks xmlns:a="http://schemas.openxmlformats.org/drawingml/2006/main" noGrp="1"/>
          </p:cNvSpPr>
          <p:nvPr/>
        </p:nvSpPr>
        <p:spPr>
          <a:xfrm xmlns:a="http://schemas.openxmlformats.org/drawingml/2006/main">
            <a:off x="1362075" y="35147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D3D"/>
                </a:solidFill>
                <a:latin typeface="Times New Roman"/>
                <a:ea typeface="Times New Roman"/>
                <a:cs typeface="Times New Roman"/>
              </a:defRPr>
            </a:defPPr>
            <a:lvl1pPr algn="l">
              <a:defRPr sz="2100" b="0">
                <a:solidFill>
                  <a:srgbClr val="202D3D"/>
                </a:solidFill>
                <a:latin typeface="Times New Roman"/>
                <a:ea typeface="Times New Roman"/>
                <a:cs typeface="Times New Roman"/>
              </a:defRPr>
            </a:lvl1pPr>
            <a:lvl2pPr algn="l">
              <a:defRPr sz="2100" b="0">
                <a:solidFill>
                  <a:srgbClr val="202D3D"/>
                </a:solidFill>
                <a:latin typeface="Times New Roman"/>
                <a:ea typeface="Times New Roman"/>
                <a:cs typeface="Times New Roman"/>
              </a:defRPr>
            </a:lvl2pPr>
            <a:lvl3pPr algn="l">
              <a:defRPr sz="2100" b="0">
                <a:solidFill>
                  <a:srgbClr val="202D3D"/>
                </a:solidFill>
                <a:latin typeface="Times New Roman"/>
                <a:ea typeface="Times New Roman"/>
                <a:cs typeface="Times New Roman"/>
              </a:defRPr>
            </a:lvl3pPr>
            <a:lvl4pPr algn="l">
              <a:defRPr sz="2100" b="0">
                <a:solidFill>
                  <a:srgbClr val="202D3D"/>
                </a:solidFill>
                <a:latin typeface="Times New Roman"/>
                <a:ea typeface="Times New Roman"/>
                <a:cs typeface="Times New Roman"/>
              </a:defRPr>
            </a:lvl4pPr>
            <a:lvl5pPr algn="l">
              <a:defRPr sz="2100" b="0">
                <a:solidFill>
                  <a:srgbClr val="202D3D"/>
                </a:solidFill>
                <a:latin typeface="Times New Roman"/>
                <a:ea typeface="Times New Roman"/>
                <a:cs typeface="Times New Roman"/>
              </a:defRPr>
            </a:lvl5pPr>
            <a:lvl6pPr algn="l">
              <a:defRPr sz="2100" b="0">
                <a:solidFill>
                  <a:srgbClr val="202D3D"/>
                </a:solidFill>
                <a:latin typeface="Times New Roman"/>
                <a:ea typeface="Times New Roman"/>
                <a:cs typeface="Times New Roman"/>
              </a:defRPr>
            </a:lvl6pPr>
            <a:lvl7pPr algn="l">
              <a:defRPr sz="2100" b="0">
                <a:solidFill>
                  <a:srgbClr val="202D3D"/>
                </a:solidFill>
                <a:latin typeface="Times New Roman"/>
                <a:ea typeface="Times New Roman"/>
                <a:cs typeface="Times New Roman"/>
              </a:defRPr>
            </a:lvl7pPr>
            <a:lvl8pPr algn="l">
              <a:defRPr sz="2100" b="0">
                <a:solidFill>
                  <a:srgbClr val="202D3D"/>
                </a:solidFill>
                <a:latin typeface="Times New Roman"/>
                <a:ea typeface="Times New Roman"/>
                <a:cs typeface="Times New Roman"/>
              </a:defRPr>
            </a:lvl8pPr>
            <a:lvl9pPr algn="l">
              <a:defRPr sz="2100" b="0">
                <a:solidFill>
                  <a:srgbClr val="202D3D"/>
                </a:solidFill>
                <a:latin typeface="Times New Roman"/>
                <a:ea typeface="Times New Roman"/>
                <a:cs typeface="Times New Roman"/>
              </a:defRPr>
            </a:lvl9pPr>
          </a:lstStyle>
          <a:p xmlns:a="http://schemas.openxmlformats.org/drawingml/2006/main">
            <a:pPr algn="l">
              <a:defRPr sz="2100" b="0">
                <a:solidFill>
                  <a:srgbClr val="202D3D"/>
                </a:solidFill>
                <a:latin typeface="Times New Roman"/>
                <a:ea typeface="Times New Roman"/>
                <a:cs typeface="Times New Roman"/>
              </a:defRPr>
            </a:pPr>
            <a:r>
              <a:rPr sz="2100" b="0">
                <a:solidFill>
                  <a:srgbClr val="202D3D"/>
                </a:solidFill>
                <a:latin typeface="Times New Roman"/>
                <a:ea typeface="Times New Roman"/>
                <a:cs typeface="Times New Roman"/>
              </a:rPr>
              <a:t>Modeling: SVM and CNN</a:t>
            </a:r>
          </a:p>
        </p:txBody>
      </p:sp>
      <p:sp>
        <p:nvSpPr>
          <p:cNvPr id="13" name="05">
            <a:extLst xmlns:a="http://schemas.openxmlformats.org/drawingml/2006/main">
              <a:ext uri="{FF2B5EF4-FFF2-40B4-BE49-F238E27FC236}">
                <a16:creationId xmlns:a16="http://schemas.microsoft.com/office/drawing/2014/main" id="{8AA56A00-3980-4553-89C2-87BB52113CAF}"/>
              </a:ext>
            </a:extLst>
          </p:cNvPr>
          <p:cNvSpPr>
            <a:spLocks xmlns:a="http://schemas.openxmlformats.org/drawingml/2006/main" noGrp="1"/>
          </p:cNvSpPr>
          <p:nvPr/>
        </p:nvSpPr>
        <p:spPr>
          <a:xfrm xmlns:a="http://schemas.openxmlformats.org/drawingml/2006/main">
            <a:off x="666750" y="4114800"/>
            <a:ext cx="52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Times New Roman"/>
                <a:ea typeface="Times New Roman"/>
                <a:cs typeface="Times New Roman"/>
              </a:defRPr>
            </a:defPPr>
            <a:lvl1pPr algn="l">
              <a:defRPr sz="2100" b="1">
                <a:solidFill>
                  <a:srgbClr val="2563EB"/>
                </a:solidFill>
                <a:latin typeface="Times New Roman"/>
                <a:ea typeface="Times New Roman"/>
                <a:cs typeface="Times New Roman"/>
              </a:defRPr>
            </a:lvl1pPr>
            <a:lvl2pPr algn="l">
              <a:defRPr sz="2100" b="1">
                <a:solidFill>
                  <a:srgbClr val="2563EB"/>
                </a:solidFill>
                <a:latin typeface="Times New Roman"/>
                <a:ea typeface="Times New Roman"/>
                <a:cs typeface="Times New Roman"/>
              </a:defRPr>
            </a:lvl2pPr>
            <a:lvl3pPr algn="l">
              <a:defRPr sz="2100" b="1">
                <a:solidFill>
                  <a:srgbClr val="2563EB"/>
                </a:solidFill>
                <a:latin typeface="Times New Roman"/>
                <a:ea typeface="Times New Roman"/>
                <a:cs typeface="Times New Roman"/>
              </a:defRPr>
            </a:lvl3pPr>
            <a:lvl4pPr algn="l">
              <a:defRPr sz="2100" b="1">
                <a:solidFill>
                  <a:srgbClr val="2563EB"/>
                </a:solidFill>
                <a:latin typeface="Times New Roman"/>
                <a:ea typeface="Times New Roman"/>
                <a:cs typeface="Times New Roman"/>
              </a:defRPr>
            </a:lvl4pPr>
            <a:lvl5pPr algn="l">
              <a:defRPr sz="2100" b="1">
                <a:solidFill>
                  <a:srgbClr val="2563EB"/>
                </a:solidFill>
                <a:latin typeface="Times New Roman"/>
                <a:ea typeface="Times New Roman"/>
                <a:cs typeface="Times New Roman"/>
              </a:defRPr>
            </a:lvl5pPr>
            <a:lvl6pPr algn="l">
              <a:defRPr sz="2100" b="1">
                <a:solidFill>
                  <a:srgbClr val="2563EB"/>
                </a:solidFill>
                <a:latin typeface="Times New Roman"/>
                <a:ea typeface="Times New Roman"/>
                <a:cs typeface="Times New Roman"/>
              </a:defRPr>
            </a:lvl6pPr>
            <a:lvl7pPr algn="l">
              <a:defRPr sz="2100" b="1">
                <a:solidFill>
                  <a:srgbClr val="2563EB"/>
                </a:solidFill>
                <a:latin typeface="Times New Roman"/>
                <a:ea typeface="Times New Roman"/>
                <a:cs typeface="Times New Roman"/>
              </a:defRPr>
            </a:lvl7pPr>
            <a:lvl8pPr algn="l">
              <a:defRPr sz="2100" b="1">
                <a:solidFill>
                  <a:srgbClr val="2563EB"/>
                </a:solidFill>
                <a:latin typeface="Times New Roman"/>
                <a:ea typeface="Times New Roman"/>
                <a:cs typeface="Times New Roman"/>
              </a:defRPr>
            </a:lvl8pPr>
            <a:lvl9pPr algn="l">
              <a:defRPr sz="2100" b="1">
                <a:solidFill>
                  <a:srgbClr val="2563EB"/>
                </a:solidFill>
                <a:latin typeface="Times New Roman"/>
                <a:ea typeface="Times New Roman"/>
                <a:cs typeface="Times New Roman"/>
              </a:defRPr>
            </a:lvl9pPr>
          </a:lstStyle>
          <a:p xmlns:a="http://schemas.openxmlformats.org/drawingml/2006/main">
            <a:pPr algn="l">
              <a:defRPr sz="2100" b="1">
                <a:solidFill>
                  <a:srgbClr val="2563EB"/>
                </a:solidFill>
                <a:latin typeface="Times New Roman"/>
                <a:ea typeface="Times New Roman"/>
                <a:cs typeface="Times New Roman"/>
              </a:defRPr>
            </a:pPr>
            <a:r>
              <a:rPr sz="2100" b="1">
                <a:solidFill>
                  <a:srgbClr val="2563EB"/>
                </a:solidFill>
                <a:latin typeface="Times New Roman"/>
                <a:ea typeface="Times New Roman"/>
                <a:cs typeface="Times New Roman"/>
              </a:rPr>
              <a:t>05</a:t>
            </a:r>
          </a:p>
        </p:txBody>
      </p:sp>
      <p:sp>
        <p:nvSpPr>
          <p:cNvPr id="14" name="Evaluation and critical analysis">
            <a:extLst xmlns:a="http://schemas.openxmlformats.org/drawingml/2006/main">
              <a:ext uri="{FF2B5EF4-FFF2-40B4-BE49-F238E27FC236}">
                <a16:creationId xmlns:a16="http://schemas.microsoft.com/office/drawing/2014/main" id="{ACA4B725-7BC7-4A6A-9487-AD0F1108A1C7}"/>
              </a:ext>
            </a:extLst>
          </p:cNvPr>
          <p:cNvSpPr>
            <a:spLocks xmlns:a="http://schemas.openxmlformats.org/drawingml/2006/main" noGrp="1"/>
          </p:cNvSpPr>
          <p:nvPr/>
        </p:nvSpPr>
        <p:spPr>
          <a:xfrm xmlns:a="http://schemas.openxmlformats.org/drawingml/2006/main">
            <a:off x="1362075" y="41148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D3D"/>
                </a:solidFill>
                <a:latin typeface="Times New Roman"/>
                <a:ea typeface="Times New Roman"/>
                <a:cs typeface="Times New Roman"/>
              </a:defRPr>
            </a:defPPr>
            <a:lvl1pPr algn="l">
              <a:defRPr sz="2100" b="0">
                <a:solidFill>
                  <a:srgbClr val="202D3D"/>
                </a:solidFill>
                <a:latin typeface="Times New Roman"/>
                <a:ea typeface="Times New Roman"/>
                <a:cs typeface="Times New Roman"/>
              </a:defRPr>
            </a:lvl1pPr>
            <a:lvl2pPr algn="l">
              <a:defRPr sz="2100" b="0">
                <a:solidFill>
                  <a:srgbClr val="202D3D"/>
                </a:solidFill>
                <a:latin typeface="Times New Roman"/>
                <a:ea typeface="Times New Roman"/>
                <a:cs typeface="Times New Roman"/>
              </a:defRPr>
            </a:lvl2pPr>
            <a:lvl3pPr algn="l">
              <a:defRPr sz="2100" b="0">
                <a:solidFill>
                  <a:srgbClr val="202D3D"/>
                </a:solidFill>
                <a:latin typeface="Times New Roman"/>
                <a:ea typeface="Times New Roman"/>
                <a:cs typeface="Times New Roman"/>
              </a:defRPr>
            </a:lvl3pPr>
            <a:lvl4pPr algn="l">
              <a:defRPr sz="2100" b="0">
                <a:solidFill>
                  <a:srgbClr val="202D3D"/>
                </a:solidFill>
                <a:latin typeface="Times New Roman"/>
                <a:ea typeface="Times New Roman"/>
                <a:cs typeface="Times New Roman"/>
              </a:defRPr>
            </a:lvl4pPr>
            <a:lvl5pPr algn="l">
              <a:defRPr sz="2100" b="0">
                <a:solidFill>
                  <a:srgbClr val="202D3D"/>
                </a:solidFill>
                <a:latin typeface="Times New Roman"/>
                <a:ea typeface="Times New Roman"/>
                <a:cs typeface="Times New Roman"/>
              </a:defRPr>
            </a:lvl5pPr>
            <a:lvl6pPr algn="l">
              <a:defRPr sz="2100" b="0">
                <a:solidFill>
                  <a:srgbClr val="202D3D"/>
                </a:solidFill>
                <a:latin typeface="Times New Roman"/>
                <a:ea typeface="Times New Roman"/>
                <a:cs typeface="Times New Roman"/>
              </a:defRPr>
            </a:lvl6pPr>
            <a:lvl7pPr algn="l">
              <a:defRPr sz="2100" b="0">
                <a:solidFill>
                  <a:srgbClr val="202D3D"/>
                </a:solidFill>
                <a:latin typeface="Times New Roman"/>
                <a:ea typeface="Times New Roman"/>
                <a:cs typeface="Times New Roman"/>
              </a:defRPr>
            </a:lvl7pPr>
            <a:lvl8pPr algn="l">
              <a:defRPr sz="2100" b="0">
                <a:solidFill>
                  <a:srgbClr val="202D3D"/>
                </a:solidFill>
                <a:latin typeface="Times New Roman"/>
                <a:ea typeface="Times New Roman"/>
                <a:cs typeface="Times New Roman"/>
              </a:defRPr>
            </a:lvl8pPr>
            <a:lvl9pPr algn="l">
              <a:defRPr sz="2100" b="0">
                <a:solidFill>
                  <a:srgbClr val="202D3D"/>
                </a:solidFill>
                <a:latin typeface="Times New Roman"/>
                <a:ea typeface="Times New Roman"/>
                <a:cs typeface="Times New Roman"/>
              </a:defRPr>
            </a:lvl9pPr>
          </a:lstStyle>
          <a:p xmlns:a="http://schemas.openxmlformats.org/drawingml/2006/main">
            <a:pPr algn="l">
              <a:defRPr sz="2100" b="0">
                <a:solidFill>
                  <a:srgbClr val="202D3D"/>
                </a:solidFill>
                <a:latin typeface="Times New Roman"/>
                <a:ea typeface="Times New Roman"/>
                <a:cs typeface="Times New Roman"/>
              </a:defRPr>
            </a:pPr>
            <a:r>
              <a:rPr sz="2100" b="0">
                <a:solidFill>
                  <a:srgbClr val="202D3D"/>
                </a:solidFill>
                <a:latin typeface="Times New Roman"/>
                <a:ea typeface="Times New Roman"/>
                <a:cs typeface="Times New Roman"/>
              </a:rPr>
              <a:t>Evaluation and critical analysis</a:t>
            </a:r>
          </a:p>
        </p:txBody>
      </p:sp>
      <p:sp>
        <p:nvSpPr>
          <p:cNvPr id="15" name="06">
            <a:extLst xmlns:a="http://schemas.openxmlformats.org/drawingml/2006/main">
              <a:ext uri="{FF2B5EF4-FFF2-40B4-BE49-F238E27FC236}">
                <a16:creationId xmlns:a16="http://schemas.microsoft.com/office/drawing/2014/main" id="{6785D2C3-2621-4496-A02A-2BD91D105750}"/>
              </a:ext>
            </a:extLst>
          </p:cNvPr>
          <p:cNvSpPr>
            <a:spLocks xmlns:a="http://schemas.openxmlformats.org/drawingml/2006/main" noGrp="1"/>
          </p:cNvSpPr>
          <p:nvPr/>
        </p:nvSpPr>
        <p:spPr>
          <a:xfrm xmlns:a="http://schemas.openxmlformats.org/drawingml/2006/main">
            <a:off x="666750" y="4714875"/>
            <a:ext cx="52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Times New Roman"/>
                <a:ea typeface="Times New Roman"/>
                <a:cs typeface="Times New Roman"/>
              </a:defRPr>
            </a:defPPr>
            <a:lvl1pPr algn="l">
              <a:defRPr sz="2100" b="1">
                <a:solidFill>
                  <a:srgbClr val="2563EB"/>
                </a:solidFill>
                <a:latin typeface="Times New Roman"/>
                <a:ea typeface="Times New Roman"/>
                <a:cs typeface="Times New Roman"/>
              </a:defRPr>
            </a:lvl1pPr>
            <a:lvl2pPr algn="l">
              <a:defRPr sz="2100" b="1">
                <a:solidFill>
                  <a:srgbClr val="2563EB"/>
                </a:solidFill>
                <a:latin typeface="Times New Roman"/>
                <a:ea typeface="Times New Roman"/>
                <a:cs typeface="Times New Roman"/>
              </a:defRPr>
            </a:lvl2pPr>
            <a:lvl3pPr algn="l">
              <a:defRPr sz="2100" b="1">
                <a:solidFill>
                  <a:srgbClr val="2563EB"/>
                </a:solidFill>
                <a:latin typeface="Times New Roman"/>
                <a:ea typeface="Times New Roman"/>
                <a:cs typeface="Times New Roman"/>
              </a:defRPr>
            </a:lvl3pPr>
            <a:lvl4pPr algn="l">
              <a:defRPr sz="2100" b="1">
                <a:solidFill>
                  <a:srgbClr val="2563EB"/>
                </a:solidFill>
                <a:latin typeface="Times New Roman"/>
                <a:ea typeface="Times New Roman"/>
                <a:cs typeface="Times New Roman"/>
              </a:defRPr>
            </a:lvl4pPr>
            <a:lvl5pPr algn="l">
              <a:defRPr sz="2100" b="1">
                <a:solidFill>
                  <a:srgbClr val="2563EB"/>
                </a:solidFill>
                <a:latin typeface="Times New Roman"/>
                <a:ea typeface="Times New Roman"/>
                <a:cs typeface="Times New Roman"/>
              </a:defRPr>
            </a:lvl5pPr>
            <a:lvl6pPr algn="l">
              <a:defRPr sz="2100" b="1">
                <a:solidFill>
                  <a:srgbClr val="2563EB"/>
                </a:solidFill>
                <a:latin typeface="Times New Roman"/>
                <a:ea typeface="Times New Roman"/>
                <a:cs typeface="Times New Roman"/>
              </a:defRPr>
            </a:lvl6pPr>
            <a:lvl7pPr algn="l">
              <a:defRPr sz="2100" b="1">
                <a:solidFill>
                  <a:srgbClr val="2563EB"/>
                </a:solidFill>
                <a:latin typeface="Times New Roman"/>
                <a:ea typeface="Times New Roman"/>
                <a:cs typeface="Times New Roman"/>
              </a:defRPr>
            </a:lvl7pPr>
            <a:lvl8pPr algn="l">
              <a:defRPr sz="2100" b="1">
                <a:solidFill>
                  <a:srgbClr val="2563EB"/>
                </a:solidFill>
                <a:latin typeface="Times New Roman"/>
                <a:ea typeface="Times New Roman"/>
                <a:cs typeface="Times New Roman"/>
              </a:defRPr>
            </a:lvl8pPr>
            <a:lvl9pPr algn="l">
              <a:defRPr sz="2100" b="1">
                <a:solidFill>
                  <a:srgbClr val="2563EB"/>
                </a:solidFill>
                <a:latin typeface="Times New Roman"/>
                <a:ea typeface="Times New Roman"/>
                <a:cs typeface="Times New Roman"/>
              </a:defRPr>
            </a:lvl9pPr>
          </a:lstStyle>
          <a:p xmlns:a="http://schemas.openxmlformats.org/drawingml/2006/main">
            <a:pPr algn="l">
              <a:defRPr sz="2100" b="1">
                <a:solidFill>
                  <a:srgbClr val="2563EB"/>
                </a:solidFill>
                <a:latin typeface="Times New Roman"/>
                <a:ea typeface="Times New Roman"/>
                <a:cs typeface="Times New Roman"/>
              </a:defRPr>
            </a:pPr>
            <a:r>
              <a:rPr sz="2100" b="1">
                <a:solidFill>
                  <a:srgbClr val="2563EB"/>
                </a:solidFill>
                <a:latin typeface="Times New Roman"/>
                <a:ea typeface="Times New Roman"/>
                <a:cs typeface="Times New Roman"/>
              </a:rPr>
              <a:t>06</a:t>
            </a:r>
          </a:p>
        </p:txBody>
      </p:sp>
      <p:sp>
        <p:nvSpPr>
          <p:cNvPr id="16" name="Application and demonstration">
            <a:extLst xmlns:a="http://schemas.openxmlformats.org/drawingml/2006/main">
              <a:ext uri="{FF2B5EF4-FFF2-40B4-BE49-F238E27FC236}">
                <a16:creationId xmlns:a16="http://schemas.microsoft.com/office/drawing/2014/main" id="{F0E45FAB-9794-43BB-B2F4-0D555FC52D46}"/>
              </a:ext>
            </a:extLst>
          </p:cNvPr>
          <p:cNvSpPr>
            <a:spLocks xmlns:a="http://schemas.openxmlformats.org/drawingml/2006/main" noGrp="1"/>
          </p:cNvSpPr>
          <p:nvPr/>
        </p:nvSpPr>
        <p:spPr>
          <a:xfrm xmlns:a="http://schemas.openxmlformats.org/drawingml/2006/main">
            <a:off x="1362075" y="47148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D3D"/>
                </a:solidFill>
                <a:latin typeface="Times New Roman"/>
                <a:ea typeface="Times New Roman"/>
                <a:cs typeface="Times New Roman"/>
              </a:defRPr>
            </a:defPPr>
            <a:lvl1pPr algn="l">
              <a:defRPr sz="2100" b="0">
                <a:solidFill>
                  <a:srgbClr val="202D3D"/>
                </a:solidFill>
                <a:latin typeface="Times New Roman"/>
                <a:ea typeface="Times New Roman"/>
                <a:cs typeface="Times New Roman"/>
              </a:defRPr>
            </a:lvl1pPr>
            <a:lvl2pPr algn="l">
              <a:defRPr sz="2100" b="0">
                <a:solidFill>
                  <a:srgbClr val="202D3D"/>
                </a:solidFill>
                <a:latin typeface="Times New Roman"/>
                <a:ea typeface="Times New Roman"/>
                <a:cs typeface="Times New Roman"/>
              </a:defRPr>
            </a:lvl2pPr>
            <a:lvl3pPr algn="l">
              <a:defRPr sz="2100" b="0">
                <a:solidFill>
                  <a:srgbClr val="202D3D"/>
                </a:solidFill>
                <a:latin typeface="Times New Roman"/>
                <a:ea typeface="Times New Roman"/>
                <a:cs typeface="Times New Roman"/>
              </a:defRPr>
            </a:lvl3pPr>
            <a:lvl4pPr algn="l">
              <a:defRPr sz="2100" b="0">
                <a:solidFill>
                  <a:srgbClr val="202D3D"/>
                </a:solidFill>
                <a:latin typeface="Times New Roman"/>
                <a:ea typeface="Times New Roman"/>
                <a:cs typeface="Times New Roman"/>
              </a:defRPr>
            </a:lvl4pPr>
            <a:lvl5pPr algn="l">
              <a:defRPr sz="2100" b="0">
                <a:solidFill>
                  <a:srgbClr val="202D3D"/>
                </a:solidFill>
                <a:latin typeface="Times New Roman"/>
                <a:ea typeface="Times New Roman"/>
                <a:cs typeface="Times New Roman"/>
              </a:defRPr>
            </a:lvl5pPr>
            <a:lvl6pPr algn="l">
              <a:defRPr sz="2100" b="0">
                <a:solidFill>
                  <a:srgbClr val="202D3D"/>
                </a:solidFill>
                <a:latin typeface="Times New Roman"/>
                <a:ea typeface="Times New Roman"/>
                <a:cs typeface="Times New Roman"/>
              </a:defRPr>
            </a:lvl6pPr>
            <a:lvl7pPr algn="l">
              <a:defRPr sz="2100" b="0">
                <a:solidFill>
                  <a:srgbClr val="202D3D"/>
                </a:solidFill>
                <a:latin typeface="Times New Roman"/>
                <a:ea typeface="Times New Roman"/>
                <a:cs typeface="Times New Roman"/>
              </a:defRPr>
            </a:lvl7pPr>
            <a:lvl8pPr algn="l">
              <a:defRPr sz="2100" b="0">
                <a:solidFill>
                  <a:srgbClr val="202D3D"/>
                </a:solidFill>
                <a:latin typeface="Times New Roman"/>
                <a:ea typeface="Times New Roman"/>
                <a:cs typeface="Times New Roman"/>
              </a:defRPr>
            </a:lvl8pPr>
            <a:lvl9pPr algn="l">
              <a:defRPr sz="2100" b="0">
                <a:solidFill>
                  <a:srgbClr val="202D3D"/>
                </a:solidFill>
                <a:latin typeface="Times New Roman"/>
                <a:ea typeface="Times New Roman"/>
                <a:cs typeface="Times New Roman"/>
              </a:defRPr>
            </a:lvl9pPr>
          </a:lstStyle>
          <a:p xmlns:a="http://schemas.openxmlformats.org/drawingml/2006/main">
            <a:pPr algn="l">
              <a:defRPr sz="2100" b="0">
                <a:solidFill>
                  <a:srgbClr val="202D3D"/>
                </a:solidFill>
                <a:latin typeface="Times New Roman"/>
                <a:ea typeface="Times New Roman"/>
                <a:cs typeface="Times New Roman"/>
              </a:defRPr>
            </a:pPr>
            <a:r>
              <a:rPr sz="2100" b="0">
                <a:solidFill>
                  <a:srgbClr val="202D3D"/>
                </a:solidFill>
                <a:latin typeface="Times New Roman"/>
                <a:ea typeface="Times New Roman"/>
                <a:cs typeface="Times New Roman"/>
              </a:rPr>
              <a:t>Application and demonstration</a:t>
            </a:r>
          </a:p>
        </p:txBody>
      </p:sp>
      <p:sp>
        <p:nvSpPr>
          <p:cNvPr id="17" name="07">
            <a:extLst xmlns:a="http://schemas.openxmlformats.org/drawingml/2006/main">
              <a:ext uri="{FF2B5EF4-FFF2-40B4-BE49-F238E27FC236}">
                <a16:creationId xmlns:a16="http://schemas.microsoft.com/office/drawing/2014/main" id="{9F0E2F82-3D15-4E7B-A951-6D3A131D3B66}"/>
              </a:ext>
            </a:extLst>
          </p:cNvPr>
          <p:cNvSpPr>
            <a:spLocks xmlns:a="http://schemas.openxmlformats.org/drawingml/2006/main" noGrp="1"/>
          </p:cNvSpPr>
          <p:nvPr/>
        </p:nvSpPr>
        <p:spPr>
          <a:xfrm xmlns:a="http://schemas.openxmlformats.org/drawingml/2006/main">
            <a:off x="666750" y="5314950"/>
            <a:ext cx="52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Times New Roman"/>
                <a:ea typeface="Times New Roman"/>
                <a:cs typeface="Times New Roman"/>
              </a:defRPr>
            </a:defPPr>
            <a:lvl1pPr algn="l">
              <a:defRPr sz="2100" b="1">
                <a:solidFill>
                  <a:srgbClr val="2563EB"/>
                </a:solidFill>
                <a:latin typeface="Times New Roman"/>
                <a:ea typeface="Times New Roman"/>
                <a:cs typeface="Times New Roman"/>
              </a:defRPr>
            </a:lvl1pPr>
            <a:lvl2pPr algn="l">
              <a:defRPr sz="2100" b="1">
                <a:solidFill>
                  <a:srgbClr val="2563EB"/>
                </a:solidFill>
                <a:latin typeface="Times New Roman"/>
                <a:ea typeface="Times New Roman"/>
                <a:cs typeface="Times New Roman"/>
              </a:defRPr>
            </a:lvl2pPr>
            <a:lvl3pPr algn="l">
              <a:defRPr sz="2100" b="1">
                <a:solidFill>
                  <a:srgbClr val="2563EB"/>
                </a:solidFill>
                <a:latin typeface="Times New Roman"/>
                <a:ea typeface="Times New Roman"/>
                <a:cs typeface="Times New Roman"/>
              </a:defRPr>
            </a:lvl3pPr>
            <a:lvl4pPr algn="l">
              <a:defRPr sz="2100" b="1">
                <a:solidFill>
                  <a:srgbClr val="2563EB"/>
                </a:solidFill>
                <a:latin typeface="Times New Roman"/>
                <a:ea typeface="Times New Roman"/>
                <a:cs typeface="Times New Roman"/>
              </a:defRPr>
            </a:lvl4pPr>
            <a:lvl5pPr algn="l">
              <a:defRPr sz="2100" b="1">
                <a:solidFill>
                  <a:srgbClr val="2563EB"/>
                </a:solidFill>
                <a:latin typeface="Times New Roman"/>
                <a:ea typeface="Times New Roman"/>
                <a:cs typeface="Times New Roman"/>
              </a:defRPr>
            </a:lvl5pPr>
            <a:lvl6pPr algn="l">
              <a:defRPr sz="2100" b="1">
                <a:solidFill>
                  <a:srgbClr val="2563EB"/>
                </a:solidFill>
                <a:latin typeface="Times New Roman"/>
                <a:ea typeface="Times New Roman"/>
                <a:cs typeface="Times New Roman"/>
              </a:defRPr>
            </a:lvl6pPr>
            <a:lvl7pPr algn="l">
              <a:defRPr sz="2100" b="1">
                <a:solidFill>
                  <a:srgbClr val="2563EB"/>
                </a:solidFill>
                <a:latin typeface="Times New Roman"/>
                <a:ea typeface="Times New Roman"/>
                <a:cs typeface="Times New Roman"/>
              </a:defRPr>
            </a:lvl7pPr>
            <a:lvl8pPr algn="l">
              <a:defRPr sz="2100" b="1">
                <a:solidFill>
                  <a:srgbClr val="2563EB"/>
                </a:solidFill>
                <a:latin typeface="Times New Roman"/>
                <a:ea typeface="Times New Roman"/>
                <a:cs typeface="Times New Roman"/>
              </a:defRPr>
            </a:lvl8pPr>
            <a:lvl9pPr algn="l">
              <a:defRPr sz="2100" b="1">
                <a:solidFill>
                  <a:srgbClr val="2563EB"/>
                </a:solidFill>
                <a:latin typeface="Times New Roman"/>
                <a:ea typeface="Times New Roman"/>
                <a:cs typeface="Times New Roman"/>
              </a:defRPr>
            </a:lvl9pPr>
          </a:lstStyle>
          <a:p xmlns:a="http://schemas.openxmlformats.org/drawingml/2006/main">
            <a:pPr algn="l">
              <a:defRPr sz="2100" b="1">
                <a:solidFill>
                  <a:srgbClr val="2563EB"/>
                </a:solidFill>
                <a:latin typeface="Times New Roman"/>
                <a:ea typeface="Times New Roman"/>
                <a:cs typeface="Times New Roman"/>
              </a:defRPr>
            </a:pPr>
            <a:r>
              <a:rPr sz="2100" b="1">
                <a:solidFill>
                  <a:srgbClr val="2563EB"/>
                </a:solidFill>
                <a:latin typeface="Times New Roman"/>
                <a:ea typeface="Times New Roman"/>
                <a:cs typeface="Times New Roman"/>
              </a:rPr>
              <a:t>07</a:t>
            </a:r>
          </a:p>
        </p:txBody>
      </p:sp>
      <p:sp>
        <p:nvSpPr>
          <p:cNvPr id="18" name="Conclusion and future work">
            <a:extLst xmlns:a="http://schemas.openxmlformats.org/drawingml/2006/main">
              <a:ext uri="{FF2B5EF4-FFF2-40B4-BE49-F238E27FC236}">
                <a16:creationId xmlns:a16="http://schemas.microsoft.com/office/drawing/2014/main" id="{302202FC-58F8-4460-835C-C78510B3E362}"/>
              </a:ext>
            </a:extLst>
          </p:cNvPr>
          <p:cNvSpPr>
            <a:spLocks xmlns:a="http://schemas.openxmlformats.org/drawingml/2006/main" noGrp="1"/>
          </p:cNvSpPr>
          <p:nvPr/>
        </p:nvSpPr>
        <p:spPr>
          <a:xfrm xmlns:a="http://schemas.openxmlformats.org/drawingml/2006/main">
            <a:off x="1362075" y="53149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D3D"/>
                </a:solidFill>
                <a:latin typeface="Times New Roman"/>
                <a:ea typeface="Times New Roman"/>
                <a:cs typeface="Times New Roman"/>
              </a:defRPr>
            </a:defPPr>
            <a:lvl1pPr algn="l">
              <a:defRPr sz="2100" b="0">
                <a:solidFill>
                  <a:srgbClr val="202D3D"/>
                </a:solidFill>
                <a:latin typeface="Times New Roman"/>
                <a:ea typeface="Times New Roman"/>
                <a:cs typeface="Times New Roman"/>
              </a:defRPr>
            </a:lvl1pPr>
            <a:lvl2pPr algn="l">
              <a:defRPr sz="2100" b="0">
                <a:solidFill>
                  <a:srgbClr val="202D3D"/>
                </a:solidFill>
                <a:latin typeface="Times New Roman"/>
                <a:ea typeface="Times New Roman"/>
                <a:cs typeface="Times New Roman"/>
              </a:defRPr>
            </a:lvl2pPr>
            <a:lvl3pPr algn="l">
              <a:defRPr sz="2100" b="0">
                <a:solidFill>
                  <a:srgbClr val="202D3D"/>
                </a:solidFill>
                <a:latin typeface="Times New Roman"/>
                <a:ea typeface="Times New Roman"/>
                <a:cs typeface="Times New Roman"/>
              </a:defRPr>
            </a:lvl3pPr>
            <a:lvl4pPr algn="l">
              <a:defRPr sz="2100" b="0">
                <a:solidFill>
                  <a:srgbClr val="202D3D"/>
                </a:solidFill>
                <a:latin typeface="Times New Roman"/>
                <a:ea typeface="Times New Roman"/>
                <a:cs typeface="Times New Roman"/>
              </a:defRPr>
            </a:lvl4pPr>
            <a:lvl5pPr algn="l">
              <a:defRPr sz="2100" b="0">
                <a:solidFill>
                  <a:srgbClr val="202D3D"/>
                </a:solidFill>
                <a:latin typeface="Times New Roman"/>
                <a:ea typeface="Times New Roman"/>
                <a:cs typeface="Times New Roman"/>
              </a:defRPr>
            </a:lvl5pPr>
            <a:lvl6pPr algn="l">
              <a:defRPr sz="2100" b="0">
                <a:solidFill>
                  <a:srgbClr val="202D3D"/>
                </a:solidFill>
                <a:latin typeface="Times New Roman"/>
                <a:ea typeface="Times New Roman"/>
                <a:cs typeface="Times New Roman"/>
              </a:defRPr>
            </a:lvl6pPr>
            <a:lvl7pPr algn="l">
              <a:defRPr sz="2100" b="0">
                <a:solidFill>
                  <a:srgbClr val="202D3D"/>
                </a:solidFill>
                <a:latin typeface="Times New Roman"/>
                <a:ea typeface="Times New Roman"/>
                <a:cs typeface="Times New Roman"/>
              </a:defRPr>
            </a:lvl7pPr>
            <a:lvl8pPr algn="l">
              <a:defRPr sz="2100" b="0">
                <a:solidFill>
                  <a:srgbClr val="202D3D"/>
                </a:solidFill>
                <a:latin typeface="Times New Roman"/>
                <a:ea typeface="Times New Roman"/>
                <a:cs typeface="Times New Roman"/>
              </a:defRPr>
            </a:lvl8pPr>
            <a:lvl9pPr algn="l">
              <a:defRPr sz="2100" b="0">
                <a:solidFill>
                  <a:srgbClr val="202D3D"/>
                </a:solidFill>
                <a:latin typeface="Times New Roman"/>
                <a:ea typeface="Times New Roman"/>
                <a:cs typeface="Times New Roman"/>
              </a:defRPr>
            </a:lvl9pPr>
          </a:lstStyle>
          <a:p xmlns:a="http://schemas.openxmlformats.org/drawingml/2006/main">
            <a:pPr algn="l">
              <a:defRPr sz="2100" b="0">
                <a:solidFill>
                  <a:srgbClr val="202D3D"/>
                </a:solidFill>
                <a:latin typeface="Times New Roman"/>
                <a:ea typeface="Times New Roman"/>
                <a:cs typeface="Times New Roman"/>
              </a:defRPr>
            </a:pPr>
            <a:r>
              <a:rPr sz="2100" b="0">
                <a:solidFill>
                  <a:srgbClr val="202D3D"/>
                </a:solidFill>
                <a:latin typeface="Times New Roman"/>
                <a:ea typeface="Times New Roman"/>
                <a:cs typeface="Times New Roman"/>
              </a:rPr>
              <a:t>Conclusion and future work</a:t>
            </a:r>
          </a:p>
        </p:txBody>
      </p:sp>
      <p:sp>
        <p:nvSpPr>
          <p:cNvPr id="19" name="Binary sentiment classification">
            <a:extLst xmlns:a="http://schemas.openxmlformats.org/drawingml/2006/main">
              <a:ext uri="{FF2B5EF4-FFF2-40B4-BE49-F238E27FC236}">
                <a16:creationId xmlns:a16="http://schemas.microsoft.com/office/drawing/2014/main" id="{3D6FA36E-021B-45A8-85C2-18ABD9D7C988}"/>
              </a:ext>
            </a:extLst>
          </p:cNvPr>
          <p:cNvSpPr>
            <a:spLocks xmlns:a="http://schemas.openxmlformats.org/drawingml/2006/main" noGrp="1"/>
          </p:cNvSpPr>
          <p:nvPr/>
        </p:nvSpPr>
        <p:spPr>
          <a:xfrm xmlns:a="http://schemas.openxmlformats.org/drawingml/2006/main">
            <a:off x="6734175" y="1752600"/>
            <a:ext cx="4848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202D3D"/>
                </a:solidFill>
                <a:latin typeface="Times New Roman"/>
                <a:ea typeface="Times New Roman"/>
                <a:cs typeface="Times New Roman"/>
              </a:defRPr>
            </a:defPPr>
            <a:lvl1pPr algn="ctr">
              <a:defRPr sz="2100" b="1">
                <a:solidFill>
                  <a:srgbClr val="202D3D"/>
                </a:solidFill>
                <a:latin typeface="Times New Roman"/>
                <a:ea typeface="Times New Roman"/>
                <a:cs typeface="Times New Roman"/>
              </a:defRPr>
            </a:lvl1pPr>
            <a:lvl2pPr algn="ctr">
              <a:defRPr sz="2100" b="1">
                <a:solidFill>
                  <a:srgbClr val="202D3D"/>
                </a:solidFill>
                <a:latin typeface="Times New Roman"/>
                <a:ea typeface="Times New Roman"/>
                <a:cs typeface="Times New Roman"/>
              </a:defRPr>
            </a:lvl2pPr>
            <a:lvl3pPr algn="ctr">
              <a:defRPr sz="2100" b="1">
                <a:solidFill>
                  <a:srgbClr val="202D3D"/>
                </a:solidFill>
                <a:latin typeface="Times New Roman"/>
                <a:ea typeface="Times New Roman"/>
                <a:cs typeface="Times New Roman"/>
              </a:defRPr>
            </a:lvl3pPr>
            <a:lvl4pPr algn="ctr">
              <a:defRPr sz="2100" b="1">
                <a:solidFill>
                  <a:srgbClr val="202D3D"/>
                </a:solidFill>
                <a:latin typeface="Times New Roman"/>
                <a:ea typeface="Times New Roman"/>
                <a:cs typeface="Times New Roman"/>
              </a:defRPr>
            </a:lvl4pPr>
            <a:lvl5pPr algn="ctr">
              <a:defRPr sz="2100" b="1">
                <a:solidFill>
                  <a:srgbClr val="202D3D"/>
                </a:solidFill>
                <a:latin typeface="Times New Roman"/>
                <a:ea typeface="Times New Roman"/>
                <a:cs typeface="Times New Roman"/>
              </a:defRPr>
            </a:lvl5pPr>
            <a:lvl6pPr algn="ctr">
              <a:defRPr sz="2100" b="1">
                <a:solidFill>
                  <a:srgbClr val="202D3D"/>
                </a:solidFill>
                <a:latin typeface="Times New Roman"/>
                <a:ea typeface="Times New Roman"/>
                <a:cs typeface="Times New Roman"/>
              </a:defRPr>
            </a:lvl6pPr>
            <a:lvl7pPr algn="ctr">
              <a:defRPr sz="2100" b="1">
                <a:solidFill>
                  <a:srgbClr val="202D3D"/>
                </a:solidFill>
                <a:latin typeface="Times New Roman"/>
                <a:ea typeface="Times New Roman"/>
                <a:cs typeface="Times New Roman"/>
              </a:defRPr>
            </a:lvl7pPr>
            <a:lvl8pPr algn="ctr">
              <a:defRPr sz="2100" b="1">
                <a:solidFill>
                  <a:srgbClr val="202D3D"/>
                </a:solidFill>
                <a:latin typeface="Times New Roman"/>
                <a:ea typeface="Times New Roman"/>
                <a:cs typeface="Times New Roman"/>
              </a:defRPr>
            </a:lvl8pPr>
            <a:lvl9pPr algn="ctr">
              <a:defRPr sz="2100" b="1">
                <a:solidFill>
                  <a:srgbClr val="202D3D"/>
                </a:solidFill>
                <a:latin typeface="Times New Roman"/>
                <a:ea typeface="Times New Roman"/>
                <a:cs typeface="Times New Roman"/>
              </a:defRPr>
            </a:lvl9pPr>
          </a:lstStyle>
          <a:p xmlns:a="http://schemas.openxmlformats.org/drawingml/2006/main">
            <a:pPr algn="ctr">
              <a:defRPr sz="2100" b="1">
                <a:solidFill>
                  <a:srgbClr val="202D3D"/>
                </a:solidFill>
                <a:latin typeface="Times New Roman"/>
                <a:ea typeface="Times New Roman"/>
                <a:cs typeface="Times New Roman"/>
              </a:defRPr>
            </a:pPr>
            <a:r>
              <a:rPr sz="2100" b="1">
                <a:solidFill>
                  <a:srgbClr val="202D3D"/>
                </a:solidFill>
                <a:latin typeface="Times New Roman"/>
                <a:ea typeface="Times New Roman"/>
                <a:cs typeface="Times New Roman"/>
              </a:rPr>
              <a:t>Binary sentiment classification</a:t>
            </a:r>
          </a:p>
        </p:txBody>
      </p:sp>
      <p:pic>
        <p:nvPicPr>
          <p:cNvPr id="20" name="">
            <a:extLst xmlns:a="http://schemas.openxmlformats.org/drawingml/2006/main">
              <a:ext uri="{FF2B5EF4-FFF2-40B4-BE49-F238E27FC236}">
                <a16:creationId xmlns:a16="http://schemas.microsoft.com/office/drawing/2014/main" id="{87232174-5C71-4768-935C-1E10A90DA85D}"/>
              </a:ext>
            </a:extLst>
          </p:cNvPr>
          <p:cNvPicPr>
            <a:picLocks xmlns:a="http://schemas.openxmlformats.org/drawingml/2006/main" noChangeAspect="1"/>
          </p:cNvPicPr>
          <p:nvPr/>
        </p:nvPicPr>
        <p:blipFill>
          <a:blip xmlns:r="http://schemas.openxmlformats.org/officeDocument/2006/relationships" xmlns:a="http://schemas.openxmlformats.org/drawingml/2006/main" r:embed="R7dd96451769142f4"/>
          <a:stretch xmlns:a="http://schemas.openxmlformats.org/drawingml/2006/main"/>
        </p:blipFill>
        <p:spPr>
          <a:xfrm xmlns:a="http://schemas.openxmlformats.org/drawingml/2006/main">
            <a:off x="6667500" y="2314575"/>
            <a:ext cx="4914900" cy="3276600"/>
          </a:xfrm>
          <a:prstGeom xmlns:a="http://schemas.openxmlformats.org/drawingml/2006/main" prst="rect">
            <a:avLst/>
          </a:prstGeom>
        </p:spPr>
      </p:pic>
      <p:sp>
        <p:nvSpPr>
          <p:cNvPr id="21" name="Each review receives one sentiment label">
            <a:extLst xmlns:a="http://schemas.openxmlformats.org/drawingml/2006/main">
              <a:ext uri="{FF2B5EF4-FFF2-40B4-BE49-F238E27FC236}">
                <a16:creationId xmlns:a16="http://schemas.microsoft.com/office/drawing/2014/main" id="{AEC5CCAC-BC8E-4596-8F67-3C83E11A47C9}"/>
              </a:ext>
            </a:extLst>
          </p:cNvPr>
          <p:cNvSpPr>
            <a:spLocks xmlns:a="http://schemas.openxmlformats.org/drawingml/2006/main" noGrp="1"/>
          </p:cNvSpPr>
          <p:nvPr/>
        </p:nvSpPr>
        <p:spPr>
          <a:xfrm xmlns:a="http://schemas.openxmlformats.org/drawingml/2006/main">
            <a:off x="6667500" y="5648325"/>
            <a:ext cx="491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202D3D"/>
                </a:solidFill>
                <a:latin typeface="Times New Roman"/>
                <a:ea typeface="Times New Roman"/>
                <a:cs typeface="Times New Roman"/>
              </a:defRPr>
            </a:defPPr>
            <a:lvl1pPr algn="ctr">
              <a:defRPr sz="1800" b="0">
                <a:solidFill>
                  <a:srgbClr val="202D3D"/>
                </a:solidFill>
                <a:latin typeface="Times New Roman"/>
                <a:ea typeface="Times New Roman"/>
                <a:cs typeface="Times New Roman"/>
              </a:defRPr>
            </a:lvl1pPr>
            <a:lvl2pPr algn="ctr">
              <a:defRPr sz="1800" b="0">
                <a:solidFill>
                  <a:srgbClr val="202D3D"/>
                </a:solidFill>
                <a:latin typeface="Times New Roman"/>
                <a:ea typeface="Times New Roman"/>
                <a:cs typeface="Times New Roman"/>
              </a:defRPr>
            </a:lvl2pPr>
            <a:lvl3pPr algn="ctr">
              <a:defRPr sz="1800" b="0">
                <a:solidFill>
                  <a:srgbClr val="202D3D"/>
                </a:solidFill>
                <a:latin typeface="Times New Roman"/>
                <a:ea typeface="Times New Roman"/>
                <a:cs typeface="Times New Roman"/>
              </a:defRPr>
            </a:lvl3pPr>
            <a:lvl4pPr algn="ctr">
              <a:defRPr sz="1800" b="0">
                <a:solidFill>
                  <a:srgbClr val="202D3D"/>
                </a:solidFill>
                <a:latin typeface="Times New Roman"/>
                <a:ea typeface="Times New Roman"/>
                <a:cs typeface="Times New Roman"/>
              </a:defRPr>
            </a:lvl4pPr>
            <a:lvl5pPr algn="ctr">
              <a:defRPr sz="1800" b="0">
                <a:solidFill>
                  <a:srgbClr val="202D3D"/>
                </a:solidFill>
                <a:latin typeface="Times New Roman"/>
                <a:ea typeface="Times New Roman"/>
                <a:cs typeface="Times New Roman"/>
              </a:defRPr>
            </a:lvl5pPr>
            <a:lvl6pPr algn="ctr">
              <a:defRPr sz="1800" b="0">
                <a:solidFill>
                  <a:srgbClr val="202D3D"/>
                </a:solidFill>
                <a:latin typeface="Times New Roman"/>
                <a:ea typeface="Times New Roman"/>
                <a:cs typeface="Times New Roman"/>
              </a:defRPr>
            </a:lvl6pPr>
            <a:lvl7pPr algn="ctr">
              <a:defRPr sz="1800" b="0">
                <a:solidFill>
                  <a:srgbClr val="202D3D"/>
                </a:solidFill>
                <a:latin typeface="Times New Roman"/>
                <a:ea typeface="Times New Roman"/>
                <a:cs typeface="Times New Roman"/>
              </a:defRPr>
            </a:lvl7pPr>
            <a:lvl8pPr algn="ctr">
              <a:defRPr sz="1800" b="0">
                <a:solidFill>
                  <a:srgbClr val="202D3D"/>
                </a:solidFill>
                <a:latin typeface="Times New Roman"/>
                <a:ea typeface="Times New Roman"/>
                <a:cs typeface="Times New Roman"/>
              </a:defRPr>
            </a:lvl8pPr>
            <a:lvl9pPr algn="ctr">
              <a:defRPr sz="1800" b="0">
                <a:solidFill>
                  <a:srgbClr val="202D3D"/>
                </a:solidFill>
                <a:latin typeface="Times New Roman"/>
                <a:ea typeface="Times New Roman"/>
                <a:cs typeface="Times New Roman"/>
              </a:defRPr>
            </a:lvl9pPr>
          </a:lstStyle>
          <a:p xmlns:a="http://schemas.openxmlformats.org/drawingml/2006/main">
            <a:pPr algn="ctr">
              <a:defRPr sz="1800" b="0">
                <a:solidFill>
                  <a:srgbClr val="202D3D"/>
                </a:solidFill>
                <a:latin typeface="Times New Roman"/>
                <a:ea typeface="Times New Roman"/>
                <a:cs typeface="Times New Roman"/>
              </a:defRPr>
            </a:pPr>
            <a:r>
              <a:rPr sz="1800" b="0">
                <a:solidFill>
                  <a:srgbClr val="202D3D"/>
                </a:solidFill>
                <a:latin typeface="Times New Roman"/>
                <a:ea typeface="Times New Roman"/>
                <a:cs typeface="Times New Roman"/>
              </a:rPr>
              <a:t>Each review receives one sentiment label</a:t>
            </a:r>
          </a:p>
        </p:txBody>
      </p:sp>
    </p:spTree>
    <p:extLst>
      <p:ext uri="{BB962C8B-B14F-4D97-AF65-F5344CB8AC3E}">
        <p14:creationId xmlns:p14="http://schemas.microsoft.com/office/powerpoint/2010/main" val="19036495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hank you&#10;for your attention">
            <a:extLst xmlns:a="http://schemas.openxmlformats.org/drawingml/2006/main">
              <a:ext uri="{FF2B5EF4-FFF2-40B4-BE49-F238E27FC236}">
                <a16:creationId xmlns:a16="http://schemas.microsoft.com/office/drawing/2014/main" id="{829D4135-33C0-427C-BA94-368233A14D0B}"/>
              </a:ext>
            </a:extLst>
          </p:cNvPr>
          <p:cNvSpPr>
            <a:spLocks xmlns:a="http://schemas.openxmlformats.org/drawingml/2006/main" noGrp="1"/>
          </p:cNvSpPr>
          <p:nvPr/>
        </p:nvSpPr>
        <p:spPr>
          <a:xfrm xmlns:a="http://schemas.openxmlformats.org/drawingml/2006/main">
            <a:off x="952500" y="1943100"/>
            <a:ext cx="10287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950" b="1">
                <a:solidFill>
                  <a:srgbClr val="17365D"/>
                </a:solidFill>
                <a:latin typeface="Times New Roman"/>
                <a:ea typeface="Times New Roman"/>
                <a:cs typeface="Times New Roman"/>
              </a:defRPr>
            </a:defPPr>
            <a:lvl1pPr algn="ctr">
              <a:defRPr sz="4950" b="1">
                <a:solidFill>
                  <a:srgbClr val="17365D"/>
                </a:solidFill>
                <a:latin typeface="Times New Roman"/>
                <a:ea typeface="Times New Roman"/>
                <a:cs typeface="Times New Roman"/>
              </a:defRPr>
            </a:lvl1pPr>
            <a:lvl2pPr algn="ctr">
              <a:defRPr sz="4950" b="1">
                <a:solidFill>
                  <a:srgbClr val="17365D"/>
                </a:solidFill>
                <a:latin typeface="Times New Roman"/>
                <a:ea typeface="Times New Roman"/>
                <a:cs typeface="Times New Roman"/>
              </a:defRPr>
            </a:lvl2pPr>
            <a:lvl3pPr algn="ctr">
              <a:defRPr sz="4950" b="1">
                <a:solidFill>
                  <a:srgbClr val="17365D"/>
                </a:solidFill>
                <a:latin typeface="Times New Roman"/>
                <a:ea typeface="Times New Roman"/>
                <a:cs typeface="Times New Roman"/>
              </a:defRPr>
            </a:lvl3pPr>
            <a:lvl4pPr algn="ctr">
              <a:defRPr sz="4950" b="1">
                <a:solidFill>
                  <a:srgbClr val="17365D"/>
                </a:solidFill>
                <a:latin typeface="Times New Roman"/>
                <a:ea typeface="Times New Roman"/>
                <a:cs typeface="Times New Roman"/>
              </a:defRPr>
            </a:lvl4pPr>
            <a:lvl5pPr algn="ctr">
              <a:defRPr sz="4950" b="1">
                <a:solidFill>
                  <a:srgbClr val="17365D"/>
                </a:solidFill>
                <a:latin typeface="Times New Roman"/>
                <a:ea typeface="Times New Roman"/>
                <a:cs typeface="Times New Roman"/>
              </a:defRPr>
            </a:lvl5pPr>
            <a:lvl6pPr algn="ctr">
              <a:defRPr sz="4950" b="1">
                <a:solidFill>
                  <a:srgbClr val="17365D"/>
                </a:solidFill>
                <a:latin typeface="Times New Roman"/>
                <a:ea typeface="Times New Roman"/>
                <a:cs typeface="Times New Roman"/>
              </a:defRPr>
            </a:lvl6pPr>
            <a:lvl7pPr algn="ctr">
              <a:defRPr sz="4950" b="1">
                <a:solidFill>
                  <a:srgbClr val="17365D"/>
                </a:solidFill>
                <a:latin typeface="Times New Roman"/>
                <a:ea typeface="Times New Roman"/>
                <a:cs typeface="Times New Roman"/>
              </a:defRPr>
            </a:lvl7pPr>
            <a:lvl8pPr algn="ctr">
              <a:defRPr sz="4950" b="1">
                <a:solidFill>
                  <a:srgbClr val="17365D"/>
                </a:solidFill>
                <a:latin typeface="Times New Roman"/>
                <a:ea typeface="Times New Roman"/>
                <a:cs typeface="Times New Roman"/>
              </a:defRPr>
            </a:lvl8pPr>
            <a:lvl9pPr algn="ctr">
              <a:defRPr sz="4950" b="1">
                <a:solidFill>
                  <a:srgbClr val="17365D"/>
                </a:solidFill>
                <a:latin typeface="Times New Roman"/>
                <a:ea typeface="Times New Roman"/>
                <a:cs typeface="Times New Roman"/>
              </a:defRPr>
            </a:lvl9pPr>
          </a:lstStyle>
          <a:p xmlns:a="http://schemas.openxmlformats.org/drawingml/2006/main">
            <a:pPr algn="ctr">
              <a:defRPr sz="4950" b="1">
                <a:solidFill>
                  <a:srgbClr val="17365D"/>
                </a:solidFill>
                <a:latin typeface="Times New Roman"/>
                <a:ea typeface="Times New Roman"/>
                <a:cs typeface="Times New Roman"/>
              </a:defRPr>
            </a:pPr>
            <a:r>
              <a:rPr sz="4950" b="1">
                <a:solidFill>
                  <a:srgbClr val="17365D"/>
                </a:solidFill>
                <a:latin typeface="Times New Roman"/>
                <a:ea typeface="Times New Roman"/>
                <a:cs typeface="Times New Roman"/>
              </a:rPr>
              <a:t>Thank you</a:t>
            </a:r>
          </a:p>
          <a:p xmlns:a="http://schemas.openxmlformats.org/drawingml/2006/main">
            <a:pPr algn="ctr">
              <a:defRPr sz="4950" b="1">
                <a:solidFill>
                  <a:srgbClr val="17365D"/>
                </a:solidFill>
                <a:latin typeface="Times New Roman"/>
                <a:ea typeface="Times New Roman"/>
                <a:cs typeface="Times New Roman"/>
              </a:defRPr>
            </a:pPr>
            <a:r>
              <a:rPr sz="4950" b="1">
                <a:solidFill>
                  <a:srgbClr val="17365D"/>
                </a:solidFill>
                <a:latin typeface="Times New Roman"/>
                <a:ea typeface="Times New Roman"/>
                <a:cs typeface="Times New Roman"/>
              </a:rPr>
              <a:t>for your attention</a:t>
            </a:r>
          </a:p>
        </p:txBody>
      </p:sp>
      <p:sp>
        <p:nvSpPr>
          <p:cNvPr id="2" name="Questions?">
            <a:extLst xmlns:a="http://schemas.openxmlformats.org/drawingml/2006/main">
              <a:ext uri="{FF2B5EF4-FFF2-40B4-BE49-F238E27FC236}">
                <a16:creationId xmlns:a16="http://schemas.microsoft.com/office/drawing/2014/main" id="{81B0505B-72D2-4D3E-8A30-2DB32B62BCF4}"/>
              </a:ext>
            </a:extLst>
          </p:cNvPr>
          <p:cNvSpPr>
            <a:spLocks xmlns:a="http://schemas.openxmlformats.org/drawingml/2006/main" noGrp="1"/>
          </p:cNvSpPr>
          <p:nvPr/>
        </p:nvSpPr>
        <p:spPr>
          <a:xfrm xmlns:a="http://schemas.openxmlformats.org/drawingml/2006/main">
            <a:off x="1714500" y="4086225"/>
            <a:ext cx="876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2563EB"/>
                </a:solidFill>
                <a:latin typeface="Times New Roman"/>
                <a:ea typeface="Times New Roman"/>
                <a:cs typeface="Times New Roman"/>
              </a:defRPr>
            </a:defPPr>
            <a:lvl1pPr algn="ctr">
              <a:defRPr sz="2775" b="1">
                <a:solidFill>
                  <a:srgbClr val="2563EB"/>
                </a:solidFill>
                <a:latin typeface="Times New Roman"/>
                <a:ea typeface="Times New Roman"/>
                <a:cs typeface="Times New Roman"/>
              </a:defRPr>
            </a:lvl1pPr>
            <a:lvl2pPr algn="ctr">
              <a:defRPr sz="2775" b="1">
                <a:solidFill>
                  <a:srgbClr val="2563EB"/>
                </a:solidFill>
                <a:latin typeface="Times New Roman"/>
                <a:ea typeface="Times New Roman"/>
                <a:cs typeface="Times New Roman"/>
              </a:defRPr>
            </a:lvl2pPr>
            <a:lvl3pPr algn="ctr">
              <a:defRPr sz="2775" b="1">
                <a:solidFill>
                  <a:srgbClr val="2563EB"/>
                </a:solidFill>
                <a:latin typeface="Times New Roman"/>
                <a:ea typeface="Times New Roman"/>
                <a:cs typeface="Times New Roman"/>
              </a:defRPr>
            </a:lvl3pPr>
            <a:lvl4pPr algn="ctr">
              <a:defRPr sz="2775" b="1">
                <a:solidFill>
                  <a:srgbClr val="2563EB"/>
                </a:solidFill>
                <a:latin typeface="Times New Roman"/>
                <a:ea typeface="Times New Roman"/>
                <a:cs typeface="Times New Roman"/>
              </a:defRPr>
            </a:lvl4pPr>
            <a:lvl5pPr algn="ctr">
              <a:defRPr sz="2775" b="1">
                <a:solidFill>
                  <a:srgbClr val="2563EB"/>
                </a:solidFill>
                <a:latin typeface="Times New Roman"/>
                <a:ea typeface="Times New Roman"/>
                <a:cs typeface="Times New Roman"/>
              </a:defRPr>
            </a:lvl5pPr>
            <a:lvl6pPr algn="ctr">
              <a:defRPr sz="2775" b="1">
                <a:solidFill>
                  <a:srgbClr val="2563EB"/>
                </a:solidFill>
                <a:latin typeface="Times New Roman"/>
                <a:ea typeface="Times New Roman"/>
                <a:cs typeface="Times New Roman"/>
              </a:defRPr>
            </a:lvl6pPr>
            <a:lvl7pPr algn="ctr">
              <a:defRPr sz="2775" b="1">
                <a:solidFill>
                  <a:srgbClr val="2563EB"/>
                </a:solidFill>
                <a:latin typeface="Times New Roman"/>
                <a:ea typeface="Times New Roman"/>
                <a:cs typeface="Times New Roman"/>
              </a:defRPr>
            </a:lvl7pPr>
            <a:lvl8pPr algn="ctr">
              <a:defRPr sz="2775" b="1">
                <a:solidFill>
                  <a:srgbClr val="2563EB"/>
                </a:solidFill>
                <a:latin typeface="Times New Roman"/>
                <a:ea typeface="Times New Roman"/>
                <a:cs typeface="Times New Roman"/>
              </a:defRPr>
            </a:lvl8pPr>
            <a:lvl9pPr algn="ctr">
              <a:defRPr sz="2775" b="1">
                <a:solidFill>
                  <a:srgbClr val="2563EB"/>
                </a:solidFill>
                <a:latin typeface="Times New Roman"/>
                <a:ea typeface="Times New Roman"/>
                <a:cs typeface="Times New Roman"/>
              </a:defRPr>
            </a:lvl9pPr>
          </a:lstStyle>
          <a:p xmlns:a="http://schemas.openxmlformats.org/drawingml/2006/main">
            <a:pPr algn="ctr">
              <a:defRPr sz="2775" b="1">
                <a:solidFill>
                  <a:srgbClr val="2563EB"/>
                </a:solidFill>
                <a:latin typeface="Times New Roman"/>
                <a:ea typeface="Times New Roman"/>
                <a:cs typeface="Times New Roman"/>
              </a:defRPr>
            </a:pPr>
            <a:r>
              <a:rPr sz="2775" b="1">
                <a:solidFill>
                  <a:srgbClr val="2563EB"/>
                </a:solidFill>
                <a:latin typeface="Times New Roman"/>
                <a:ea typeface="Times New Roman"/>
                <a:cs typeface="Times New Roman"/>
              </a:rPr>
              <a:t>Questions?</a:t>
            </a:r>
          </a:p>
        </p:txBody>
      </p:sp>
      <p:sp>
        <p:nvSpPr>
          <p:cNvPr id="3" name="BEN DRIF ABDELHAMID">
            <a:extLst xmlns:a="http://schemas.openxmlformats.org/drawingml/2006/main">
              <a:ext uri="{FF2B5EF4-FFF2-40B4-BE49-F238E27FC236}">
                <a16:creationId xmlns:a16="http://schemas.microsoft.com/office/drawing/2014/main" id="{CF43B61A-2855-4631-819F-2B5F78D59DEF}"/>
              </a:ext>
            </a:extLst>
          </p:cNvPr>
          <p:cNvSpPr>
            <a:spLocks xmlns:a="http://schemas.openxmlformats.org/drawingml/2006/main" noGrp="1"/>
          </p:cNvSpPr>
          <p:nvPr/>
        </p:nvSpPr>
        <p:spPr>
          <a:xfrm xmlns:a="http://schemas.openxmlformats.org/drawingml/2006/main">
            <a:off x="1714500" y="5391150"/>
            <a:ext cx="876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0">
                <a:solidFill>
                  <a:srgbClr val="334155"/>
                </a:solidFill>
                <a:latin typeface="Times New Roman"/>
                <a:ea typeface="Times New Roman"/>
                <a:cs typeface="Times New Roman"/>
              </a:defRPr>
            </a:defPPr>
            <a:lvl1pPr algn="ctr">
              <a:defRPr sz="2025" b="0">
                <a:solidFill>
                  <a:srgbClr val="334155"/>
                </a:solidFill>
                <a:latin typeface="Times New Roman"/>
                <a:ea typeface="Times New Roman"/>
                <a:cs typeface="Times New Roman"/>
              </a:defRPr>
            </a:lvl1pPr>
            <a:lvl2pPr algn="ctr">
              <a:defRPr sz="2025" b="0">
                <a:solidFill>
                  <a:srgbClr val="334155"/>
                </a:solidFill>
                <a:latin typeface="Times New Roman"/>
                <a:ea typeface="Times New Roman"/>
                <a:cs typeface="Times New Roman"/>
              </a:defRPr>
            </a:lvl2pPr>
            <a:lvl3pPr algn="ctr">
              <a:defRPr sz="2025" b="0">
                <a:solidFill>
                  <a:srgbClr val="334155"/>
                </a:solidFill>
                <a:latin typeface="Times New Roman"/>
                <a:ea typeface="Times New Roman"/>
                <a:cs typeface="Times New Roman"/>
              </a:defRPr>
            </a:lvl3pPr>
            <a:lvl4pPr algn="ctr">
              <a:defRPr sz="2025" b="0">
                <a:solidFill>
                  <a:srgbClr val="334155"/>
                </a:solidFill>
                <a:latin typeface="Times New Roman"/>
                <a:ea typeface="Times New Roman"/>
                <a:cs typeface="Times New Roman"/>
              </a:defRPr>
            </a:lvl4pPr>
            <a:lvl5pPr algn="ctr">
              <a:defRPr sz="2025" b="0">
                <a:solidFill>
                  <a:srgbClr val="334155"/>
                </a:solidFill>
                <a:latin typeface="Times New Roman"/>
                <a:ea typeface="Times New Roman"/>
                <a:cs typeface="Times New Roman"/>
              </a:defRPr>
            </a:lvl5pPr>
            <a:lvl6pPr algn="ctr">
              <a:defRPr sz="2025" b="0">
                <a:solidFill>
                  <a:srgbClr val="334155"/>
                </a:solidFill>
                <a:latin typeface="Times New Roman"/>
                <a:ea typeface="Times New Roman"/>
                <a:cs typeface="Times New Roman"/>
              </a:defRPr>
            </a:lvl6pPr>
            <a:lvl7pPr algn="ctr">
              <a:defRPr sz="2025" b="0">
                <a:solidFill>
                  <a:srgbClr val="334155"/>
                </a:solidFill>
                <a:latin typeface="Times New Roman"/>
                <a:ea typeface="Times New Roman"/>
                <a:cs typeface="Times New Roman"/>
              </a:defRPr>
            </a:lvl7pPr>
            <a:lvl8pPr algn="ctr">
              <a:defRPr sz="2025" b="0">
                <a:solidFill>
                  <a:srgbClr val="334155"/>
                </a:solidFill>
                <a:latin typeface="Times New Roman"/>
                <a:ea typeface="Times New Roman"/>
                <a:cs typeface="Times New Roman"/>
              </a:defRPr>
            </a:lvl8pPr>
            <a:lvl9pPr algn="ctr">
              <a:defRPr sz="2025" b="0">
                <a:solidFill>
                  <a:srgbClr val="334155"/>
                </a:solidFill>
                <a:latin typeface="Times New Roman"/>
                <a:ea typeface="Times New Roman"/>
                <a:cs typeface="Times New Roman"/>
              </a:defRPr>
            </a:lvl9pPr>
          </a:lstStyle>
          <a:p xmlns:a="http://schemas.openxmlformats.org/drawingml/2006/main">
            <a:pPr algn="ctr">
              <a:defRPr sz="2025" b="0">
                <a:solidFill>
                  <a:srgbClr val="334155"/>
                </a:solidFill>
                <a:latin typeface="Times New Roman"/>
                <a:ea typeface="Times New Roman"/>
                <a:cs typeface="Times New Roman"/>
              </a:defRPr>
            </a:pPr>
            <a:r>
              <a:rPr sz="2025" b="0">
                <a:solidFill>
                  <a:srgbClr val="334155"/>
                </a:solidFill>
                <a:latin typeface="Times New Roman"/>
                <a:ea typeface="Times New Roman"/>
                <a:cs typeface="Times New Roman"/>
              </a:rPr>
              <a:t>BEN DRIF ABDELHAMID</a:t>
            </a:r>
          </a:p>
        </p:txBody>
      </p:sp>
    </p:spTree>
    <p:extLst>
      <p:ext uri="{BB962C8B-B14F-4D97-AF65-F5344CB8AC3E}">
        <p14:creationId xmlns:p14="http://schemas.microsoft.com/office/powerpoint/2010/main" val="21359156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2563EB"/>
      </a:accent1>
      <a:accent2>
        <a:srgbClr val="D97706"/>
      </a:accent2>
      <a:accent3>
        <a:srgbClr val="087F70"/>
      </a:accent3>
      <a:accent4>
        <a:srgbClr val="17365D"/>
      </a:accent4>
      <a:accent5>
        <a:srgbClr val="8B5CF6"/>
      </a:accent5>
      <a:accent6>
        <a:srgbClr val="64748B"/>
      </a:accent6>
      <a:hlink>
        <a:srgbClr val="467886"/>
      </a:hlink>
      <a:folHlink>
        <a:srgbClr val="96607D"/>
      </a:folHlink>
    </a:clrScheme>
    <a:fontScheme nam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rgbClr val="000000"/>
          </a:solidFill>
          <a:prstDash val="solid"/>
        </a:ln>
        <a:ln w="19050">
          <a:solidFill>
            <a:srgbClr val="000000"/>
          </a:solidFill>
          <a:prstDash val="solid"/>
        </a:ln>
        <a:ln w="25400">
          <a:solidFill>
            <a:srgbClr val="000000"/>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2563EB"/>
      </a:accent1>
      <a:accent2>
        <a:srgbClr val="D97706"/>
      </a:accent2>
      <a:accent3>
        <a:srgbClr val="087F70"/>
      </a:accent3>
      <a:accent4>
        <a:srgbClr val="17365D"/>
      </a:accent4>
      <a:accent5>
        <a:srgbClr val="8B5CF6"/>
      </a:accent5>
      <a:accent6>
        <a:srgbClr val="64748B"/>
      </a:accent6>
      <a:hlink>
        <a:srgbClr val="467886"/>
      </a:hlink>
      <a:folHlink>
        <a:srgbClr val="96607D"/>
      </a:folHlink>
    </a:clrScheme>
    <a:fontScheme nam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rgbClr val="000000"/>
          </a:solidFill>
          <a:prstDash val="solid"/>
        </a:ln>
        <a:ln w="19050">
          <a:solidFill>
            <a:srgbClr val="000000"/>
          </a:solidFill>
          <a:prstDash val="solid"/>
        </a:ln>
        <a:ln w="25400">
          <a:solidFill>
            <a:srgbClr val="000000"/>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2882</Words>
  <Application>Microsoft Office PowerPoint</Application>
  <DocSecurity>0</DocSecurity>
  <PresentationFormat>Widescreen</PresentationFormat>
  <Paragraphs>383</Paragraphs>
  <Slides>17</Slides>
  <Notes>17</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Presentation outline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Abdelhamid The gangster</cp:lastModifiedBy>
  <cp:revision>1</cp:revision>
  <dcterms:created xsi:type="dcterms:W3CDTF">2026-10-25T13:27:01Z</dcterms:created>
  <dcterms:modified xsi:type="dcterms:W3CDTF">2026-10-25T15:46:33Z</dcterms:modified>
</cp:coreProperties>
</file>